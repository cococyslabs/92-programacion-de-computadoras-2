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hbWXwNLs1FykFthRdi7e+Vo1ed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1A8F7C-209C-4BFC-ADB8-B5C9B057B7F0}">
  <a:tblStyle styleId="{D01A8F7C-209C-4BFC-ADB8-B5C9B057B7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5b4d7e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d75b4d7ed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75b4d7e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d75b4d7ed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75b4d7ed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d75b4d7ed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75b4d7ed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d75b4d7ed6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3361882181701@ingenieria.usac.edu.gt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hyperlink" Target="https://spinthewheel.io/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ayground.com/admin/assessment/6a2de6d4c9bfd7ea10ea814f?source=lesson_share" TargetMode="External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ayground.com/admin/assessment/6a2def44a49a5f4b6da63aef?source=lesson_share" TargetMode="External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KcIDo8pmEqI" TargetMode="External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48654" y="9201150"/>
            <a:ext cx="56481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Allan Josué Rafael Morales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904249" y="4023588"/>
            <a:ext cx="13187100" cy="1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99"/>
              <a:buFont typeface="Arial"/>
              <a:buNone/>
            </a:pPr>
            <a:r>
              <a:rPr b="1" i="0" lang="en-US" sz="40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89" name="Google Shape;89;p1"/>
          <p:cNvGraphicFramePr/>
          <p:nvPr/>
        </p:nvGraphicFramePr>
        <p:xfrm>
          <a:off x="11970825" y="215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{D01A8F7C-209C-4BFC-ADB8-B5C9B057B7F0}</a:tableStyleId>
              </a:tblPr>
              <a:tblGrid>
                <a:gridCol w="2527450"/>
                <a:gridCol w="2527450"/>
              </a:tblGrid>
              <a:tr h="67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00"/>
                        <a:t>Fecha:</a:t>
                      </a:r>
                      <a:endParaRPr b="1" sz="2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/>
                        <a:t>14/07/2026</a:t>
                      </a:r>
                      <a:endParaRPr sz="2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5314345" y="1374252"/>
            <a:ext cx="14093966" cy="10287369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FCB13">
              <a:alpha val="8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0" y="3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 txBox="1"/>
          <p:nvPr/>
        </p:nvSpPr>
        <p:spPr>
          <a:xfrm>
            <a:off x="2954076" y="2973800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3493371" y="-730682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4"/>
          <p:cNvSpPr/>
          <p:nvPr/>
        </p:nvSpPr>
        <p:spPr>
          <a:xfrm>
            <a:off x="4875920" y="3204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4"/>
          <p:cNvSpPr txBox="1"/>
          <p:nvPr/>
        </p:nvSpPr>
        <p:spPr>
          <a:xfrm>
            <a:off x="5720910" y="3500263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75920" y="423285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4"/>
          <p:cNvSpPr txBox="1"/>
          <p:nvPr/>
        </p:nvSpPr>
        <p:spPr>
          <a:xfrm>
            <a:off x="5695422" y="458901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b="1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Presentación de los Estudiantes</a:t>
            </a: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24745" y="531092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4"/>
          <p:cNvSpPr/>
          <p:nvPr/>
        </p:nvSpPr>
        <p:spPr>
          <a:xfrm>
            <a:off x="4824745" y="640567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4"/>
          <p:cNvSpPr txBox="1"/>
          <p:nvPr/>
        </p:nvSpPr>
        <p:spPr>
          <a:xfrm>
            <a:off x="5720893" y="5677738"/>
            <a:ext cx="7922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b="1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Evaluación de Conocimientos Previos                             </a:t>
            </a:r>
            <a:endParaRPr b="1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5653542" y="6702676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Programa del Curso                 					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331692" y="7728188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Evaluación de Conocimientos del Curso Actual 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824745" y="750042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2" name="Google Shape;112;p4"/>
          <p:cNvGrpSpPr/>
          <p:nvPr/>
        </p:nvGrpSpPr>
        <p:grpSpPr>
          <a:xfrm>
            <a:off x="0" y="-36418"/>
            <a:ext cx="4674743" cy="10359842"/>
            <a:chOff x="0" y="-19050"/>
            <a:chExt cx="1231200" cy="2728500"/>
          </a:xfrm>
        </p:grpSpPr>
        <p:sp>
          <p:nvSpPr>
            <p:cNvPr id="113" name="Google Shape;113;p4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14" name="Google Shape;114;p4"/>
            <p:cNvSpPr txBox="1"/>
            <p:nvPr/>
          </p:nvSpPr>
          <p:spPr>
            <a:xfrm>
              <a:off x="0" y="-19050"/>
              <a:ext cx="1231200" cy="27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4"/>
          <p:cNvSpPr/>
          <p:nvPr/>
        </p:nvSpPr>
        <p:spPr>
          <a:xfrm>
            <a:off x="4000075" y="2756063"/>
            <a:ext cx="9896507" cy="7627980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0" y="-37"/>
            <a:ext cx="4675117" cy="10288692"/>
          </a:xfrm>
          <a:custGeom>
            <a:rect b="b" l="l" r="r" t="t"/>
            <a:pathLst>
              <a:path extrusionOk="0" h="2709333" w="1231104">
                <a:moveTo>
                  <a:pt x="0" y="0"/>
                </a:moveTo>
                <a:lnTo>
                  <a:pt x="1231104" y="0"/>
                </a:lnTo>
                <a:lnTo>
                  <a:pt x="123110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FFCB13">
              <a:alpha val="83921"/>
            </a:srgbClr>
          </a:solidFill>
          <a:ln>
            <a:noFill/>
          </a:ln>
        </p:spPr>
      </p:sp>
      <p:sp>
        <p:nvSpPr>
          <p:cNvPr id="121" name="Google Shape;121;p6"/>
          <p:cNvSpPr txBox="1"/>
          <p:nvPr/>
        </p:nvSpPr>
        <p:spPr>
          <a:xfrm>
            <a:off x="4855500" y="2799975"/>
            <a:ext cx="8577000" cy="3693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Datos tutor</a:t>
            </a:r>
            <a:endParaRPr b="1" i="0" sz="3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191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Open Sans"/>
              <a:buChar char="●"/>
            </a:pPr>
            <a:r>
              <a:rPr b="1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Allan Josué Rafael Morales</a:t>
            </a:r>
            <a:endParaRPr b="1" i="0" sz="3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191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Open Sans"/>
              <a:buChar char="●"/>
            </a:pPr>
            <a:r>
              <a:rPr b="1" i="0" lang="en-US" sz="3000" u="sng" cap="none" strike="noStrike">
                <a:solidFill>
                  <a:schemeClr val="hlink"/>
                </a:solidFill>
                <a:highlight>
                  <a:srgbClr val="D9D9D9"/>
                </a:highlight>
                <a:latin typeface="Open Sans"/>
                <a:ea typeface="Open Sans"/>
                <a:cs typeface="Open Sans"/>
                <a:sym typeface="Open Sans"/>
                <a:hlinkClick r:id="rId3"/>
              </a:rPr>
              <a:t>3361882181701@ingenieria.usac.edu.gt</a:t>
            </a:r>
            <a:endParaRPr b="1" i="0" sz="3000" u="none" cap="none" strike="noStrike">
              <a:solidFill>
                <a:srgbClr val="1F1F1F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4191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b="1" i="0" lang="en-US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9no Semestre - Ciencias y Sistemas</a:t>
            </a:r>
            <a:endParaRPr b="1" i="0" sz="3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2743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Algunos datos adicionales…</a:t>
            </a:r>
            <a:endParaRPr b="1" i="0" sz="3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489650" y="7311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8992" y="6858000"/>
            <a:ext cx="3429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76125" y="6673752"/>
            <a:ext cx="3335749" cy="361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9775" y="7538100"/>
            <a:ext cx="3232514" cy="20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75b4d7ed6_0_12"/>
          <p:cNvSpPr/>
          <p:nvPr/>
        </p:nvSpPr>
        <p:spPr>
          <a:xfrm>
            <a:off x="0" y="-37"/>
            <a:ext cx="4675117" cy="10288692"/>
          </a:xfrm>
          <a:custGeom>
            <a:rect b="b" l="l" r="r" t="t"/>
            <a:pathLst>
              <a:path extrusionOk="0" h="2709333" w="1231104">
                <a:moveTo>
                  <a:pt x="0" y="0"/>
                </a:moveTo>
                <a:lnTo>
                  <a:pt x="1231104" y="0"/>
                </a:lnTo>
                <a:lnTo>
                  <a:pt x="123110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131" name="Google Shape;131;g3d75b4d7ed6_0_12"/>
          <p:cNvSpPr txBox="1"/>
          <p:nvPr/>
        </p:nvSpPr>
        <p:spPr>
          <a:xfrm>
            <a:off x="1647775" y="596275"/>
            <a:ext cx="126021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Presentación de los Estudiantes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2" name="Google Shape;132;g3d75b4d7ed6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767" y="2453713"/>
            <a:ext cx="5715000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d75b4d7ed6_0_12"/>
          <p:cNvSpPr txBox="1"/>
          <p:nvPr/>
        </p:nvSpPr>
        <p:spPr>
          <a:xfrm>
            <a:off x="14357125" y="9021325"/>
            <a:ext cx="30000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37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5"/>
              <a:buFont typeface="Arial"/>
              <a:buNone/>
            </a:pPr>
            <a:r>
              <a:rPr b="0" i="0" lang="en-US" sz="2615" u="sng" cap="none" strike="noStrike">
                <a:solidFill>
                  <a:srgbClr val="FEFFFF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Ruleta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d75b4d7ed6_0_12"/>
          <p:cNvSpPr txBox="1"/>
          <p:nvPr/>
        </p:nvSpPr>
        <p:spPr>
          <a:xfrm>
            <a:off x="8928150" y="4091763"/>
            <a:ext cx="54756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Nombre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Qué</a:t>
            </a:r>
            <a:r>
              <a:rPr lang="en-US" sz="2400">
                <a:solidFill>
                  <a:schemeClr val="dk1"/>
                </a:solidFill>
              </a:rPr>
              <a:t> esperan del curso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Hobbies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 que se dedican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-37"/>
            <a:ext cx="4675117" cy="10288692"/>
          </a:xfrm>
          <a:custGeom>
            <a:rect b="b" l="l" r="r" t="t"/>
            <a:pathLst>
              <a:path extrusionOk="0" h="2709333" w="1231104">
                <a:moveTo>
                  <a:pt x="0" y="0"/>
                </a:moveTo>
                <a:lnTo>
                  <a:pt x="1231104" y="0"/>
                </a:lnTo>
                <a:lnTo>
                  <a:pt x="123110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140" name="Google Shape;140;p7"/>
          <p:cNvSpPr txBox="1"/>
          <p:nvPr/>
        </p:nvSpPr>
        <p:spPr>
          <a:xfrm>
            <a:off x="1718050" y="602050"/>
            <a:ext cx="14202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 Evaluación de Conocimientos Previos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8436150" y="6161750"/>
            <a:ext cx="14157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Quizz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5053500" y="3672075"/>
            <a:ext cx="8181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Momento de probar tus conocimientos…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03000" y="367207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75b4d7ed6_0_21"/>
          <p:cNvSpPr/>
          <p:nvPr/>
        </p:nvSpPr>
        <p:spPr>
          <a:xfrm>
            <a:off x="0" y="-37"/>
            <a:ext cx="4675117" cy="10288692"/>
          </a:xfrm>
          <a:custGeom>
            <a:rect b="b" l="l" r="r" t="t"/>
            <a:pathLst>
              <a:path extrusionOk="0" h="2709333" w="1231104">
                <a:moveTo>
                  <a:pt x="0" y="0"/>
                </a:moveTo>
                <a:lnTo>
                  <a:pt x="1231104" y="0"/>
                </a:lnTo>
                <a:lnTo>
                  <a:pt x="123110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93C47D"/>
          </a:solidFill>
          <a:ln>
            <a:noFill/>
          </a:ln>
        </p:spPr>
      </p:sp>
      <p:sp>
        <p:nvSpPr>
          <p:cNvPr id="149" name="Google Shape;149;g3d75b4d7ed6_0_21"/>
          <p:cNvSpPr txBox="1"/>
          <p:nvPr/>
        </p:nvSpPr>
        <p:spPr>
          <a:xfrm>
            <a:off x="626625" y="584675"/>
            <a:ext cx="11268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</a:t>
            </a: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Programa del Curso</a:t>
            </a: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0" name="Google Shape;150;g3d75b4d7ed6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0717" y="2829000"/>
            <a:ext cx="6686550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d75b4d7ed6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417" y="6048350"/>
            <a:ext cx="4240288" cy="424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75b4d7ed6_0_39"/>
          <p:cNvSpPr/>
          <p:nvPr/>
        </p:nvSpPr>
        <p:spPr>
          <a:xfrm>
            <a:off x="0" y="-37"/>
            <a:ext cx="4675117" cy="10288692"/>
          </a:xfrm>
          <a:custGeom>
            <a:rect b="b" l="l" r="r" t="t"/>
            <a:pathLst>
              <a:path extrusionOk="0" h="2709333" w="1231104">
                <a:moveTo>
                  <a:pt x="0" y="0"/>
                </a:moveTo>
                <a:lnTo>
                  <a:pt x="1231104" y="0"/>
                </a:lnTo>
                <a:lnTo>
                  <a:pt x="123110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93C47D"/>
          </a:solidFill>
          <a:ln>
            <a:noFill/>
          </a:ln>
        </p:spPr>
      </p:sp>
      <p:sp>
        <p:nvSpPr>
          <p:cNvPr id="157" name="Google Shape;157;g3d75b4d7ed6_0_39"/>
          <p:cNvSpPr txBox="1"/>
          <p:nvPr/>
        </p:nvSpPr>
        <p:spPr>
          <a:xfrm>
            <a:off x="2256875" y="704825"/>
            <a:ext cx="115752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 Evaluación de Conocimientos del Curso Actual     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g3d75b4d7ed6_0_39"/>
          <p:cNvSpPr txBox="1"/>
          <p:nvPr/>
        </p:nvSpPr>
        <p:spPr>
          <a:xfrm>
            <a:off x="8436150" y="6161750"/>
            <a:ext cx="14157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Quizz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g3d75b4d7ed6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05800" y="4906450"/>
            <a:ext cx="5382200" cy="538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d75b4d7ed6_0_39"/>
          <p:cNvSpPr txBox="1"/>
          <p:nvPr/>
        </p:nvSpPr>
        <p:spPr>
          <a:xfrm>
            <a:off x="6274950" y="4200850"/>
            <a:ext cx="57381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¿De los errores se aprende?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75b4d7ed6_1_10"/>
          <p:cNvSpPr/>
          <p:nvPr/>
        </p:nvSpPr>
        <p:spPr>
          <a:xfrm>
            <a:off x="0" y="-37"/>
            <a:ext cx="4675117" cy="10288692"/>
          </a:xfrm>
          <a:custGeom>
            <a:rect b="b" l="l" r="r" t="t"/>
            <a:pathLst>
              <a:path extrusionOk="0" h="2709333" w="1231104">
                <a:moveTo>
                  <a:pt x="0" y="0"/>
                </a:moveTo>
                <a:lnTo>
                  <a:pt x="1231104" y="0"/>
                </a:lnTo>
                <a:lnTo>
                  <a:pt x="123110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E06666"/>
          </a:solidFill>
          <a:ln>
            <a:noFill/>
          </a:ln>
        </p:spPr>
      </p:sp>
      <p:sp>
        <p:nvSpPr>
          <p:cNvPr id="166" name="Google Shape;166;g3d75b4d7ed6_1_10"/>
          <p:cNvSpPr txBox="1"/>
          <p:nvPr/>
        </p:nvSpPr>
        <p:spPr>
          <a:xfrm>
            <a:off x="1878750" y="665900"/>
            <a:ext cx="145305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Tarea de fortalecimiento académico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g3d75b4d7ed6_1_10"/>
          <p:cNvSpPr/>
          <p:nvPr/>
        </p:nvSpPr>
        <p:spPr>
          <a:xfrm>
            <a:off x="12612839" y="4545089"/>
            <a:ext cx="4646519" cy="4956451"/>
          </a:xfrm>
          <a:custGeom>
            <a:rect b="b" l="l" r="r" t="t"/>
            <a:pathLst>
              <a:path extrusionOk="0" h="4281662" w="4013925">
                <a:moveTo>
                  <a:pt x="0" y="4180062"/>
                </a:moveTo>
                <a:lnTo>
                  <a:pt x="4013925" y="4180062"/>
                </a:lnTo>
                <a:lnTo>
                  <a:pt x="3886925" y="4281662"/>
                </a:lnTo>
                <a:cubicBezTo>
                  <a:pt x="3886925" y="4281662"/>
                  <a:pt x="2896325" y="4205462"/>
                  <a:pt x="2794725" y="4205462"/>
                </a:cubicBezTo>
                <a:lnTo>
                  <a:pt x="1219200" y="4205462"/>
                </a:lnTo>
                <a:cubicBezTo>
                  <a:pt x="1117600" y="4205462"/>
                  <a:pt x="127000" y="4281662"/>
                  <a:pt x="127000" y="4281662"/>
                </a:cubicBezTo>
                <a:lnTo>
                  <a:pt x="0" y="4180062"/>
                </a:lnTo>
                <a:lnTo>
                  <a:pt x="0" y="0"/>
                </a:lnTo>
                <a:lnTo>
                  <a:pt x="4013925" y="0"/>
                </a:lnTo>
                <a:lnTo>
                  <a:pt x="4013925" y="4180062"/>
                </a:lnTo>
                <a:lnTo>
                  <a:pt x="12700" y="4180062"/>
                </a:lnTo>
                <a:lnTo>
                  <a:pt x="12700" y="4167362"/>
                </a:lnTo>
                <a:lnTo>
                  <a:pt x="4001225" y="4167362"/>
                </a:lnTo>
                <a:lnTo>
                  <a:pt x="4001225" y="12700"/>
                </a:lnTo>
                <a:lnTo>
                  <a:pt x="12700" y="12700"/>
                </a:lnTo>
                <a:lnTo>
                  <a:pt x="12700" y="4180062"/>
                </a:lnTo>
              </a:path>
            </a:pathLst>
          </a:custGeom>
          <a:solidFill>
            <a:srgbClr val="394C60">
              <a:alpha val="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d75b4d7ed6_1_10"/>
          <p:cNvSpPr txBox="1"/>
          <p:nvPr/>
        </p:nvSpPr>
        <p:spPr>
          <a:xfrm>
            <a:off x="7983600" y="4087575"/>
            <a:ext cx="23208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Tarea :(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d75b4d7ed6_1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816" y="5686975"/>
            <a:ext cx="4293500" cy="42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