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IG4dY3RwR779eCIlM6lujg8Y4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abdielo/dev/cococys/diagnostico_assets/image10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600" y="0"/>
            <a:ext cx="9144000" cy="5143500"/>
          </a:xfrm>
          <a:prstGeom prst="rect">
            <a:avLst/>
          </a:prstGeom>
          <a:solidFill>
            <a:srgbClr val="FFFFFF">
              <a:alpha val="8392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30350" y="3408551"/>
            <a:ext cx="4081800" cy="1136100"/>
          </a:xfrm>
          <a:prstGeom prst="roundRect">
            <a:avLst>
              <a:gd fmla="val 11429" name="adj"/>
            </a:avLst>
          </a:prstGeom>
          <a:solidFill>
            <a:srgbClr val="FFFFFF">
              <a:alpha val="81960"/>
            </a:srgbClr>
          </a:solidFill>
          <a:ln cap="flat" cmpd="sng" w="12700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88171" y="3547888"/>
            <a:ext cx="356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Escuela de Ingeniería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de Ciencias y Sistemas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68096" y="40416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997205" y="932663"/>
            <a:ext cx="3584400" cy="2999100"/>
          </a:xfrm>
          <a:prstGeom prst="roundRect">
            <a:avLst>
              <a:gd fmla="val 3659" name="adj"/>
            </a:avLst>
          </a:prstGeom>
          <a:solidFill>
            <a:srgbClr val="FFFFFF">
              <a:alpha val="92156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508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303520" y="1234440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Semana de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326333" y="2514610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 b="0" i="0" sz="1250" u="none" cap="none" strike="noStrike">
              <a:solidFill>
                <a:srgbClr val="0070F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 Abdiel Fernando José Otzoy Otzín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321808" y="3017520"/>
            <a:ext cx="1051560" cy="292608"/>
          </a:xfrm>
          <a:prstGeom prst="roundRect">
            <a:avLst>
              <a:gd fmla="val 56250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321808" y="3026664"/>
            <a:ext cx="1051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73952" y="3017520"/>
            <a:ext cx="1335024" cy="292608"/>
          </a:xfrm>
          <a:prstGeom prst="roundRect">
            <a:avLst>
              <a:gd fmla="val 56250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73952" y="3026664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 cap="flat" cmpd="sng" w="12700">
            <a:solidFill>
              <a:srgbClr val="0A0A0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1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07" y="-228593"/>
            <a:ext cx="8622792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14400" y="1700784"/>
            <a:ext cx="2926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Semana 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32688" y="2523744"/>
            <a:ext cx="2971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Una revisión ordenada para comenzar el curso con claridad.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952741" y="2093980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852138" y="2523749"/>
            <a:ext cx="2286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· evaluación previa · horarios · programa · cierre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F6F7F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3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8404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0A0A">
              <a:alpha val="4392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6.png"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502920"/>
            <a:ext cx="29260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384048" y="173736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Resumen de actividades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84048" y="20391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3F4F6"/>
                </a:solidFill>
                <a:latin typeface="Arial"/>
                <a:ea typeface="Arial"/>
                <a:cs typeface="Arial"/>
                <a:sym typeface="Arial"/>
              </a:rPr>
              <a:t>7 puntos clave para organizar la semana.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187952" y="603504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352544" y="676656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352544" y="6812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736592" y="66751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Presentación del tutor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187952" y="1261872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8F8F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352544" y="1335024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352544" y="133959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736592" y="1325880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87952" y="1920240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352544" y="1993392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52544" y="19979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736592" y="1984248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Presentación de los estudiantes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87952" y="2578608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8F8F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352544" y="2651760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352544" y="26563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736592" y="2642616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Censo de horarios de calificación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87952" y="3236976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352544" y="3310128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352544" y="331470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736592" y="3300984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187952" y="3895344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8F8F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352544" y="3968496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352544" y="39730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36592" y="39593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Evaluación de conocimientos del curso actual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187952" y="4553712"/>
            <a:ext cx="4526280" cy="402336"/>
          </a:xfrm>
          <a:prstGeom prst="roundRect">
            <a:avLst>
              <a:gd fmla="val 181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352544" y="4626864"/>
            <a:ext cx="256032" cy="256032"/>
          </a:xfrm>
          <a:prstGeom prst="roundRect">
            <a:avLst>
              <a:gd fmla="val 28571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352544" y="46314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736592" y="4617720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Tarea de fortalecimiento académico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1. Presentación del tutor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Perfil profesional y contactos principales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30352" y="1124712"/>
            <a:ext cx="4572000" cy="3456432"/>
          </a:xfrm>
          <a:prstGeom prst="roundRect">
            <a:avLst>
              <a:gd fmla="val 3175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49808" y="1344168"/>
            <a:ext cx="1097280" cy="274320"/>
          </a:xfrm>
          <a:prstGeom prst="roundRect">
            <a:avLst>
              <a:gd fmla="val 60000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49808" y="135331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49808" y="171907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Abdiel Otzoy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49808" y="206654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Fullstack developer · Guatemala remoto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49808" y="2395728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F3F46"/>
                </a:solidFill>
                <a:latin typeface="Arial"/>
                <a:ea typeface="Arial"/>
                <a:cs typeface="Arial"/>
                <a:sym typeface="Arial"/>
              </a:rPr>
              <a:t>Desarrollador fullstack con experiencia en aplicaciones web, APIs y deployment.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49808" y="2953512"/>
            <a:ext cx="914400" cy="274320"/>
          </a:xfrm>
          <a:prstGeom prst="roundRect">
            <a:avLst>
              <a:gd fmla="val 60000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49808" y="29626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10 semestre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755648" y="2953512"/>
            <a:ext cx="1078992" cy="274320"/>
          </a:xfrm>
          <a:prstGeom prst="roundRect">
            <a:avLst>
              <a:gd fmla="val 60000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755648" y="296265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926080" y="2953512"/>
            <a:ext cx="777240" cy="274320"/>
          </a:xfrm>
          <a:prstGeom prst="roundRect">
            <a:avLst>
              <a:gd fmla="val 60000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926080" y="2962656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IG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749808" y="3346704"/>
            <a:ext cx="3749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https://www.linkedin.com/in/abdielotz/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@abdielo__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abdielotzoy@gmail.com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394960" y="1124712"/>
            <a:ext cx="3200400" cy="3456300"/>
          </a:xfrm>
          <a:prstGeom prst="roundRect">
            <a:avLst>
              <a:gd fmla="val 3429" name="adj"/>
            </a:avLst>
          </a:prstGeom>
          <a:solidFill>
            <a:srgbClr val="F5F5F5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263640" y="1426464"/>
            <a:ext cx="1444800" cy="14448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70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263640" y="1709928"/>
            <a:ext cx="14447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25312" y="3054096"/>
            <a:ext cx="2084832" cy="310896"/>
          </a:xfrm>
          <a:prstGeom prst="roundRect">
            <a:avLst>
              <a:gd fmla="val 52941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25312" y="3063240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Economía A+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50992" y="3511296"/>
            <a:ext cx="2670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Guatemala · remoto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4º año / 10 semestre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2. Evaluación de Conocimientos Previos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Actividad realizada en Kahoot y banco de preguntas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66928" y="1170432"/>
            <a:ext cx="2743200" cy="3273552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2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536192"/>
            <a:ext cx="1143000" cy="1389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841248" y="30632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Diagnóstico inicial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49808" y="3364992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Nos ayuda a medir la base del grupo antes de avanzar.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11880" y="1170432"/>
            <a:ext cx="4919472" cy="1389888"/>
          </a:xfrm>
          <a:prstGeom prst="roundRect">
            <a:avLst>
              <a:gd fmla="val 7895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858768" y="1371600"/>
            <a:ext cx="914400" cy="256032"/>
          </a:xfrm>
          <a:prstGeom prst="roundRect">
            <a:avLst>
              <a:gd fmla="val 64286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858768" y="13807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Wayground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858768" y="176479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Actividad realizada en Wayground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11880" y="2743200"/>
            <a:ext cx="4919472" cy="1700784"/>
          </a:xfrm>
          <a:prstGeom prst="roundRect">
            <a:avLst>
              <a:gd fmla="val 6452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858768" y="2962656"/>
            <a:ext cx="1417320" cy="256032"/>
          </a:xfrm>
          <a:prstGeom prst="roundRect">
            <a:avLst>
              <a:gd fmla="val 64286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858768" y="3355848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https://wayground.com/admin/assessment/6a2ed8a1314cb8ea2c03feb2?source=lesson_share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3. Presentación de los Estudiantes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Participación del grupo y espacio para identificar a cada integrante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21792" y="124358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5 estudiantes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40080" y="1627632"/>
            <a:ext cx="2084832" cy="1024128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86384" y="1755648"/>
            <a:ext cx="310896" cy="31089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86384" y="177393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1170432" y="175564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Estudiante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170432" y="202996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Presentación breve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170432" y="2295144"/>
            <a:ext cx="969264" cy="201168"/>
          </a:xfrm>
          <a:prstGeom prst="roundRect">
            <a:avLst>
              <a:gd fmla="val 36364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70432" y="2299716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Participa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090672" y="1627632"/>
            <a:ext cx="2084832" cy="1024128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236976" y="1755648"/>
            <a:ext cx="310896" cy="31089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236976" y="177393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21024" y="175564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Estudiante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21024" y="202996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Presentación breve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21024" y="2295144"/>
            <a:ext cx="969264" cy="201168"/>
          </a:xfrm>
          <a:prstGeom prst="roundRect">
            <a:avLst>
              <a:gd fmla="val 36364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21024" y="2299716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Participa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541264" y="1627632"/>
            <a:ext cx="2084832" cy="1024128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87568" y="1755648"/>
            <a:ext cx="310896" cy="31089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687568" y="1773936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071616" y="1755648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Estudiante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071616" y="202996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Presentación breve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071616" y="2295144"/>
            <a:ext cx="969264" cy="201168"/>
          </a:xfrm>
          <a:prstGeom prst="roundRect">
            <a:avLst>
              <a:gd fmla="val 36364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071616" y="2299716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Participa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773936" y="3063240"/>
            <a:ext cx="2084832" cy="1024128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920240" y="3191256"/>
            <a:ext cx="310896" cy="31089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920240" y="320954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304288" y="3191256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Estudiante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304288" y="3465576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Presentación breve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304288" y="3730752"/>
            <a:ext cx="969264" cy="201168"/>
          </a:xfrm>
          <a:prstGeom prst="roundRect">
            <a:avLst>
              <a:gd fmla="val 36364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304288" y="3735324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Participa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224528" y="3063240"/>
            <a:ext cx="2084832" cy="1024128"/>
          </a:xfrm>
          <a:prstGeom prst="roundRect">
            <a:avLst>
              <a:gd fmla="val 10714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370832" y="3191256"/>
            <a:ext cx="310896" cy="310896"/>
          </a:xfrm>
          <a:prstGeom prst="ellipse">
            <a:avLst/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370832" y="3209544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754880" y="3191256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Estudiante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754880" y="3465576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Presentación breve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754880" y="3730752"/>
            <a:ext cx="969264" cy="201168"/>
          </a:xfrm>
          <a:prstGeom prst="roundRect">
            <a:avLst>
              <a:gd fmla="val 36364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754880" y="3735324"/>
            <a:ext cx="969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Participa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4. Censo de Horarios de Calificación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Horarios tentativos para coordinar la revisión y calificación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0080" y="1234440"/>
            <a:ext cx="2788920" cy="3063240"/>
          </a:xfrm>
          <a:prstGeom prst="roundRect">
            <a:avLst>
              <a:gd fmla="val 3934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877824" y="149961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Horarios tentativos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68680" y="1810512"/>
            <a:ext cx="2148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Censo de disponibilidad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14400" y="2240280"/>
            <a:ext cx="1920240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0070F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32688" y="2313432"/>
            <a:ext cx="512064" cy="475488"/>
          </a:xfrm>
          <a:prstGeom prst="roundRect">
            <a:avLst>
              <a:gd fmla="val 23077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32688" y="238658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536192" y="23591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Viernes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536192" y="257860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3:00 pm  –  7:00 pm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914400" y="3063240"/>
            <a:ext cx="1920240" cy="621792"/>
          </a:xfrm>
          <a:prstGeom prst="roundRect">
            <a:avLst>
              <a:gd fmla="val 14706" name="adj"/>
            </a:avLst>
          </a:prstGeom>
          <a:solidFill>
            <a:srgbClr val="FFFDF5"/>
          </a:solidFill>
          <a:ln cap="flat" cmpd="sng" w="12700">
            <a:solidFill>
              <a:srgbClr val="D4AF3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932688" y="3136392"/>
            <a:ext cx="512064" cy="475488"/>
          </a:xfrm>
          <a:prstGeom prst="roundRect">
            <a:avLst>
              <a:gd fmla="val 23077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932688" y="320954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536192" y="318211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Sábado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1536192" y="3401568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7:00 am  –  3:00 pm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703320" y="1234440"/>
            <a:ext cx="470916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8.png" id="215" name="Google Shape;2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1499616"/>
            <a:ext cx="20574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6236208" y="1664208"/>
            <a:ext cx="1783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Organización del horario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236208" y="2016254"/>
            <a:ext cx="178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El objetivo es definir franjas cómodas para corregir y acompañar sin cruces de agenda.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254496" y="2852928"/>
            <a:ext cx="1298448" cy="274320"/>
          </a:xfrm>
          <a:prstGeom prst="roundRect">
            <a:avLst>
              <a:gd fmla="val 60000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254496" y="2862072"/>
            <a:ext cx="1298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Calendario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254496" y="3200400"/>
            <a:ext cx="1572768" cy="274320"/>
          </a:xfrm>
          <a:prstGeom prst="roundRect">
            <a:avLst>
              <a:gd fmla="val 60000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54496" y="3209544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Coordinación grupal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5. Programa del Curso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Presentación general del contenido y la ruta de trabajo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40080" y="1234440"/>
            <a:ext cx="2743200" cy="306324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5.png" id="237" name="Google Shape;2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1463040"/>
            <a:ext cx="178308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896112" y="3310128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86384" y="3639312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Una visión ordenada del curso para saber qué viene después.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657600" y="1234440"/>
            <a:ext cx="470916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895344" y="1444752"/>
            <a:ext cx="987552" cy="256032"/>
          </a:xfrm>
          <a:prstGeom prst="roundRect">
            <a:avLst>
              <a:gd fmla="val 64286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895344" y="1453896"/>
            <a:ext cx="987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Ruta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3913632" y="1783080"/>
            <a:ext cx="4041648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Objetivos del curso y resultados esperados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Metodología de trabajo y sesiones semanales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Evaluaciones, entregables y criterios de calificación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40"/>
              <a:buFont typeface="Arial"/>
              <a:buChar char="•"/>
            </a:pPr>
            <a:r>
              <a:rPr b="0" i="0" lang="en-US" sz="134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Recursos de apoyo y espacios de consulta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895344" y="3767328"/>
            <a:ext cx="4023360" cy="310896"/>
          </a:xfrm>
          <a:prstGeom prst="roundRect">
            <a:avLst>
              <a:gd fmla="val 29412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133088" y="379018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Presentación del programa del curso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6. Evaluación de Conocimientos del Curso Actual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Actividad diagnóstica para revisar el nivel actual del grupo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0080" y="1234440"/>
            <a:ext cx="2788920" cy="3063240"/>
          </a:xfrm>
          <a:prstGeom prst="roundRect">
            <a:avLst>
              <a:gd fmla="val 3934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2.png" id="261" name="Google Shape;2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1499616"/>
            <a:ext cx="123444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841248" y="314553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Segundo diagnóstico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49808" y="3456432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Sirve para calibrar el punto de partida del curso actual.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703320" y="1234440"/>
            <a:ext cx="470916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931920" y="1444752"/>
            <a:ext cx="914400" cy="256032"/>
          </a:xfrm>
          <a:prstGeom prst="roundRect">
            <a:avLst>
              <a:gd fmla="val 64286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931920" y="14538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Kahoot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3931920" y="181051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Actividad realizada en Kahoot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931920" y="209397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Link al banco de preguntas: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931920" y="2340864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F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0070F3"/>
                </a:solidFill>
                <a:latin typeface="Arial"/>
                <a:ea typeface="Arial"/>
                <a:cs typeface="Arial"/>
                <a:sym typeface="Arial"/>
              </a:rPr>
              <a:t>https://wayground.com/admin/assessment/6a2eda311a4b3a1ed78138ff?source=lesson_share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931920" y="3090672"/>
            <a:ext cx="3886200" cy="566928"/>
          </a:xfrm>
          <a:prstGeom prst="roundRect">
            <a:avLst>
              <a:gd fmla="val 16129" name="adj"/>
            </a:avLst>
          </a:prstGeom>
          <a:solidFill>
            <a:srgbClr val="F5F5F5"/>
          </a:solidFill>
          <a:ln cap="flat" cmpd="sng" w="12700">
            <a:solidFill>
              <a:srgbClr val="F5F5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169664" y="3255264"/>
            <a:ext cx="34198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Revisión rápida y ordenada del conocimiento previo del grupo.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/>
          <p:nvPr/>
        </p:nvSpPr>
        <p:spPr>
          <a:xfrm>
            <a:off x="411480" y="310896"/>
            <a:ext cx="530352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11480" y="315468"/>
            <a:ext cx="5303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024128" y="237744"/>
            <a:ext cx="6858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7. Tarea de fortalecimiento académico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042416" y="658368"/>
            <a:ext cx="7223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A4A"/>
                </a:solidFill>
                <a:latin typeface="Arial"/>
                <a:ea typeface="Arial"/>
                <a:cs typeface="Arial"/>
                <a:sym typeface="Arial"/>
              </a:rPr>
              <a:t>Actividad de refuerzo para cerrar la semana con práctica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11480" y="960120"/>
            <a:ext cx="8321040" cy="37947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0080" y="1234440"/>
            <a:ext cx="2743200" cy="3063240"/>
          </a:xfrm>
          <a:prstGeom prst="roundRect">
            <a:avLst>
              <a:gd fmla="val 4000" name="adj"/>
            </a:avLst>
          </a:prstGeom>
          <a:solidFill>
            <a:srgbClr val="F8FAFC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abdielo/dev/cococys/diagnostico_assets/image8.png" id="287" name="Google Shape;2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1481328"/>
            <a:ext cx="178308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822960" y="34015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Refuerzo académico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49808" y="3703320"/>
            <a:ext cx="2432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60"/>
              <a:buFont typeface="Arial"/>
              <a:buNone/>
            </a:pPr>
            <a:r>
              <a:rPr b="0" i="0" lang="en-US" sz="116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Se enfoca en consolidar hábitos de estudio y práctica.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657600" y="1234440"/>
            <a:ext cx="4709160" cy="3063240"/>
          </a:xfrm>
          <a:prstGeom prst="roundRect">
            <a:avLst>
              <a:gd fmla="val 3582" name="adj"/>
            </a:avLst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895344" y="1444752"/>
            <a:ext cx="1060704" cy="256032"/>
          </a:xfrm>
          <a:prstGeom prst="roundRect">
            <a:avLst>
              <a:gd fmla="val 64286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895344" y="1453896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3 pasos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913632" y="1828800"/>
            <a:ext cx="393192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0070F3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041648" y="1929384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041648" y="1975104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4480560" y="1947672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Revisar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504688" y="1947672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Repasar el material visto en la sesión.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913632" y="2523744"/>
            <a:ext cx="3931920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F5F5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041648" y="2624328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041648" y="2670048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480560" y="2642616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Practicar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504688" y="264261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Aplicar los conceptos en ejercicios cortos.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913632" y="3218688"/>
            <a:ext cx="3931920" cy="566928"/>
          </a:xfrm>
          <a:prstGeom prst="roundRect">
            <a:avLst>
              <a:gd fmla="val 12903" name="adj"/>
            </a:avLst>
          </a:prstGeom>
          <a:solidFill>
            <a:srgbClr val="F8FAFC"/>
          </a:solidFill>
          <a:ln cap="flat" cmpd="sng" w="12700">
            <a:solidFill>
              <a:srgbClr val="F5F5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041648" y="3319272"/>
            <a:ext cx="347472" cy="347472"/>
          </a:xfrm>
          <a:prstGeom prst="roundRect">
            <a:avLst>
              <a:gd fmla="val 21053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041648" y="3364992"/>
            <a:ext cx="3474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480560" y="3337560"/>
            <a:ext cx="96926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Compartir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504688" y="3337560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Resolver dudas en el foro o en clase.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abdielo/dev/cococys/diagnostico_assets/image7.png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5025" y="958813"/>
            <a:ext cx="3752574" cy="32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530352" y="10058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30352" y="1591056"/>
            <a:ext cx="3154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donde puedes consultar cualquier duda que te surja en la semana.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30352" y="2651760"/>
            <a:ext cx="1280160" cy="274320"/>
          </a:xfrm>
          <a:prstGeom prst="roundRect">
            <a:avLst>
              <a:gd fmla="val 60000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30352" y="266090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FORO SEMANAL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1938528" y="2651760"/>
            <a:ext cx="1243584" cy="274320"/>
          </a:xfrm>
          <a:prstGeom prst="roundRect">
            <a:avLst>
              <a:gd fmla="val 60000" name="adj"/>
            </a:avLst>
          </a:prstGeom>
          <a:solidFill>
            <a:srgbClr val="0070F3"/>
          </a:solidFill>
          <a:ln cap="flat" cmpd="sng" w="12700">
            <a:solidFill>
              <a:srgbClr val="0070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938528" y="2660904"/>
            <a:ext cx="12435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CONSULTAS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Users/abdielo/dev/cococys/diagnostico_assets/image9.png" id="329" name="Google Shape;3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87843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66928" y="475488"/>
            <a:ext cx="2011680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66928" y="49377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A0A0A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8284464" y="4626864"/>
            <a:ext cx="566928" cy="310896"/>
          </a:xfrm>
          <a:prstGeom prst="roundRect">
            <a:avLst>
              <a:gd fmla="val 35294" name="adj"/>
            </a:avLst>
          </a:prstGeom>
          <a:solidFill>
            <a:srgbClr val="D4AF37"/>
          </a:solidFill>
          <a:ln cap="flat" cmpd="sng" w="12700">
            <a:solidFill>
              <a:srgbClr val="D4AF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8284464" y="46314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