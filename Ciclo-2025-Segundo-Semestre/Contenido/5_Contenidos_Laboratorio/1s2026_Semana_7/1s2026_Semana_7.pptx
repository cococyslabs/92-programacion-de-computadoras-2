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ns Bold" charset="1" panose="00000000000000000000"/>
      <p:regular r:id="rId26"/>
    </p:embeddedFont>
    <p:embeddedFont>
      <p:font typeface="Open Sans" charset="1" panose="00000000000000000000"/>
      <p:regular r:id="rId27"/>
    </p:embeddedFont>
    <p:embeddedFont>
      <p:font typeface="Courier Prime Bold" charset="1" panose="00000809000000000000"/>
      <p:regular r:id="rId28"/>
    </p:embeddedFont>
    <p:embeddedFont>
      <p:font typeface="Courier Prime" charset="1" panose="00000509000000000000"/>
      <p:regular r:id="rId29"/>
    </p:embeddedFont>
    <p:embeddedFont>
      <p:font typeface="Arial Bold" charset="1" panose="020B07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earn.microsoft.com/es-mx/dotnet/visual-basic/language-reference/statements/for-next-statement" TargetMode="External" Type="http://schemas.openxmlformats.org/officeDocument/2006/relationships/hyperlink"/><Relationship Id="rId3" Target="https://learn.microsoft.com/es-mx/dotnet/visual-basic/language-reference/statements/while-end-while-statement" TargetMode="External" Type="http://schemas.openxmlformats.org/officeDocument/2006/relationships/hyperlink"/><Relationship Id="rId4" Target="https://learn.microsoft.com/es-mx/dotnet/visual-basic/language-reference/statements/do-loop-statement" TargetMode="External" Type="http://schemas.openxmlformats.org/officeDocument/2006/relationships/hyperlink"/><Relationship Id="rId5" Target="https://learn.microsoft.com/es-mx/dotnet/visual-basic/developing-apps/windows-forms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664" y="4712989"/>
            <a:ext cx="10278628" cy="861022"/>
          </a:xfrm>
          <a:custGeom>
            <a:avLst/>
            <a:gdLst/>
            <a:ahLst/>
            <a:cxnLst/>
            <a:rect r="r" b="b" t="t" l="l"/>
            <a:pathLst>
              <a:path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9784" y="5920416"/>
            <a:ext cx="7501528" cy="861022"/>
          </a:xfrm>
          <a:custGeom>
            <a:avLst/>
            <a:gdLst/>
            <a:ahLst/>
            <a:cxnLst/>
            <a:rect r="r" b="b" t="t" l="l"/>
            <a:pathLst>
              <a:path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601700" y="1944752"/>
          <a:ext cx="4567662" cy="1645358"/>
        </p:xfrm>
        <a:graphic>
          <a:graphicData uri="http://schemas.openxmlformats.org/drawingml/2006/table">
            <a:tbl>
              <a:tblPr/>
              <a:tblGrid>
                <a:gridCol w="4567662"/>
              </a:tblGrid>
              <a:tr h="832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10/03/2026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8131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4014238" y="6098197"/>
            <a:ext cx="653261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Julio Alfredo Fernández Rodríguez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21229" y="4844732"/>
            <a:ext cx="708149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Programación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4762002" y="-102870"/>
            <a:ext cx="4230823" cy="10389870"/>
            <a:chOff x="0" y="0"/>
            <a:chExt cx="1543416" cy="3790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3416" cy="3790253"/>
            </a:xfrm>
            <a:custGeom>
              <a:avLst/>
              <a:gdLst/>
              <a:ahLst/>
              <a:cxnLst/>
              <a:rect r="r" b="b" t="t" l="l"/>
              <a:pathLst>
                <a:path h="3790253" w="1543416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5" id="5"/>
          <p:cNvSpPr/>
          <p:nvPr/>
        </p:nvSpPr>
        <p:spPr>
          <a:xfrm rot="0">
            <a:off x="14666595" y="9210675"/>
            <a:ext cx="1539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diamond" len="lg" w="lg"/>
            <a:tailEnd type="arrow" len="sm" w="med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858134" y="-51435"/>
            <a:ext cx="12619054" cy="10525438"/>
          </a:xfrm>
          <a:custGeom>
            <a:avLst/>
            <a:gdLst/>
            <a:ahLst/>
            <a:cxnLst/>
            <a:rect r="r" b="b" t="t" l="l"/>
            <a:pathLst>
              <a:path h="10525438" w="12619054">
                <a:moveTo>
                  <a:pt x="0" y="0"/>
                </a:moveTo>
                <a:lnTo>
                  <a:pt x="12619054" y="0"/>
                </a:lnTo>
                <a:lnTo>
                  <a:pt x="12619054" y="10525438"/>
                </a:lnTo>
                <a:lnTo>
                  <a:pt x="0" y="10525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37186" y="2704575"/>
            <a:ext cx="10718760" cy="264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Clase 7</a:t>
            </a:r>
          </a:p>
          <a:p>
            <a:pPr algn="l">
              <a:lnSpc>
                <a:spcPts val="10397"/>
              </a:lnSpc>
            </a:pPr>
            <a:r>
              <a:rPr lang="en-US" sz="912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Ciclos {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8912" y="7673213"/>
            <a:ext cx="7947402" cy="132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1"/>
              </a:lnSpc>
            </a:pPr>
            <a:r>
              <a:rPr lang="en-US" sz="22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Escuela de Ingeniería de Ciencias y Sistemas</a:t>
            </a:r>
          </a:p>
          <a:p>
            <a:pPr algn="just">
              <a:lnSpc>
                <a:spcPts val="2621"/>
              </a:lnSpc>
            </a:pPr>
            <a:r>
              <a:rPr lang="en-US" sz="22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Facultad de Ingeniería</a:t>
            </a:r>
          </a:p>
          <a:p>
            <a:pPr algn="just">
              <a:lnSpc>
                <a:spcPts val="2621"/>
              </a:lnSpc>
            </a:pPr>
            <a:r>
              <a:rPr lang="en-US" sz="22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Universidad San Carlos de Guatemala</a:t>
            </a:r>
          </a:p>
          <a:p>
            <a:pPr algn="just">
              <a:lnSpc>
                <a:spcPts val="262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278912" y="5790868"/>
            <a:ext cx="11813156" cy="159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84"/>
              </a:lnSpc>
            </a:pPr>
            <a:r>
              <a:rPr lang="en-US" sz="4560" b="true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&lt;="Programación de Computadoras 2</a:t>
            </a:r>
          </a:p>
          <a:p>
            <a:pPr algn="just">
              <a:lnSpc>
                <a:spcPts val="6384"/>
              </a:lnSpc>
            </a:pPr>
            <a:r>
              <a:rPr lang="en-US" b="true" sz="4560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"/&gt;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2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0232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98288" y="621728"/>
            <a:ext cx="5179073" cy="10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6"/>
              </a:lnSpc>
            </a:pPr>
            <a:r>
              <a:rPr lang="en-US" b="true" sz="74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3086" y="2239645"/>
            <a:ext cx="7147690" cy="546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Anuncios</a:t>
            </a:r>
          </a:p>
          <a:p>
            <a:pPr algn="just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Repaso clase anterior</a:t>
            </a:r>
          </a:p>
          <a:p>
            <a:pPr algn="just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For ...Next</a:t>
            </a:r>
          </a:p>
          <a:p>
            <a:pPr algn="just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While</a:t>
            </a:r>
          </a:p>
          <a:p>
            <a:pPr algn="just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Do ...Loop</a:t>
            </a:r>
          </a:p>
          <a:p>
            <a:pPr algn="just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Vectores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095" y="2239645"/>
            <a:ext cx="1167193" cy="639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04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05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06</a:t>
            </a:r>
          </a:p>
          <a:p>
            <a:pPr algn="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211752" y="621728"/>
            <a:ext cx="5179073" cy="10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6"/>
              </a:lnSpc>
            </a:pPr>
            <a:r>
              <a:rPr lang="en-US" b="true" sz="74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Recursos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58774" y="2239645"/>
            <a:ext cx="7147690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3999" u="sng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  <a:hlinkClick r:id="rId2" tooltip="https://learn.microsoft.com/es-mx/dotnet/visual-basic/language-reference/statements/for-next-statement"/>
              </a:rPr>
              <a:t>For ...Next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58774" y="3258185"/>
            <a:ext cx="7147690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3999" u="sng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  <a:hlinkClick r:id="rId3" tooltip="https://learn.microsoft.com/es-mx/dotnet/visual-basic/language-reference/statements/while-end-while-statement"/>
              </a:rPr>
              <a:t>While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58774" y="4296410"/>
            <a:ext cx="7147690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3999" u="sng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  <a:hlinkClick r:id="rId4" tooltip="https://learn.microsoft.com/es-mx/dotnet/visual-basic/language-reference/statements/do-loop-statement"/>
              </a:rPr>
              <a:t>Do ...Loop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58774" y="5314950"/>
            <a:ext cx="7147690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3999" u="sng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  <a:hlinkClick r:id="rId5" tooltip="https://learn.microsoft.com/es-mx/dotnet/visual-basic/developing-apps/windows-forms/"/>
              </a:rPr>
              <a:t>Formularios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74385"/>
            <a:ext cx="9645542" cy="2598034"/>
            <a:chOff x="0" y="0"/>
            <a:chExt cx="3518720" cy="947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947770"/>
            </a:xfrm>
            <a:custGeom>
              <a:avLst/>
              <a:gdLst/>
              <a:ahLst/>
              <a:cxnLst/>
              <a:rect r="r" b="b" t="t" l="l"/>
              <a:pathLst>
                <a:path h="947770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5990459"/>
            <a:ext cx="9645542" cy="2598034"/>
            <a:chOff x="0" y="0"/>
            <a:chExt cx="3518720" cy="9477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18720" cy="947770"/>
            </a:xfrm>
            <a:custGeom>
              <a:avLst/>
              <a:gdLst/>
              <a:ahLst/>
              <a:cxnLst/>
              <a:rect r="r" b="b" t="t" l="l"/>
              <a:pathLst>
                <a:path h="947770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6" id="6"/>
          <p:cNvSpPr/>
          <p:nvPr/>
        </p:nvSpPr>
        <p:spPr>
          <a:xfrm rot="5400000">
            <a:off x="-232217" y="4135302"/>
            <a:ext cx="2598034" cy="0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400000">
            <a:off x="-232217" y="7251376"/>
            <a:ext cx="2598034" cy="0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179067" y="205740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57275"/>
            <a:ext cx="8677717" cy="10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6"/>
              </a:lnSpc>
            </a:pPr>
            <a:r>
              <a:rPr lang="en-US" sz="74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Competencias {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1172" y="3612951"/>
            <a:ext cx="8480597" cy="110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Aplica ciclos For y While en Visual Basic .NET para automatizar tareas dentro de aplicaciones interactivas.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7135" y="4457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1172" y="6186100"/>
            <a:ext cx="8480597" cy="218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Utiliza vectores matrices y métodos de ordenamiento en Visual Basic .NET para organizar y consultar datos de manera eficiente.</a:t>
            </a:r>
          </a:p>
          <a:p>
            <a:pPr algn="just">
              <a:lnSpc>
                <a:spcPts val="290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10262" y="2554987"/>
            <a:ext cx="7667477" cy="6205161"/>
            <a:chOff x="0" y="0"/>
            <a:chExt cx="3264708" cy="2642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4708" cy="2642074"/>
            </a:xfrm>
            <a:custGeom>
              <a:avLst/>
              <a:gdLst/>
              <a:ahLst/>
              <a:cxnLst/>
              <a:rect r="r" b="b" t="t" l="l"/>
              <a:pathLst>
                <a:path h="2642074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2642074"/>
                  </a:lnTo>
                  <a:lnTo>
                    <a:pt x="0" y="264207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624837" y="2688717"/>
            <a:ext cx="7038327" cy="626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32"/>
              </a:lnSpc>
            </a:pPr>
            <a:r>
              <a:rPr lang="en-US" b="true" sz="36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El ciclo For...Next se utiliza para repetir un bloque de instrucciones un número determinado de veces. </a:t>
            </a:r>
          </a:p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 muy útil cuando se conoce de antemano cuántas veces debe ejecutarse el código.</a:t>
            </a:r>
          </a:p>
          <a:p>
            <a:pPr algn="just">
              <a:lnSpc>
                <a:spcPts val="50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12258758" cy="109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7"/>
              </a:lnSpc>
            </a:pPr>
            <a:r>
              <a:rPr lang="en-US" sz="7401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For ...Next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1930" y="1694687"/>
            <a:ext cx="8329562" cy="696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For contador As Integer = valor_inicial To valor_final [Step incremento]</a:t>
            </a:r>
          </a:p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' Instrucciones que se repiten</a:t>
            </a:r>
          </a:p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Next</a:t>
            </a:r>
          </a:p>
          <a:p>
            <a:pPr algn="just">
              <a:lnSpc>
                <a:spcPts val="3264"/>
              </a:lnSpc>
            </a:pPr>
          </a:p>
          <a:p>
            <a:pPr algn="just">
              <a:lnSpc>
                <a:spcPts val="3264"/>
              </a:lnSpc>
            </a:pPr>
          </a:p>
          <a:p>
            <a:pPr algn="just">
              <a:lnSpc>
                <a:spcPts val="3264"/>
              </a:lnSpc>
            </a:pPr>
          </a:p>
          <a:p>
            <a:pPr algn="just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contador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: variable de control del ciclo.</a:t>
            </a:r>
          </a:p>
          <a:p>
            <a:pPr algn="just">
              <a:lnSpc>
                <a:spcPts val="3264"/>
              </a:lnSpc>
            </a:pPr>
          </a:p>
          <a:p>
            <a:pPr algn="just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valor_inicial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: desde dónde empieza.</a:t>
            </a:r>
          </a:p>
          <a:p>
            <a:pPr algn="just">
              <a:lnSpc>
                <a:spcPts val="3264"/>
              </a:lnSpc>
            </a:pPr>
          </a:p>
          <a:p>
            <a:pPr algn="just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valor_final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: hasta dónde llega.</a:t>
            </a:r>
          </a:p>
          <a:p>
            <a:pPr algn="just">
              <a:lnSpc>
                <a:spcPts val="3264"/>
              </a:lnSpc>
            </a:pPr>
          </a:p>
          <a:p>
            <a:pPr algn="just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Step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: (opcional) define el incremento o decremento del contador (por defecto es 1).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25206" y="3248660"/>
            <a:ext cx="7634094" cy="332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0"/>
              </a:lnSpc>
            </a:pPr>
            <a:r>
              <a:rPr lang="en-US" b="true" sz="7400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Estructura de For ...Next</a:t>
            </a:r>
          </a:p>
        </p:txBody>
      </p:sp>
      <p:sp>
        <p:nvSpPr>
          <p:cNvPr name="AutoShape 7" id="7"/>
          <p:cNvSpPr/>
          <p:nvPr/>
        </p:nvSpPr>
        <p:spPr>
          <a:xfrm>
            <a:off x="17306925" y="-1021939"/>
            <a:ext cx="0" cy="7985953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562509" y="2895654"/>
            <a:ext cx="0" cy="2598034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524409" y="7034243"/>
            <a:ext cx="0" cy="2598034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107215" y="2462356"/>
            <a:ext cx="10073571" cy="7520992"/>
          </a:xfrm>
          <a:custGeom>
            <a:avLst/>
            <a:gdLst/>
            <a:ahLst/>
            <a:cxnLst/>
            <a:rect r="r" b="b" t="t" l="l"/>
            <a:pathLst>
              <a:path h="7520992" w="10073571">
                <a:moveTo>
                  <a:pt x="0" y="0"/>
                </a:moveTo>
                <a:lnTo>
                  <a:pt x="10073570" y="0"/>
                </a:lnTo>
                <a:lnTo>
                  <a:pt x="10073570" y="7520991"/>
                </a:lnTo>
                <a:lnTo>
                  <a:pt x="0" y="7520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7031406" cy="10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6"/>
              </a:lnSpc>
            </a:pPr>
            <a:r>
              <a:rPr lang="en-US" sz="74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Ejemplo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10262" y="2554987"/>
            <a:ext cx="7667477" cy="6205161"/>
            <a:chOff x="0" y="0"/>
            <a:chExt cx="3264708" cy="2642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4708" cy="2642074"/>
            </a:xfrm>
            <a:custGeom>
              <a:avLst/>
              <a:gdLst/>
              <a:ahLst/>
              <a:cxnLst/>
              <a:rect r="r" b="b" t="t" l="l"/>
              <a:pathLst>
                <a:path h="2642074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2642074"/>
                  </a:lnTo>
                  <a:lnTo>
                    <a:pt x="0" y="264207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552906" y="2685474"/>
            <a:ext cx="7182188" cy="627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5"/>
              </a:lnSpc>
            </a:pPr>
            <a:r>
              <a:rPr lang="en-US" sz="3317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El ciclo While se utiliza para repetir un bloque de código mientras se cumpla una condición lógica. </a:t>
            </a:r>
          </a:p>
          <a:p>
            <a:pPr algn="just">
              <a:lnSpc>
                <a:spcPts val="4545"/>
              </a:lnSpc>
            </a:pPr>
          </a:p>
          <a:p>
            <a:pPr algn="just">
              <a:lnSpc>
                <a:spcPts val="4545"/>
              </a:lnSpc>
            </a:pPr>
            <a:r>
              <a:rPr lang="en-US" sz="3317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Se evalúa la condición antes de ejecutar el bloque, y si es verdadera, el código se repite. Si es falsa, el código ya no se ejecuta.</a:t>
            </a:r>
          </a:p>
          <a:p>
            <a:pPr algn="just">
              <a:lnSpc>
                <a:spcPts val="454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12258758" cy="109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7"/>
              </a:lnSpc>
            </a:pPr>
            <a:r>
              <a:rPr lang="en-US" sz="7401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While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17306925" y="-1021939"/>
            <a:ext cx="0" cy="7985953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56931" y="2734203"/>
            <a:ext cx="7859560" cy="6524097"/>
          </a:xfrm>
          <a:custGeom>
            <a:avLst/>
            <a:gdLst/>
            <a:ahLst/>
            <a:cxnLst/>
            <a:rect r="r" b="b" t="t" l="l"/>
            <a:pathLst>
              <a:path h="6524097" w="7859560">
                <a:moveTo>
                  <a:pt x="0" y="0"/>
                </a:moveTo>
                <a:lnTo>
                  <a:pt x="7859560" y="0"/>
                </a:lnTo>
                <a:lnTo>
                  <a:pt x="7859560" y="6524097"/>
                </a:lnTo>
                <a:lnTo>
                  <a:pt x="0" y="6524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87" t="-1581" r="-2467" b="-158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1930" y="665029"/>
            <a:ext cx="8329562" cy="286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</a:p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While condicion</a:t>
            </a:r>
          </a:p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'Instrucciones que se repiten</a:t>
            </a:r>
          </a:p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End While</a:t>
            </a:r>
          </a:p>
          <a:p>
            <a:pPr algn="ctr">
              <a:lnSpc>
                <a:spcPts val="3264"/>
              </a:lnSpc>
            </a:pPr>
          </a:p>
          <a:p>
            <a:pPr algn="ctr">
              <a:lnSpc>
                <a:spcPts val="3264"/>
              </a:lnSpc>
            </a:pPr>
          </a:p>
          <a:p>
            <a:pPr algn="ctr">
              <a:lnSpc>
                <a:spcPts val="326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25206" y="3026086"/>
            <a:ext cx="7634094" cy="362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4"/>
              </a:lnSpc>
            </a:pPr>
            <a:r>
              <a:rPr lang="en-US" sz="8099" b="true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Estructura </a:t>
            </a:r>
          </a:p>
          <a:p>
            <a:pPr algn="ctr">
              <a:lnSpc>
                <a:spcPts val="14984"/>
              </a:lnSpc>
            </a:pPr>
            <a:r>
              <a:rPr lang="en-US" b="true" sz="8099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de while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10262" y="2554987"/>
            <a:ext cx="7667477" cy="6205161"/>
            <a:chOff x="0" y="0"/>
            <a:chExt cx="3264708" cy="2642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4708" cy="2642074"/>
            </a:xfrm>
            <a:custGeom>
              <a:avLst/>
              <a:gdLst/>
              <a:ahLst/>
              <a:cxnLst/>
              <a:rect r="r" b="b" t="t" l="l"/>
              <a:pathLst>
                <a:path h="2642074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2642074"/>
                  </a:lnTo>
                  <a:lnTo>
                    <a:pt x="0" y="264207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552906" y="2488312"/>
            <a:ext cx="7182188" cy="684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5"/>
              </a:lnSpc>
            </a:pPr>
            <a:r>
              <a:rPr lang="en-US" sz="3317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Do...Loop se usa para repetir un bloque de instrucciones mientras se cumpla una condición, o hasta que se cumpla una condición. </a:t>
            </a:r>
          </a:p>
          <a:p>
            <a:pPr algn="just">
              <a:lnSpc>
                <a:spcPts val="4545"/>
              </a:lnSpc>
            </a:pPr>
            <a:r>
              <a:rPr lang="en-US" sz="3317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 diferencia del While, el Do...Loop puede evaluar la condición al principio o al final, lo que permite mayor flexibilidad.</a:t>
            </a:r>
          </a:p>
          <a:p>
            <a:pPr algn="just">
              <a:lnSpc>
                <a:spcPts val="454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12258758" cy="109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7"/>
              </a:lnSpc>
            </a:pPr>
            <a:r>
              <a:rPr lang="en-US" sz="7401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Do ...Loop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17306925" y="-1021939"/>
            <a:ext cx="0" cy="7985953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21930" y="5635707"/>
            <a:ext cx="8562597" cy="3020614"/>
          </a:xfrm>
          <a:custGeom>
            <a:avLst/>
            <a:gdLst/>
            <a:ahLst/>
            <a:cxnLst/>
            <a:rect r="r" b="b" t="t" l="l"/>
            <a:pathLst>
              <a:path h="3020614" w="8562597">
                <a:moveTo>
                  <a:pt x="0" y="0"/>
                </a:moveTo>
                <a:lnTo>
                  <a:pt x="8562598" y="0"/>
                </a:lnTo>
                <a:lnTo>
                  <a:pt x="8562598" y="3020613"/>
                </a:lnTo>
                <a:lnTo>
                  <a:pt x="0" y="3020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4" t="-9684" r="-922" b="-84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1930" y="1868424"/>
            <a:ext cx="8329562" cy="450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Do</a:t>
            </a:r>
          </a:p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'Instrucciones</a:t>
            </a:r>
          </a:p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Loop While condicion</a:t>
            </a:r>
          </a:p>
          <a:p>
            <a:pPr algn="ctr">
              <a:lnSpc>
                <a:spcPts val="3264"/>
              </a:lnSpc>
            </a:pPr>
          </a:p>
          <a:p>
            <a:pPr algn="ctr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 este ciclo, la condición se evalúa después de ejecutar el bloque de código, lo que garantiza que el bloque se ejecute al menos una vez.</a:t>
            </a:r>
          </a:p>
          <a:p>
            <a:pPr algn="ctr">
              <a:lnSpc>
                <a:spcPts val="3264"/>
              </a:lnSpc>
            </a:pPr>
          </a:p>
          <a:p>
            <a:pPr algn="ctr">
              <a:lnSpc>
                <a:spcPts val="3264"/>
              </a:lnSpc>
            </a:pPr>
          </a:p>
          <a:p>
            <a:pPr algn="ctr">
              <a:lnSpc>
                <a:spcPts val="326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25206" y="3026086"/>
            <a:ext cx="7634094" cy="173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4"/>
              </a:lnSpc>
            </a:pPr>
            <a:r>
              <a:rPr lang="en-US" b="true" sz="8099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Do ...Loop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9345" y="2874385"/>
            <a:ext cx="9645542" cy="2598034"/>
            <a:chOff x="0" y="0"/>
            <a:chExt cx="3518720" cy="947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947770"/>
            </a:xfrm>
            <a:custGeom>
              <a:avLst/>
              <a:gdLst/>
              <a:ahLst/>
              <a:cxnLst/>
              <a:rect r="r" b="b" t="t" l="l"/>
              <a:pathLst>
                <a:path h="947770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3802715" y="2874385"/>
            <a:ext cx="0" cy="2598034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189345" y="6263317"/>
            <a:ext cx="9593865" cy="3314734"/>
          </a:xfrm>
          <a:custGeom>
            <a:avLst/>
            <a:gdLst/>
            <a:ahLst/>
            <a:cxnLst/>
            <a:rect r="r" b="b" t="t" l="l"/>
            <a:pathLst>
              <a:path h="3314734" w="9593865">
                <a:moveTo>
                  <a:pt x="0" y="0"/>
                </a:moveTo>
                <a:lnTo>
                  <a:pt x="9593865" y="0"/>
                </a:lnTo>
                <a:lnTo>
                  <a:pt x="9593865" y="3314734"/>
                </a:lnTo>
                <a:lnTo>
                  <a:pt x="0" y="3314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7031406" cy="10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6"/>
              </a:lnSpc>
            </a:pPr>
            <a:r>
              <a:rPr lang="en-US" sz="74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Vectores {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47068" y="2923090"/>
            <a:ext cx="9330097" cy="254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Un vector en VB.NET es una colección de elementos del mismo tipo, almacenados en posiciones consecutivas de memoria. 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  <a:r>
              <a:rPr lang="en-US" sz="24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Cada elemento se accede mediante un índice numérico que comienza en 0.</a:t>
            </a: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17306925" y="-1021939"/>
            <a:ext cx="0" cy="7985953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3123" y="2382262"/>
            <a:ext cx="9080877" cy="5383919"/>
          </a:xfrm>
          <a:custGeom>
            <a:avLst/>
            <a:gdLst/>
            <a:ahLst/>
            <a:cxnLst/>
            <a:rect r="r" b="b" t="t" l="l"/>
            <a:pathLst>
              <a:path h="5383919" w="9080877">
                <a:moveTo>
                  <a:pt x="0" y="0"/>
                </a:moveTo>
                <a:lnTo>
                  <a:pt x="9080877" y="0"/>
                </a:lnTo>
                <a:lnTo>
                  <a:pt x="9080877" y="5383919"/>
                </a:lnTo>
                <a:lnTo>
                  <a:pt x="0" y="5383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5147" y="4025259"/>
            <a:ext cx="7634094" cy="173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4"/>
              </a:lnSpc>
            </a:pPr>
            <a:r>
              <a:rPr lang="en-US" b="true" sz="8099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Ejemplos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57275"/>
            <a:ext cx="7031406" cy="10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6"/>
              </a:lnSpc>
            </a:pPr>
            <a:r>
              <a:rPr lang="en-US" sz="74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Resumen {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7710" y="4704080"/>
            <a:ext cx="3159843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Definición de ciclos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64078" y="4704080"/>
            <a:ext cx="3159843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Definición de vectores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97292" y="4704080"/>
            <a:ext cx="3159843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Uso de condiciones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6342" y="3144146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76509" y="3144146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97292" y="3144146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5951747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776928" y="0"/>
            <a:ext cx="15500959" cy="10287000"/>
          </a:xfrm>
          <a:custGeom>
            <a:avLst/>
            <a:gdLst/>
            <a:ahLst/>
            <a:cxnLst/>
            <a:rect r="r" b="b" t="t" l="l"/>
            <a:pathLst>
              <a:path h="10287000" w="15500959">
                <a:moveTo>
                  <a:pt x="0" y="0"/>
                </a:moveTo>
                <a:lnTo>
                  <a:pt x="15500959" y="0"/>
                </a:lnTo>
                <a:lnTo>
                  <a:pt x="1550095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7031406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80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Frase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8502" y="2428924"/>
            <a:ext cx="9705501" cy="7728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3"/>
              </a:lnSpc>
            </a:pPr>
          </a:p>
          <a:p>
            <a:pPr algn="ctr">
              <a:lnSpc>
                <a:spcPts val="8703"/>
              </a:lnSpc>
            </a:pPr>
            <a:r>
              <a:rPr lang="en-US" sz="63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El código puede fallar cien veces, pero siempre habrá una línea que lo resuelva.</a:t>
            </a:r>
          </a:p>
          <a:p>
            <a:pPr algn="l">
              <a:lnSpc>
                <a:spcPts val="8703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5951747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217649" y="2905173"/>
            <a:ext cx="14565664" cy="8229600"/>
          </a:xfrm>
          <a:custGeom>
            <a:avLst/>
            <a:gdLst/>
            <a:ahLst/>
            <a:cxnLst/>
            <a:rect r="r" b="b" t="t" l="l"/>
            <a:pathLst>
              <a:path h="8229600" w="14565664">
                <a:moveTo>
                  <a:pt x="0" y="0"/>
                </a:moveTo>
                <a:lnTo>
                  <a:pt x="14565664" y="0"/>
                </a:lnTo>
                <a:lnTo>
                  <a:pt x="145656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81153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80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Resiliencia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9462" y="2172676"/>
            <a:ext cx="9753775" cy="584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1"/>
              </a:lnSpc>
            </a:pPr>
          </a:p>
          <a:p>
            <a:pPr algn="ctr">
              <a:lnSpc>
                <a:spcPts val="7701"/>
              </a:lnSpc>
            </a:pPr>
            <a:r>
              <a:rPr lang="en-US" sz="5663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</a:t>
            </a:r>
            <a:r>
              <a:rPr lang="en-US" sz="5663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apacidad de una persona para adaptarse positivamente a situaciones difíciles.</a:t>
            </a:r>
          </a:p>
          <a:p>
            <a:pPr algn="l">
              <a:lnSpc>
                <a:spcPts val="770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8440" y="4077814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9"/>
                </a:lnTo>
                <a:lnTo>
                  <a:pt x="0" y="93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"/>
            <a:ext cx="4695577" cy="6434680"/>
          </a:xfrm>
          <a:custGeom>
            <a:avLst/>
            <a:gdLst/>
            <a:ahLst/>
            <a:cxnLst/>
            <a:rect r="r" b="b" t="t" l="l"/>
            <a:pathLst>
              <a:path h="6434680" w="4695577">
                <a:moveTo>
                  <a:pt x="0" y="0"/>
                </a:moveTo>
                <a:lnTo>
                  <a:pt x="4695577" y="0"/>
                </a:lnTo>
                <a:lnTo>
                  <a:pt x="4695577" y="6434681"/>
                </a:lnTo>
                <a:lnTo>
                  <a:pt x="0" y="6434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29590" y="4088714"/>
            <a:ext cx="7428820" cy="10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Ejemplo práctico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6266538" cy="5143510"/>
          </a:xfrm>
          <a:custGeom>
            <a:avLst/>
            <a:gdLst/>
            <a:ahLst/>
            <a:cxnLst/>
            <a:rect r="r" b="b" t="t" l="l"/>
            <a:pathLst>
              <a:path h="5143510" w="16266538">
                <a:moveTo>
                  <a:pt x="0" y="0"/>
                </a:moveTo>
                <a:lnTo>
                  <a:pt x="16266538" y="0"/>
                </a:lnTo>
                <a:lnTo>
                  <a:pt x="16266538" y="5143509"/>
                </a:lnTo>
                <a:lnTo>
                  <a:pt x="0" y="514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40255" y="4279233"/>
            <a:ext cx="11607489" cy="10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Practiquemos lo aprendido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434227"/>
            <a:ext cx="18407624" cy="4333504"/>
          </a:xfrm>
          <a:custGeom>
            <a:avLst/>
            <a:gdLst/>
            <a:ahLst/>
            <a:cxnLst/>
            <a:rect r="r" b="b" t="t" l="l"/>
            <a:pathLst>
              <a:path h="4333504" w="18407624">
                <a:moveTo>
                  <a:pt x="0" y="0"/>
                </a:moveTo>
                <a:lnTo>
                  <a:pt x="18407624" y="0"/>
                </a:lnTo>
                <a:lnTo>
                  <a:pt x="18407624" y="4333503"/>
                </a:lnTo>
                <a:lnTo>
                  <a:pt x="0" y="433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872" y="1726416"/>
            <a:ext cx="5276736" cy="246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Nombre de la actividad: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2253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Cantidad de participantes:</a:t>
            </a:r>
          </a:p>
          <a:p>
            <a:pPr algn="l">
              <a:lnSpc>
                <a:spcPts val="2253"/>
              </a:lnSpc>
            </a:pPr>
          </a:p>
          <a:p>
            <a:pPr algn="l">
              <a:lnSpc>
                <a:spcPts val="2254"/>
              </a:lnSpc>
            </a:pPr>
          </a:p>
          <a:p>
            <a:pPr algn="l">
              <a:lnSpc>
                <a:spcPts val="139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Doy fe que esta actividad está 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planificada en dtt (Sí/No):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7374" y="2159213"/>
            <a:ext cx="2677535" cy="200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inicio: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4561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fin: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Duración (min):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" y="4205792"/>
            <a:ext cx="15022439" cy="74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Participantes: llenar las siguientes cajas de texto (tomar información del chat del meet)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2839732" y="3931089"/>
            <a:ext cx="8741551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877836" y="3654484"/>
            <a:ext cx="2281844" cy="4114800"/>
          </a:xfrm>
          <a:custGeom>
            <a:avLst/>
            <a:gdLst/>
            <a:ahLst/>
            <a:cxnLst/>
            <a:rect r="r" b="b" t="t" l="l"/>
            <a:pathLst>
              <a:path h="4114800" w="2281844">
                <a:moveTo>
                  <a:pt x="0" y="0"/>
                </a:moveTo>
                <a:lnTo>
                  <a:pt x="2281844" y="0"/>
                </a:lnTo>
                <a:lnTo>
                  <a:pt x="2281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9456" y="926799"/>
            <a:ext cx="16009088" cy="395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¡GRACIAS POR SU ATENCIÓN!</a:t>
            </a:r>
          </a:p>
          <a:p>
            <a:pPr algn="ctr">
              <a:lnSpc>
                <a:spcPts val="1039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210168" y="4580733"/>
            <a:ext cx="7867665" cy="318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Dudas?</a:t>
            </a:r>
          </a:p>
          <a:p>
            <a:pPr algn="ctr">
              <a:lnSpc>
                <a:spcPts val="1247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953391" y="7702609"/>
            <a:ext cx="15305909" cy="169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6"/>
              </a:lnSpc>
            </a:pPr>
            <a:r>
              <a:rPr lang="en-US" sz="3233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&lt;="Recuerda que tenemos nuestro foro semanal donde puedes consultar cualquier duda que te surja en la semana.</a:t>
            </a:r>
          </a:p>
          <a:p>
            <a:pPr algn="just">
              <a:lnSpc>
                <a:spcPts val="4526"/>
              </a:lnSpc>
            </a:pPr>
            <a:r>
              <a:rPr lang="en-US" sz="3233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"/&gt;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DAG7hJIXOWc</dc:identifier>
  <dcterms:modified xsi:type="dcterms:W3CDTF">2011-08-01T06:04:30Z</dcterms:modified>
  <cp:revision>1</cp:revision>
  <dc:title>1s2026_Semana_7</dc:title>
</cp:coreProperties>
</file>