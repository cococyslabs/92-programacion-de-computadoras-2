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pen Sans" charset="1" panose="020B0606030504020204"/>
      <p:regular r:id="rId21"/>
    </p:embeddedFont>
    <p:embeddedFont>
      <p:font typeface="Open Sauce Bold" charset="1" panose="00000800000000000000"/>
      <p:regular r:id="rId22"/>
    </p:embeddedFont>
    <p:embeddedFont>
      <p:font typeface="Open Sauce" charset="1" panose="00000500000000000000"/>
      <p:regular r:id="rId23"/>
    </p:embeddedFont>
    <p:embeddedFont>
      <p:font typeface="Open Sauce Semi-Bold" charset="1" panose="00000700000000000000"/>
      <p:regular r:id="rId24"/>
    </p:embeddedFont>
    <p:embeddedFont>
      <p:font typeface="Arial Bold" charset="1" panose="020B0704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22664" y="4712989"/>
            <a:ext cx="10278628" cy="861022"/>
          </a:xfrm>
          <a:custGeom>
            <a:avLst/>
            <a:gdLst/>
            <a:ahLst/>
            <a:cxnLst/>
            <a:rect r="r" b="b" t="t" l="l"/>
            <a:pathLst>
              <a:path h="861022" w="10278628">
                <a:moveTo>
                  <a:pt x="0" y="0"/>
                </a:moveTo>
                <a:lnTo>
                  <a:pt x="10278627" y="0"/>
                </a:lnTo>
                <a:lnTo>
                  <a:pt x="10278627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29784" y="5920416"/>
            <a:ext cx="7501528" cy="861022"/>
          </a:xfrm>
          <a:custGeom>
            <a:avLst/>
            <a:gdLst/>
            <a:ahLst/>
            <a:cxnLst/>
            <a:rect r="r" b="b" t="t" l="l"/>
            <a:pathLst>
              <a:path h="861022" w="7501528">
                <a:moveTo>
                  <a:pt x="0" y="0"/>
                </a:moveTo>
                <a:lnTo>
                  <a:pt x="7501528" y="0"/>
                </a:lnTo>
                <a:lnTo>
                  <a:pt x="7501528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658072" y="1924387"/>
          <a:ext cx="4403894" cy="1676400"/>
        </p:xfrm>
        <a:graphic>
          <a:graphicData uri="http://schemas.openxmlformats.org/drawingml/2006/table">
            <a:tbl>
              <a:tblPr/>
              <a:tblGrid>
                <a:gridCol w="4403894"/>
              </a:tblGrid>
              <a:tr h="838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17/03/2026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12:25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4612818" y="6117247"/>
            <a:ext cx="5636929" cy="42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Julio Alfredo Fernández Rodríguez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96463" y="4844732"/>
            <a:ext cx="6731029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Programación de Computadoras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481642" y="3555293"/>
            <a:ext cx="7324716" cy="302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74"/>
              </a:lnSpc>
            </a:pPr>
            <a:r>
              <a:rPr lang="en-US" b="true" sz="5767" spc="15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WHILE Y MATRICES</a:t>
            </a:r>
          </a:p>
          <a:p>
            <a:pPr algn="ctr">
              <a:lnSpc>
                <a:spcPts val="807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144557" y="6164306"/>
            <a:ext cx="11998887" cy="231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"/>
              </a:lnSpc>
            </a:pPr>
            <a:r>
              <a:rPr lang="en-US" b="true" sz="2204" spc="60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PROGRAMACIÓN </a:t>
            </a:r>
            <a:r>
              <a:rPr lang="en-US" b="true" sz="2204" spc="60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 Computadoras 2</a:t>
            </a:r>
          </a:p>
          <a:p>
            <a:pPr algn="ctr">
              <a:lnSpc>
                <a:spcPts val="3086"/>
              </a:lnSpc>
            </a:pPr>
          </a:p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ESCUELA DE INGENIERIA DE CIENCIAS Y SISTEMAS</a:t>
            </a:r>
          </a:p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FACULTAD DE INGENIERIA</a:t>
            </a:r>
          </a:p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UNIVERSIDAD DE SAN CARLOS DE GUATEMALA</a:t>
            </a:r>
          </a:p>
          <a:p>
            <a:pPr algn="ctr">
              <a:lnSpc>
                <a:spcPts val="308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17387" y="-113711"/>
            <a:ext cx="10099642" cy="10627543"/>
            <a:chOff x="0" y="0"/>
            <a:chExt cx="2659988" cy="279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9988" cy="2799024"/>
            </a:xfrm>
            <a:custGeom>
              <a:avLst/>
              <a:gdLst/>
              <a:ahLst/>
              <a:cxnLst/>
              <a:rect r="r" b="b" t="t" l="l"/>
              <a:pathLst>
                <a:path h="2799024" w="2659988">
                  <a:moveTo>
                    <a:pt x="0" y="0"/>
                  </a:moveTo>
                  <a:lnTo>
                    <a:pt x="2659988" y="0"/>
                  </a:lnTo>
                  <a:lnTo>
                    <a:pt x="2659988" y="2799024"/>
                  </a:lnTo>
                  <a:lnTo>
                    <a:pt x="0" y="2799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659988" cy="2827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17387" y="56561"/>
            <a:ext cx="9970613" cy="5899504"/>
            <a:chOff x="0" y="0"/>
            <a:chExt cx="13294151" cy="7866005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0" t="5428" r="0" b="5428"/>
            <a:stretch>
              <a:fillRect/>
            </a:stretch>
          </p:blipFill>
          <p:spPr>
            <a:xfrm flipH="false" flipV="false">
              <a:off x="0" y="0"/>
              <a:ext cx="13294151" cy="7866005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false" rot="0">
            <a:off x="13384645" y="5792012"/>
            <a:ext cx="3874655" cy="1923238"/>
          </a:xfrm>
          <a:custGeom>
            <a:avLst/>
            <a:gdLst/>
            <a:ahLst/>
            <a:cxnLst/>
            <a:rect r="r" b="b" t="t" l="l"/>
            <a:pathLst>
              <a:path h="1923238" w="3874655">
                <a:moveTo>
                  <a:pt x="0" y="0"/>
                </a:moveTo>
                <a:lnTo>
                  <a:pt x="3874655" y="0"/>
                </a:lnTo>
                <a:lnTo>
                  <a:pt x="3874655" y="1923238"/>
                </a:lnTo>
                <a:lnTo>
                  <a:pt x="0" y="1923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73722" y="1258815"/>
            <a:ext cx="329004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200" spc="11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AGENDA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798" y="2488936"/>
            <a:ext cx="7231890" cy="470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862" indent="-360931" lvl="1">
              <a:lnSpc>
                <a:spcPts val="4680"/>
              </a:lnSpc>
              <a:buAutoNum type="arabicPeriod" startAt="1"/>
            </a:pPr>
            <a:r>
              <a:rPr lang="en-US" sz="3343" spc="919">
                <a:solidFill>
                  <a:srgbClr val="677BB6"/>
                </a:solidFill>
                <a:latin typeface="Open Sauce"/>
                <a:ea typeface="Open Sauce"/>
                <a:cs typeface="Open Sauce"/>
                <a:sym typeface="Open Sauce"/>
              </a:rPr>
              <a:t>DUDAS DE CLASE O GENERALES.</a:t>
            </a:r>
          </a:p>
          <a:p>
            <a:pPr algn="l" marL="721862" indent="-360931" lvl="1">
              <a:lnSpc>
                <a:spcPts val="4680"/>
              </a:lnSpc>
              <a:buAutoNum type="arabicPeriod" startAt="1"/>
            </a:pPr>
            <a:r>
              <a:rPr lang="en-US" sz="3343" spc="919">
                <a:solidFill>
                  <a:srgbClr val="677BB6"/>
                </a:solidFill>
                <a:latin typeface="Open Sauce"/>
                <a:ea typeface="Open Sauce"/>
                <a:cs typeface="Open Sauce"/>
                <a:sym typeface="Open Sauce"/>
              </a:rPr>
              <a:t>ANUNCIOS</a:t>
            </a:r>
          </a:p>
          <a:p>
            <a:pPr algn="l" marL="721862" indent="-360931" lvl="1">
              <a:lnSpc>
                <a:spcPts val="4680"/>
              </a:lnSpc>
              <a:buAutoNum type="arabicPeriod" startAt="1"/>
            </a:pPr>
            <a:r>
              <a:rPr lang="en-US" sz="3343" spc="919">
                <a:solidFill>
                  <a:srgbClr val="677BB6"/>
                </a:solidFill>
                <a:latin typeface="Open Sauce"/>
                <a:ea typeface="Open Sauce"/>
                <a:cs typeface="Open Sauce"/>
                <a:sym typeface="Open Sauce"/>
              </a:rPr>
              <a:t>CONTENIDO DE LABORATORIO.</a:t>
            </a:r>
          </a:p>
          <a:p>
            <a:pPr algn="l" marL="721862" indent="-360931" lvl="1">
              <a:lnSpc>
                <a:spcPts val="4680"/>
              </a:lnSpc>
              <a:buAutoNum type="arabicPeriod" startAt="1"/>
            </a:pPr>
            <a:r>
              <a:rPr lang="en-US" sz="3343" spc="919">
                <a:solidFill>
                  <a:srgbClr val="677BB6"/>
                </a:solidFill>
                <a:latin typeface="Open Sauce"/>
                <a:ea typeface="Open Sauce"/>
                <a:cs typeface="Open Sauce"/>
                <a:sym typeface="Open Sauce"/>
              </a:rPr>
              <a:t>LECTURA EXPLICATIVA.</a:t>
            </a:r>
          </a:p>
          <a:p>
            <a:pPr algn="l" marL="721862" indent="-360931" lvl="1">
              <a:lnSpc>
                <a:spcPts val="4680"/>
              </a:lnSpc>
              <a:buAutoNum type="arabicPeriod" startAt="1"/>
            </a:pPr>
            <a:r>
              <a:rPr lang="en-US" sz="3343" spc="919">
                <a:solidFill>
                  <a:srgbClr val="677BB6"/>
                </a:solidFill>
                <a:latin typeface="Open Sauce"/>
                <a:ea typeface="Open Sauce"/>
                <a:cs typeface="Open Sauce"/>
                <a:sym typeface="Open Sauce"/>
              </a:rPr>
              <a:t>DUDAS DEL TEMA.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78507" y="6429070"/>
            <a:ext cx="329004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200" spc="11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6747205"/>
            <a:ext cx="422320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200" spc="115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RECURSOS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68551" y="8229600"/>
            <a:ext cx="5290749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b="true" sz="2199" spc="604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VER EN EL APARTADO MATERIAL DE APOYO EN UEDI.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54205" t="0" r="16016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9144000" cy="11757581"/>
            <a:chOff x="0" y="0"/>
            <a:chExt cx="2408296" cy="3096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3096647"/>
            </a:xfrm>
            <a:custGeom>
              <a:avLst/>
              <a:gdLst/>
              <a:ahLst/>
              <a:cxnLst/>
              <a:rect r="r" b="b" t="t" l="l"/>
              <a:pathLst>
                <a:path h="3096647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3096647"/>
                  </a:lnTo>
                  <a:lnTo>
                    <a:pt x="0" y="3096647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3134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663653" y="1803671"/>
            <a:ext cx="8021032" cy="195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b="true" sz="3699" spc="1017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COMPETENCIA(S) QUE DESARROLLAREMOS</a:t>
            </a:r>
          </a:p>
          <a:p>
            <a:pPr algn="ctr">
              <a:lnSpc>
                <a:spcPts val="51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751907" y="3557498"/>
            <a:ext cx="7844524" cy="310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5"/>
              </a:lnSpc>
            </a:pPr>
          </a:p>
          <a:p>
            <a:pPr algn="just">
              <a:lnSpc>
                <a:spcPts val="3555"/>
              </a:lnSpc>
            </a:pPr>
            <a:r>
              <a:rPr lang="en-US" sz="233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Implementa Ciclos y estructuras de datos como vectores  matrices aplicando bucles(For, While) y métodos de ordenamiento para automatizar tareas, consultas de datos en una aplicación interactiva en VB.Net</a:t>
            </a:r>
          </a:p>
          <a:p>
            <a:pPr algn="l">
              <a:lnSpc>
                <a:spcPts val="355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424337" y="5751512"/>
            <a:ext cx="9568337" cy="3307911"/>
          </a:xfrm>
          <a:custGeom>
            <a:avLst/>
            <a:gdLst/>
            <a:ahLst/>
            <a:cxnLst/>
            <a:rect r="r" b="b" t="t" l="l"/>
            <a:pathLst>
              <a:path h="3307911" w="9568337">
                <a:moveTo>
                  <a:pt x="0" y="0"/>
                </a:moveTo>
                <a:lnTo>
                  <a:pt x="9568337" y="0"/>
                </a:lnTo>
                <a:lnTo>
                  <a:pt x="9568337" y="3307911"/>
                </a:lnTo>
                <a:lnTo>
                  <a:pt x="0" y="330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48463" y="4373563"/>
            <a:ext cx="6335074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 spc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146" y="1835151"/>
            <a:ext cx="7795892" cy="330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0"/>
              </a:lnSpc>
            </a:pPr>
          </a:p>
          <a:p>
            <a:pPr algn="just">
              <a:lnSpc>
                <a:spcPts val="3800"/>
              </a:lnSpc>
            </a:pPr>
            <a:r>
              <a:rPr lang="en-US" sz="25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 utiliza para repetir una secuencia de instrucciones siempre que la condición evaluada sea verdadera. Si al evaluar la condición de la misma es falsa no ingresara al ciclo y continuara con el resto del programa.</a:t>
            </a:r>
          </a:p>
          <a:p>
            <a:pPr algn="just">
              <a:lnSpc>
                <a:spcPts val="38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312748" y="5803603"/>
            <a:ext cx="9456748" cy="2872645"/>
          </a:xfrm>
          <a:custGeom>
            <a:avLst/>
            <a:gdLst/>
            <a:ahLst/>
            <a:cxnLst/>
            <a:rect r="r" b="b" t="t" l="l"/>
            <a:pathLst>
              <a:path h="2872645" w="9456748">
                <a:moveTo>
                  <a:pt x="0" y="0"/>
                </a:moveTo>
                <a:lnTo>
                  <a:pt x="9456748" y="0"/>
                </a:lnTo>
                <a:lnTo>
                  <a:pt x="9456748" y="2872645"/>
                </a:lnTo>
                <a:lnTo>
                  <a:pt x="0" y="2872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48463" y="4373563"/>
            <a:ext cx="6335074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 spc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DO- LOOP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146" y="1835151"/>
            <a:ext cx="7795892" cy="330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0"/>
              </a:lnSpc>
            </a:pPr>
          </a:p>
          <a:p>
            <a:pPr algn="just">
              <a:lnSpc>
                <a:spcPts val="3800"/>
              </a:lnSpc>
            </a:pPr>
            <a:r>
              <a:rPr lang="en-US" sz="25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Permite ejecutar por lo menos una vez al grupo de instrucciones. Al contrario de While, Do-Loop primero ejecuta una vez el ciclo y luego evalua si la condición se cumple, en el caso que no se cumpla dejara de ejecutarse.</a:t>
            </a:r>
          </a:p>
          <a:p>
            <a:pPr algn="just">
              <a:lnSpc>
                <a:spcPts val="38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6583" y="2752452"/>
            <a:ext cx="18972440" cy="7534548"/>
            <a:chOff x="0" y="0"/>
            <a:chExt cx="25296587" cy="10046064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3551" r="0" b="3551"/>
            <a:stretch>
              <a:fillRect/>
            </a:stretch>
          </p:blipFill>
          <p:spPr>
            <a:xfrm flipH="false" flipV="false">
              <a:off x="0" y="0"/>
              <a:ext cx="25296587" cy="10046064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-296583" y="-2686639"/>
            <a:ext cx="18972440" cy="5373278"/>
            <a:chOff x="0" y="0"/>
            <a:chExt cx="4996857" cy="1415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96857" cy="1415184"/>
            </a:xfrm>
            <a:custGeom>
              <a:avLst/>
              <a:gdLst/>
              <a:ahLst/>
              <a:cxnLst/>
              <a:rect r="r" b="b" t="t" l="l"/>
              <a:pathLst>
                <a:path h="1415184" w="4996857">
                  <a:moveTo>
                    <a:pt x="0" y="0"/>
                  </a:moveTo>
                  <a:lnTo>
                    <a:pt x="4996857" y="0"/>
                  </a:lnTo>
                  <a:lnTo>
                    <a:pt x="4996857" y="1415184"/>
                  </a:lnTo>
                  <a:lnTo>
                    <a:pt x="0" y="1415184"/>
                  </a:lnTo>
                  <a:close/>
                </a:path>
              </a:pathLst>
            </a:custGeom>
            <a:solidFill>
              <a:srgbClr val="09285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996857" cy="1462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99910" y="511631"/>
            <a:ext cx="8488181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 spc="220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MATRICES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23449" y="-283211"/>
            <a:ext cx="8664551" cy="10570211"/>
            <a:chOff x="0" y="0"/>
            <a:chExt cx="11552735" cy="14093614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42573" t="0" r="2813" b="0"/>
            <a:stretch>
              <a:fillRect/>
            </a:stretch>
          </p:blipFill>
          <p:spPr>
            <a:xfrm flipH="false" flipV="false">
              <a:off x="0" y="0"/>
              <a:ext cx="11552735" cy="14093614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769618" y="7923249"/>
            <a:ext cx="7642430" cy="1857001"/>
          </a:xfrm>
          <a:custGeom>
            <a:avLst/>
            <a:gdLst/>
            <a:ahLst/>
            <a:cxnLst/>
            <a:rect r="r" b="b" t="t" l="l"/>
            <a:pathLst>
              <a:path h="1857001" w="7642430">
                <a:moveTo>
                  <a:pt x="0" y="0"/>
                </a:moveTo>
                <a:lnTo>
                  <a:pt x="7642431" y="0"/>
                </a:lnTo>
                <a:lnTo>
                  <a:pt x="7642431" y="1857000"/>
                </a:lnTo>
                <a:lnTo>
                  <a:pt x="0" y="185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609" r="0" b="-2728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774" y="4012988"/>
            <a:ext cx="6994621" cy="2538660"/>
          </a:xfrm>
          <a:custGeom>
            <a:avLst/>
            <a:gdLst/>
            <a:ahLst/>
            <a:cxnLst/>
            <a:rect r="r" b="b" t="t" l="l"/>
            <a:pathLst>
              <a:path h="2538660" w="6994621">
                <a:moveTo>
                  <a:pt x="0" y="0"/>
                </a:moveTo>
                <a:lnTo>
                  <a:pt x="6994621" y="0"/>
                </a:lnTo>
                <a:lnTo>
                  <a:pt x="6994621" y="2538661"/>
                </a:lnTo>
                <a:lnTo>
                  <a:pt x="0" y="2538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576" r="0" b="-1463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78643" y="831396"/>
            <a:ext cx="6024381" cy="1811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spc="1429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MATRICES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46302" y="1708332"/>
            <a:ext cx="7889062" cy="653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7"/>
              </a:lnSpc>
            </a:pPr>
          </a:p>
          <a:p>
            <a:pPr algn="just">
              <a:lnSpc>
                <a:spcPts val="4007"/>
              </a:lnSpc>
            </a:pPr>
            <a:r>
              <a:rPr lang="en-US" sz="2636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 declara de la siguiente manera:</a:t>
            </a:r>
          </a:p>
          <a:p>
            <a:pPr algn="just">
              <a:lnSpc>
                <a:spcPts val="4007"/>
              </a:lnSpc>
            </a:pPr>
            <a:r>
              <a:rPr lang="en-US" sz="2636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Dim &lt;nombre matriz&gt; (&lt;numero de elementos&gt;) As Tipo de datos</a:t>
            </a:r>
          </a:p>
          <a:p>
            <a:pPr algn="just">
              <a:lnSpc>
                <a:spcPts val="4007"/>
              </a:lnSpc>
            </a:pPr>
          </a:p>
          <a:p>
            <a:pPr algn="just">
              <a:lnSpc>
                <a:spcPts val="4007"/>
              </a:lnSpc>
            </a:pPr>
          </a:p>
          <a:p>
            <a:pPr algn="just">
              <a:lnSpc>
                <a:spcPts val="4007"/>
              </a:lnSpc>
            </a:pPr>
          </a:p>
          <a:p>
            <a:pPr algn="just">
              <a:lnSpc>
                <a:spcPts val="4007"/>
              </a:lnSpc>
            </a:pPr>
          </a:p>
          <a:p>
            <a:pPr algn="just">
              <a:lnSpc>
                <a:spcPts val="4007"/>
              </a:lnSpc>
            </a:pPr>
          </a:p>
          <a:p>
            <a:pPr algn="just">
              <a:lnSpc>
                <a:spcPts val="4007"/>
              </a:lnSpc>
            </a:pPr>
          </a:p>
          <a:p>
            <a:pPr algn="just">
              <a:lnSpc>
                <a:spcPts val="4007"/>
              </a:lnSpc>
            </a:pPr>
            <a:r>
              <a:rPr lang="en-US" sz="2636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 puede inicializar una matriz de la siguiente manera:</a:t>
            </a:r>
          </a:p>
          <a:p>
            <a:pPr algn="just">
              <a:lnSpc>
                <a:spcPts val="400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453387" y="4373563"/>
            <a:ext cx="8525227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 spc="2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MATRICES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1757" y="2974975"/>
            <a:ext cx="7795892" cy="426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0"/>
              </a:lnSpc>
            </a:pPr>
            <a:r>
              <a:rPr lang="en-US" b="true" sz="2500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Para recorrer un array para mostrar sus elementos se utilizan los ciclos.</a:t>
            </a:r>
          </a:p>
          <a:p>
            <a:pPr algn="just">
              <a:lnSpc>
                <a:spcPts val="3800"/>
              </a:lnSpc>
            </a:pPr>
          </a:p>
          <a:p>
            <a:pPr algn="just">
              <a:lnSpc>
                <a:spcPts val="3800"/>
              </a:lnSpc>
            </a:pPr>
            <a:r>
              <a:rPr lang="en-US" b="true" sz="2500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para acceder a los valores (elementos) de una matriz se debe utilizar un valor de indice (ubicacion del elemento dentro del Array) para especificar la posicion a la que se desea acceder, asi como Tambien ciclos.</a:t>
            </a:r>
          </a:p>
          <a:p>
            <a:pPr algn="just">
              <a:lnSpc>
                <a:spcPts val="38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54205" t="0" r="16016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9144000" cy="11757581"/>
            <a:chOff x="0" y="0"/>
            <a:chExt cx="2408296" cy="3096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3096647"/>
            </a:xfrm>
            <a:custGeom>
              <a:avLst/>
              <a:gdLst/>
              <a:ahLst/>
              <a:cxnLst/>
              <a:rect r="r" b="b" t="t" l="l"/>
              <a:pathLst>
                <a:path h="3096647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3096647"/>
                  </a:lnTo>
                  <a:lnTo>
                    <a:pt x="0" y="3096647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3134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668672" y="4217123"/>
            <a:ext cx="7590628" cy="321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8"/>
              </a:lnSpc>
            </a:pPr>
            <a:r>
              <a:rPr lang="en-US" b="true" sz="5498" spc="1512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CONCEPTOS CLAVE APRENDIDOS </a:t>
            </a:r>
          </a:p>
          <a:p>
            <a:pPr algn="ctr">
              <a:lnSpc>
                <a:spcPts val="226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230337" y="2903939"/>
            <a:ext cx="4683327" cy="1524004"/>
            <a:chOff x="0" y="0"/>
            <a:chExt cx="6244435" cy="203200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244435" cy="2032006"/>
              <a:chOff x="0" y="0"/>
              <a:chExt cx="2303335" cy="74953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03336" cy="749530"/>
              </a:xfrm>
              <a:custGeom>
                <a:avLst/>
                <a:gdLst/>
                <a:ahLst/>
                <a:cxnLst/>
                <a:rect r="r" b="b" t="t" l="l"/>
                <a:pathLst>
                  <a:path h="749530" w="2303336">
                    <a:moveTo>
                      <a:pt x="2178875" y="749530"/>
                    </a:moveTo>
                    <a:lnTo>
                      <a:pt x="124460" y="749530"/>
                    </a:lnTo>
                    <a:cubicBezTo>
                      <a:pt x="55880" y="749530"/>
                      <a:pt x="0" y="693650"/>
                      <a:pt x="0" y="62507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178876" y="0"/>
                    </a:lnTo>
                    <a:cubicBezTo>
                      <a:pt x="2247455" y="0"/>
                      <a:pt x="2303336" y="55880"/>
                      <a:pt x="2303336" y="124460"/>
                    </a:cubicBezTo>
                    <a:lnTo>
                      <a:pt x="2303336" y="625070"/>
                    </a:lnTo>
                    <a:cubicBezTo>
                      <a:pt x="2303336" y="693650"/>
                      <a:pt x="2247455" y="749530"/>
                      <a:pt x="2178876" y="749530"/>
                    </a:cubicBezTo>
                    <a:close/>
                  </a:path>
                </a:pathLst>
              </a:custGeom>
              <a:solidFill>
                <a:srgbClr val="FFFFFF">
                  <a:alpha val="75686"/>
                </a:srgbClr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434532" y="696598"/>
              <a:ext cx="5375372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b="true" sz="2400" spc="660">
                  <a:solidFill>
                    <a:srgbClr val="092852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1/ USO DE WHILE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30337" y="6466037"/>
            <a:ext cx="4683327" cy="1943104"/>
            <a:chOff x="0" y="0"/>
            <a:chExt cx="6244435" cy="259080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244435" cy="2590806"/>
              <a:chOff x="0" y="0"/>
              <a:chExt cx="2303335" cy="95565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03336" cy="955650"/>
              </a:xfrm>
              <a:custGeom>
                <a:avLst/>
                <a:gdLst/>
                <a:ahLst/>
                <a:cxnLst/>
                <a:rect r="r" b="b" t="t" l="l"/>
                <a:pathLst>
                  <a:path h="955650" w="2303336">
                    <a:moveTo>
                      <a:pt x="2178875" y="955650"/>
                    </a:moveTo>
                    <a:lnTo>
                      <a:pt x="124460" y="955650"/>
                    </a:lnTo>
                    <a:cubicBezTo>
                      <a:pt x="55880" y="955650"/>
                      <a:pt x="0" y="899770"/>
                      <a:pt x="0" y="83119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178876" y="0"/>
                    </a:lnTo>
                    <a:cubicBezTo>
                      <a:pt x="2247455" y="0"/>
                      <a:pt x="2303336" y="55880"/>
                      <a:pt x="2303336" y="124460"/>
                    </a:cubicBezTo>
                    <a:lnTo>
                      <a:pt x="2303336" y="831190"/>
                    </a:lnTo>
                    <a:cubicBezTo>
                      <a:pt x="2303336" y="899770"/>
                      <a:pt x="2247455" y="955650"/>
                      <a:pt x="2178876" y="955650"/>
                    </a:cubicBezTo>
                    <a:close/>
                  </a:path>
                </a:pathLst>
              </a:custGeom>
              <a:solidFill>
                <a:srgbClr val="FFFFFF">
                  <a:alpha val="75686"/>
                </a:srgbClr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696598"/>
              <a:ext cx="6244435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b="true" sz="2400" spc="660">
                  <a:solidFill>
                    <a:srgbClr val="092852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2/ USO DE MATRICES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61216" y="4980513"/>
            <a:ext cx="6869239" cy="5306487"/>
          </a:xfrm>
          <a:custGeom>
            <a:avLst/>
            <a:gdLst/>
            <a:ahLst/>
            <a:cxnLst/>
            <a:rect r="r" b="b" t="t" l="l"/>
            <a:pathLst>
              <a:path h="5306487" w="6869239">
                <a:moveTo>
                  <a:pt x="0" y="0"/>
                </a:moveTo>
                <a:lnTo>
                  <a:pt x="6869239" y="0"/>
                </a:lnTo>
                <a:lnTo>
                  <a:pt x="6869239" y="5306487"/>
                </a:lnTo>
                <a:lnTo>
                  <a:pt x="0" y="5306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60985" y="3981685"/>
            <a:ext cx="12566029" cy="367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FRASE: COMPRENDER ESTRUCTURAS COMPLEJAS REQUIERE CALMA Y CONSTANCIA.</a:t>
            </a:r>
          </a:p>
          <a:p>
            <a:pPr algn="ctr">
              <a:lnSpc>
                <a:spcPts val="583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89469" y="1886678"/>
            <a:ext cx="17309062" cy="167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87"/>
              </a:lnSpc>
            </a:pPr>
            <a:r>
              <a:rPr lang="en-US" b="true" sz="9848" spc="2708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PACIENCIA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48440" y="4077814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9"/>
                </a:lnTo>
                <a:lnTo>
                  <a:pt x="0" y="938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"/>
            <a:ext cx="4695577" cy="6434680"/>
          </a:xfrm>
          <a:custGeom>
            <a:avLst/>
            <a:gdLst/>
            <a:ahLst/>
            <a:cxnLst/>
            <a:rect r="r" b="b" t="t" l="l"/>
            <a:pathLst>
              <a:path h="6434680" w="4695577">
                <a:moveTo>
                  <a:pt x="0" y="0"/>
                </a:moveTo>
                <a:lnTo>
                  <a:pt x="4695577" y="0"/>
                </a:lnTo>
                <a:lnTo>
                  <a:pt x="4695577" y="6434681"/>
                </a:lnTo>
                <a:lnTo>
                  <a:pt x="0" y="6434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73608" y="4098239"/>
            <a:ext cx="6540784" cy="104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7"/>
              </a:lnSpc>
            </a:pPr>
            <a:r>
              <a:rPr lang="en-US" b="true" sz="609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Ejemplo práctico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6266538" cy="5143510"/>
          </a:xfrm>
          <a:custGeom>
            <a:avLst/>
            <a:gdLst/>
            <a:ahLst/>
            <a:cxnLst/>
            <a:rect r="r" b="b" t="t" l="l"/>
            <a:pathLst>
              <a:path h="5143510" w="16266538">
                <a:moveTo>
                  <a:pt x="0" y="0"/>
                </a:moveTo>
                <a:lnTo>
                  <a:pt x="16266538" y="0"/>
                </a:lnTo>
                <a:lnTo>
                  <a:pt x="16266538" y="5143509"/>
                </a:lnTo>
                <a:lnTo>
                  <a:pt x="0" y="514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22684" y="4098239"/>
            <a:ext cx="10442632" cy="104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7"/>
              </a:lnSpc>
            </a:pPr>
            <a:r>
              <a:rPr lang="en-US" b="true" sz="609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Practiquemos lo aprendido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1434227"/>
            <a:ext cx="18407624" cy="4333504"/>
          </a:xfrm>
          <a:custGeom>
            <a:avLst/>
            <a:gdLst/>
            <a:ahLst/>
            <a:cxnLst/>
            <a:rect r="r" b="b" t="t" l="l"/>
            <a:pathLst>
              <a:path h="4333504" w="18407624">
                <a:moveTo>
                  <a:pt x="0" y="0"/>
                </a:moveTo>
                <a:lnTo>
                  <a:pt x="18407624" y="0"/>
                </a:lnTo>
                <a:lnTo>
                  <a:pt x="18407624" y="4333503"/>
                </a:lnTo>
                <a:lnTo>
                  <a:pt x="0" y="4333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7872" y="1726416"/>
            <a:ext cx="5276736" cy="218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Nombre de la actividad:</a:t>
            </a:r>
          </a:p>
          <a:p>
            <a:pPr algn="l">
              <a:lnSpc>
                <a:spcPts val="3407"/>
              </a:lnSpc>
            </a:pPr>
          </a:p>
          <a:p>
            <a:pPr algn="l">
              <a:lnSpc>
                <a:spcPts val="2253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Cantidad de participantes:</a:t>
            </a:r>
          </a:p>
          <a:p>
            <a:pPr algn="l">
              <a:lnSpc>
                <a:spcPts val="2254"/>
              </a:lnSpc>
            </a:pPr>
          </a:p>
          <a:p>
            <a:pPr algn="l">
              <a:lnSpc>
                <a:spcPts val="1399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Doy fe que esta actividad está </a:t>
            </a:r>
          </a:p>
          <a:p>
            <a:pPr algn="l">
              <a:lnSpc>
                <a:spcPts val="5415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planificada en dtt (Sí/No):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37374" y="2159213"/>
            <a:ext cx="2677535" cy="200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Hora de inicio:</a:t>
            </a:r>
          </a:p>
          <a:p>
            <a:pPr algn="l">
              <a:lnSpc>
                <a:spcPts val="3407"/>
              </a:lnSpc>
            </a:pPr>
          </a:p>
          <a:p>
            <a:pPr algn="l">
              <a:lnSpc>
                <a:spcPts val="4561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Hora de fin:</a:t>
            </a:r>
          </a:p>
          <a:p>
            <a:pPr algn="l">
              <a:lnSpc>
                <a:spcPts val="5415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Duración (min):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975" y="4205792"/>
            <a:ext cx="15022439" cy="74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Participantes: llenar las siguientes cajas de texto (tomar información del chat del meet)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288047" y="5447692"/>
            <a:ext cx="1971253" cy="4562204"/>
          </a:xfrm>
          <a:custGeom>
            <a:avLst/>
            <a:gdLst/>
            <a:ahLst/>
            <a:cxnLst/>
            <a:rect r="r" b="b" t="t" l="l"/>
            <a:pathLst>
              <a:path h="4562204" w="1971253">
                <a:moveTo>
                  <a:pt x="0" y="0"/>
                </a:moveTo>
                <a:lnTo>
                  <a:pt x="1971253" y="0"/>
                </a:lnTo>
                <a:lnTo>
                  <a:pt x="1971253" y="4562205"/>
                </a:lnTo>
                <a:lnTo>
                  <a:pt x="0" y="4562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93687" y="2800395"/>
            <a:ext cx="8300627" cy="309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4399" spc="120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¡GRACIAS POR SU ATENCIÓN!</a:t>
            </a:r>
          </a:p>
          <a:p>
            <a:pPr algn="ctr">
              <a:lnSpc>
                <a:spcPts val="6159"/>
              </a:lnSpc>
            </a:pPr>
          </a:p>
          <a:p>
            <a:pPr algn="ctr">
              <a:lnSpc>
                <a:spcPts val="6159"/>
              </a:lnSpc>
            </a:pPr>
            <a:r>
              <a:rPr lang="en-US" b="true" sz="4399" spc="120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DUDAS¿?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05623" y="6674192"/>
            <a:ext cx="11476754" cy="153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RECUERDA QUE TENEMOS NUESTRO FORO SEMANAL DONDE PUEDES CONSULTAR CUALQUIER DUDA QUE TE SURJA EN LA SEMANA.</a:t>
            </a:r>
          </a:p>
          <a:p>
            <a:pPr algn="ctr">
              <a:lnSpc>
                <a:spcPts val="3086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DAG7hPdQd0Q</dc:identifier>
  <dcterms:modified xsi:type="dcterms:W3CDTF">2011-08-01T06:04:30Z</dcterms:modified>
  <cp:revision>1</cp:revision>
  <dc:title>1s2026_Semana_8</dc:title>
</cp:coreProperties>
</file>