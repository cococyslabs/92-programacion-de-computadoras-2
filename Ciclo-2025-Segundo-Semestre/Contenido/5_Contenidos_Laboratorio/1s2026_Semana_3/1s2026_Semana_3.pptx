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The Seasons Bold" charset="1" panose="00000000000000000000"/>
      <p:regular r:id="rId39"/>
    </p:embeddedFont>
    <p:embeddedFont>
      <p:font typeface="The Seasons" charset="1" panose="00000000000000000000"/>
      <p:regular r:id="rId40"/>
    </p:embeddedFont>
    <p:embeddedFont>
      <p:font typeface="Nunito" charset="1" panose="00000000000000000000"/>
      <p:regular r:id="rId41"/>
    </p:embeddedFont>
    <p:embeddedFont>
      <p:font typeface="Impact" charset="1" panose="020B0806030902050204"/>
      <p:regular r:id="rId42"/>
    </p:embeddedFont>
    <p:embeddedFont>
      <p:font typeface="Prata" charset="1" panose="00000500000000000000"/>
      <p:regular r:id="rId43"/>
    </p:embeddedFont>
    <p:embeddedFont>
      <p:font typeface="Arial" charset="1" panose="020B0604020202020204"/>
      <p:regular r:id="rId44"/>
    </p:embeddedFont>
    <p:embeddedFont>
      <p:font typeface="Arial Bold" charset="1" panose="020B0704020202020204"/>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https://youtu.be/g9EnPacHa7c" TargetMode="External" Type="http://schemas.openxmlformats.org/officeDocument/2006/relationships/video"/><Relationship Id="rId4" Target="../media/image10.png" Type="http://schemas.openxmlformats.org/officeDocument/2006/relationships/image"/><Relationship Id="rId5"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1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3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41.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45.png" Type="http://schemas.openxmlformats.org/officeDocument/2006/relationships/image"/><Relationship Id="rId5" Target="../embeddings/oleObject1.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1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6.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png" Type="http://schemas.openxmlformats.org/officeDocument/2006/relationships/image"/><Relationship Id="rId6" Target="../media/image61.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66.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sp>
        <p:nvSpPr>
          <p:cNvPr name="Freeform 4" id="4"/>
          <p:cNvSpPr/>
          <p:nvPr/>
        </p:nvSpPr>
        <p:spPr>
          <a:xfrm flipH="false" flipV="false" rot="0">
            <a:off x="3022664" y="4712989"/>
            <a:ext cx="10278628" cy="861022"/>
          </a:xfrm>
          <a:custGeom>
            <a:avLst/>
            <a:gdLst/>
            <a:ahLst/>
            <a:cxnLst/>
            <a:rect r="r" b="b" t="t" l="l"/>
            <a:pathLst>
              <a:path h="861022" w="10278628">
                <a:moveTo>
                  <a:pt x="0" y="0"/>
                </a:moveTo>
                <a:lnTo>
                  <a:pt x="10278627" y="0"/>
                </a:lnTo>
                <a:lnTo>
                  <a:pt x="10278627" y="861022"/>
                </a:lnTo>
                <a:lnTo>
                  <a:pt x="0" y="8610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3529784" y="5920416"/>
            <a:ext cx="7501528" cy="861022"/>
          </a:xfrm>
          <a:custGeom>
            <a:avLst/>
            <a:gdLst/>
            <a:ahLst/>
            <a:cxnLst/>
            <a:rect r="r" b="b" t="t" l="l"/>
            <a:pathLst>
              <a:path h="861022" w="7501528">
                <a:moveTo>
                  <a:pt x="0" y="0"/>
                </a:moveTo>
                <a:lnTo>
                  <a:pt x="7501528" y="0"/>
                </a:lnTo>
                <a:lnTo>
                  <a:pt x="7501528" y="861022"/>
                </a:lnTo>
                <a:lnTo>
                  <a:pt x="0" y="8610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Table 6" id="6"/>
          <p:cNvGraphicFramePr>
            <a:graphicFrameLocks noGrp="true"/>
          </p:cNvGraphicFramePr>
          <p:nvPr/>
        </p:nvGraphicFramePr>
        <p:xfrm>
          <a:off x="13703789" y="1895113"/>
          <a:ext cx="4358087" cy="1654150"/>
        </p:xfrm>
        <a:graphic>
          <a:graphicData uri="http://schemas.openxmlformats.org/drawingml/2006/table">
            <a:tbl>
              <a:tblPr/>
              <a:tblGrid>
                <a:gridCol w="3503826"/>
              </a:tblGrid>
              <a:tr h="835186">
                <a:tc>
                  <a:txBody>
                    <a:bodyPr anchor="t" rtlCol="false"/>
                    <a:lstStyle/>
                    <a:p>
                      <a:pPr algn="ctr">
                        <a:lnSpc>
                          <a:spcPts val="2520"/>
                        </a:lnSpc>
                        <a:defRPr/>
                      </a:pPr>
                      <a:r>
                        <a:rPr lang="en-US" sz="1800" b="true">
                          <a:solidFill>
                            <a:srgbClr val="000000"/>
                          </a:solidFill>
                          <a:latin typeface="The Seasons Bold"/>
                          <a:ea typeface="The Seasons Bold"/>
                          <a:cs typeface="The Seasons Bold"/>
                          <a:sym typeface="The Seasons Bold"/>
                        </a:rPr>
                        <a:t>10/02/2026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EECE1"/>
                    </a:solidFill>
                  </a:tcPr>
                </a:tc>
              </a:tr>
              <a:tr h="818963">
                <a:tc>
                  <a:txBody>
                    <a:bodyPr anchor="t" rtlCol="false"/>
                    <a:lstStyle/>
                    <a:p>
                      <a:pPr algn="ctr">
                        <a:lnSpc>
                          <a:spcPts val="2520"/>
                        </a:lnSpc>
                        <a:defRPr/>
                      </a:pPr>
                      <a:r>
                        <a:rPr lang="en-US" sz="1800">
                          <a:solidFill>
                            <a:srgbClr val="000000"/>
                          </a:solidFill>
                          <a:latin typeface="The Seasons"/>
                          <a:ea typeface="The Seasons"/>
                          <a:cs typeface="The Seasons"/>
                          <a:sym typeface="The Seasons"/>
                        </a:rPr>
                        <a:t>12:25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EECE1"/>
                    </a:solidFill>
                  </a:tcPr>
                </a:tc>
              </a:tr>
            </a:tbl>
          </a:graphicData>
        </a:graphic>
      </p:graphicFrame>
      <p:sp>
        <p:nvSpPr>
          <p:cNvPr name="TextBox 7" id="7"/>
          <p:cNvSpPr txBox="true"/>
          <p:nvPr/>
        </p:nvSpPr>
        <p:spPr>
          <a:xfrm rot="0">
            <a:off x="4717643" y="6107722"/>
            <a:ext cx="5068406" cy="438785"/>
          </a:xfrm>
          <a:prstGeom prst="rect">
            <a:avLst/>
          </a:prstGeom>
        </p:spPr>
        <p:txBody>
          <a:bodyPr anchor="t" rtlCol="false" tIns="0" lIns="0" bIns="0" rIns="0">
            <a:spAutoFit/>
          </a:bodyPr>
          <a:lstStyle/>
          <a:p>
            <a:pPr algn="l">
              <a:lnSpc>
                <a:spcPts val="3640"/>
              </a:lnSpc>
            </a:pPr>
            <a:r>
              <a:rPr lang="en-US" sz="2600">
                <a:solidFill>
                  <a:srgbClr val="000000"/>
                </a:solidFill>
                <a:latin typeface="Nunito"/>
                <a:ea typeface="Nunito"/>
                <a:cs typeface="Nunito"/>
                <a:sym typeface="Nunito"/>
              </a:rPr>
              <a:t>Julio Alfredo Fernández Rodríguez</a:t>
            </a:r>
          </a:p>
        </p:txBody>
      </p:sp>
      <p:sp>
        <p:nvSpPr>
          <p:cNvPr name="TextBox 8" id="8"/>
          <p:cNvSpPr txBox="true"/>
          <p:nvPr/>
        </p:nvSpPr>
        <p:spPr>
          <a:xfrm rot="0">
            <a:off x="5672168" y="4787582"/>
            <a:ext cx="4979619" cy="588010"/>
          </a:xfrm>
          <a:prstGeom prst="rect">
            <a:avLst/>
          </a:prstGeom>
        </p:spPr>
        <p:txBody>
          <a:bodyPr anchor="t" rtlCol="false" tIns="0" lIns="0" bIns="0" rIns="0">
            <a:spAutoFit/>
          </a:bodyPr>
          <a:lstStyle/>
          <a:p>
            <a:pPr algn="l">
              <a:lnSpc>
                <a:spcPts val="4339"/>
              </a:lnSpc>
            </a:pPr>
            <a:r>
              <a:rPr lang="en-US" sz="3099">
                <a:solidFill>
                  <a:srgbClr val="000000"/>
                </a:solidFill>
                <a:latin typeface="Impact"/>
                <a:ea typeface="Impact"/>
                <a:cs typeface="Impact"/>
                <a:sym typeface="Impact"/>
              </a:rPr>
              <a:t>Programación de Computadoras 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3" id="3"/>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4" id="4"/>
          <p:cNvSpPr/>
          <p:nvPr/>
        </p:nvSpPr>
        <p:spPr>
          <a:xfrm rot="-5400000">
            <a:off x="12125325" y="5133975"/>
            <a:ext cx="10287000" cy="0"/>
          </a:xfrm>
          <a:prstGeom prst="line">
            <a:avLst/>
          </a:prstGeom>
          <a:ln cap="flat" w="19050">
            <a:solidFill>
              <a:srgbClr val="000000"/>
            </a:solidFill>
            <a:prstDash val="solid"/>
            <a:headEnd type="none" len="sm" w="sm"/>
            <a:tailEnd type="none" len="sm" w="sm"/>
          </a:ln>
        </p:spPr>
      </p:sp>
      <p:sp>
        <p:nvSpPr>
          <p:cNvPr name="AutoShape 5" id="5"/>
          <p:cNvSpPr/>
          <p:nvPr/>
        </p:nvSpPr>
        <p:spPr>
          <a:xfrm rot="0">
            <a:off x="0" y="10096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0">
            <a:off x="1009650" y="4413077"/>
            <a:ext cx="16268700" cy="0"/>
          </a:xfrm>
          <a:prstGeom prst="line">
            <a:avLst/>
          </a:prstGeom>
          <a:ln cap="flat" w="19050">
            <a:solidFill>
              <a:srgbClr val="000000"/>
            </a:solidFill>
            <a:prstDash val="solid"/>
            <a:headEnd type="none" len="sm" w="sm"/>
            <a:tailEnd type="none" len="sm" w="sm"/>
          </a:ln>
        </p:spPr>
      </p:sp>
      <p:grpSp>
        <p:nvGrpSpPr>
          <p:cNvPr name="Group 7" id="7"/>
          <p:cNvGrpSpPr/>
          <p:nvPr/>
        </p:nvGrpSpPr>
        <p:grpSpPr>
          <a:xfrm rot="0">
            <a:off x="12064856" y="3968580"/>
            <a:ext cx="908045" cy="90804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2C2B"/>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080"/>
                </a:lnSpc>
              </a:pPr>
            </a:p>
          </p:txBody>
        </p:sp>
      </p:grpSp>
      <p:grpSp>
        <p:nvGrpSpPr>
          <p:cNvPr name="Group 10" id="10"/>
          <p:cNvGrpSpPr/>
          <p:nvPr/>
        </p:nvGrpSpPr>
        <p:grpSpPr>
          <a:xfrm rot="0">
            <a:off x="13207864" y="3959055"/>
            <a:ext cx="908045" cy="90804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A597"/>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080"/>
                </a:lnSpc>
              </a:pPr>
            </a:p>
          </p:txBody>
        </p:sp>
      </p:grpSp>
      <p:grpSp>
        <p:nvGrpSpPr>
          <p:cNvPr name="Group 13" id="13"/>
          <p:cNvGrpSpPr/>
          <p:nvPr/>
        </p:nvGrpSpPr>
        <p:grpSpPr>
          <a:xfrm rot="0">
            <a:off x="14350872" y="3949530"/>
            <a:ext cx="908045" cy="90804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68990"/>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080"/>
                </a:lnSpc>
              </a:pPr>
            </a:p>
          </p:txBody>
        </p:sp>
      </p:grpSp>
      <p:grpSp>
        <p:nvGrpSpPr>
          <p:cNvPr name="Group 16" id="16"/>
          <p:cNvGrpSpPr/>
          <p:nvPr/>
        </p:nvGrpSpPr>
        <p:grpSpPr>
          <a:xfrm rot="0">
            <a:off x="15493880" y="3940005"/>
            <a:ext cx="908045" cy="90804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6C4C0"/>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080"/>
                </a:lnSpc>
              </a:pPr>
            </a:p>
          </p:txBody>
        </p:sp>
      </p:grpSp>
      <p:sp>
        <p:nvSpPr>
          <p:cNvPr name="TextBox 19" id="19"/>
          <p:cNvSpPr txBox="true"/>
          <p:nvPr/>
        </p:nvSpPr>
        <p:spPr>
          <a:xfrm rot="0">
            <a:off x="1131506" y="2396191"/>
            <a:ext cx="5980765" cy="2305599"/>
          </a:xfrm>
          <a:prstGeom prst="rect">
            <a:avLst/>
          </a:prstGeom>
        </p:spPr>
        <p:txBody>
          <a:bodyPr anchor="t" rtlCol="false" tIns="0" lIns="0" bIns="0" rIns="0">
            <a:spAutoFit/>
          </a:bodyPr>
          <a:lstStyle/>
          <a:p>
            <a:pPr algn="l">
              <a:lnSpc>
                <a:spcPts val="18869"/>
              </a:lnSpc>
            </a:pPr>
            <a:r>
              <a:rPr lang="en-US" sz="13478">
                <a:solidFill>
                  <a:srgbClr val="131416"/>
                </a:solidFill>
                <a:latin typeface="Prata"/>
                <a:ea typeface="Prata"/>
                <a:cs typeface="Prata"/>
                <a:sym typeface="Prata"/>
              </a:rPr>
              <a:t>Clase 3</a:t>
            </a:r>
          </a:p>
        </p:txBody>
      </p:sp>
      <p:sp>
        <p:nvSpPr>
          <p:cNvPr name="TextBox 20" id="20"/>
          <p:cNvSpPr txBox="true"/>
          <p:nvPr/>
        </p:nvSpPr>
        <p:spPr>
          <a:xfrm rot="0">
            <a:off x="1131506" y="6364557"/>
            <a:ext cx="8761810" cy="642998"/>
          </a:xfrm>
          <a:prstGeom prst="rect">
            <a:avLst/>
          </a:prstGeom>
        </p:spPr>
        <p:txBody>
          <a:bodyPr anchor="t" rtlCol="false" tIns="0" lIns="0" bIns="0" rIns="0">
            <a:spAutoFit/>
          </a:bodyPr>
          <a:lstStyle/>
          <a:p>
            <a:pPr algn="l">
              <a:lnSpc>
                <a:spcPts val="4395"/>
              </a:lnSpc>
            </a:pPr>
            <a:r>
              <a:rPr lang="en-US" b="true" sz="4400">
                <a:solidFill>
                  <a:srgbClr val="131416"/>
                </a:solidFill>
                <a:latin typeface="The Seasons Bold"/>
                <a:ea typeface="The Seasons Bold"/>
                <a:cs typeface="The Seasons Bold"/>
                <a:sym typeface="The Seasons Bold"/>
              </a:rPr>
              <a:t>Programacion de computadoras 2 </a:t>
            </a:r>
          </a:p>
        </p:txBody>
      </p:sp>
      <p:sp>
        <p:nvSpPr>
          <p:cNvPr name="TextBox 21" id="21"/>
          <p:cNvSpPr txBox="true"/>
          <p:nvPr/>
        </p:nvSpPr>
        <p:spPr>
          <a:xfrm rot="0">
            <a:off x="1131506" y="6886451"/>
            <a:ext cx="6255629" cy="477554"/>
          </a:xfrm>
          <a:prstGeom prst="rect">
            <a:avLst/>
          </a:prstGeom>
        </p:spPr>
        <p:txBody>
          <a:bodyPr anchor="t" rtlCol="false" tIns="0" lIns="0" bIns="0" rIns="0">
            <a:spAutoFit/>
          </a:bodyPr>
          <a:lstStyle/>
          <a:p>
            <a:pPr algn="l">
              <a:lnSpc>
                <a:spcPts val="3663"/>
              </a:lnSpc>
            </a:pPr>
            <a:r>
              <a:rPr lang="en-US" sz="2498">
                <a:solidFill>
                  <a:srgbClr val="131416"/>
                </a:solidFill>
                <a:latin typeface="The Seasons"/>
                <a:ea typeface="The Seasons"/>
                <a:cs typeface="The Seasons"/>
                <a:sym typeface="The Seasons"/>
              </a:rPr>
              <a:t>Escuela de Ingenieria de Ciencias Y Sistemas</a:t>
            </a:r>
          </a:p>
        </p:txBody>
      </p:sp>
      <p:sp>
        <p:nvSpPr>
          <p:cNvPr name="TextBox 22" id="22"/>
          <p:cNvSpPr txBox="true"/>
          <p:nvPr/>
        </p:nvSpPr>
        <p:spPr>
          <a:xfrm rot="0">
            <a:off x="1131506" y="7422674"/>
            <a:ext cx="3124285" cy="477520"/>
          </a:xfrm>
          <a:prstGeom prst="rect">
            <a:avLst/>
          </a:prstGeom>
        </p:spPr>
        <p:txBody>
          <a:bodyPr anchor="t" rtlCol="false" tIns="0" lIns="0" bIns="0" rIns="0">
            <a:spAutoFit/>
          </a:bodyPr>
          <a:lstStyle/>
          <a:p>
            <a:pPr algn="l">
              <a:lnSpc>
                <a:spcPts val="3664"/>
              </a:lnSpc>
            </a:pPr>
            <a:r>
              <a:rPr lang="en-US" sz="2499">
                <a:solidFill>
                  <a:srgbClr val="131416"/>
                </a:solidFill>
                <a:latin typeface="The Seasons"/>
                <a:ea typeface="The Seasons"/>
                <a:cs typeface="The Seasons"/>
                <a:sym typeface="The Seasons"/>
              </a:rPr>
              <a:t>Facultad de Ingenieria</a:t>
            </a:r>
          </a:p>
        </p:txBody>
      </p:sp>
      <p:sp>
        <p:nvSpPr>
          <p:cNvPr name="TextBox 23" id="23"/>
          <p:cNvSpPr txBox="true"/>
          <p:nvPr/>
        </p:nvSpPr>
        <p:spPr>
          <a:xfrm rot="0">
            <a:off x="1131506" y="8090694"/>
            <a:ext cx="5756842" cy="348261"/>
          </a:xfrm>
          <a:prstGeom prst="rect">
            <a:avLst/>
          </a:prstGeom>
        </p:spPr>
        <p:txBody>
          <a:bodyPr anchor="t" rtlCol="false" tIns="0" lIns="0" bIns="0" rIns="0">
            <a:spAutoFit/>
          </a:bodyPr>
          <a:lstStyle/>
          <a:p>
            <a:pPr algn="l">
              <a:lnSpc>
                <a:spcPts val="2281"/>
              </a:lnSpc>
            </a:pPr>
            <a:r>
              <a:rPr lang="en-US" sz="2498">
                <a:solidFill>
                  <a:srgbClr val="131416"/>
                </a:solidFill>
                <a:latin typeface="The Seasons"/>
                <a:ea typeface="The Seasons"/>
                <a:cs typeface="The Seasons"/>
                <a:sym typeface="The Seasons"/>
              </a:rPr>
              <a:t>Universidad de San Carlos de Guatemala</a:t>
            </a:r>
          </a:p>
        </p:txBody>
      </p:sp>
      <p:sp>
        <p:nvSpPr>
          <p:cNvPr name="Freeform 24" id="24"/>
          <p:cNvSpPr/>
          <p:nvPr/>
        </p:nvSpPr>
        <p:spPr>
          <a:xfrm flipH="false" flipV="false" rot="0">
            <a:off x="7015972" y="1028700"/>
            <a:ext cx="10243328" cy="1067010"/>
          </a:xfrm>
          <a:custGeom>
            <a:avLst/>
            <a:gdLst/>
            <a:ahLst/>
            <a:cxnLst/>
            <a:rect r="r" b="b" t="t" l="l"/>
            <a:pathLst>
              <a:path h="1067010" w="10243328">
                <a:moveTo>
                  <a:pt x="0" y="0"/>
                </a:moveTo>
                <a:lnTo>
                  <a:pt x="10243328" y="0"/>
                </a:lnTo>
                <a:lnTo>
                  <a:pt x="10243328" y="1067010"/>
                </a:lnTo>
                <a:lnTo>
                  <a:pt x="0" y="106701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4" id="4"/>
          <p:cNvSpPr/>
          <p:nvPr/>
        </p:nvSpPr>
        <p:spPr>
          <a:xfrm>
            <a:off x="1009650" y="2376056"/>
            <a:ext cx="16249650" cy="0"/>
          </a:xfrm>
          <a:prstGeom prst="line">
            <a:avLst/>
          </a:prstGeom>
          <a:ln cap="flat" w="19050">
            <a:solidFill>
              <a:srgbClr val="000000"/>
            </a:solidFill>
            <a:prstDash val="solid"/>
            <a:headEnd type="none" len="sm" w="sm"/>
            <a:tailEnd type="none" len="sm" w="sm"/>
          </a:ln>
        </p:spPr>
      </p:sp>
      <p:sp>
        <p:nvSpPr>
          <p:cNvPr name="AutoShape 5" id="5"/>
          <p:cNvSpPr/>
          <p:nvPr/>
        </p:nvSpPr>
        <p:spPr>
          <a:xfrm rot="-5400000">
            <a:off x="-309720" y="5807653"/>
            <a:ext cx="6882244" cy="0"/>
          </a:xfrm>
          <a:prstGeom prst="line">
            <a:avLst/>
          </a:prstGeom>
          <a:ln cap="flat" w="19050">
            <a:solidFill>
              <a:srgbClr val="000000"/>
            </a:solidFill>
            <a:prstDash val="solid"/>
            <a:headEnd type="none" len="sm" w="sm"/>
            <a:tailEnd type="none" len="sm" w="sm"/>
          </a:ln>
        </p:spPr>
      </p:sp>
      <p:pic>
        <p:nvPicPr>
          <p:cNvPr name="Picture 6" id="6"/>
          <p:cNvPicPr>
            <a:picLocks noChangeAspect="true"/>
          </p:cNvPicPr>
          <p:nvPr>
            <a:videoFile r:link="rId3"/>
          </p:nvPr>
        </p:nvPicPr>
        <p:blipFill>
          <a:blip r:embed="rId2"/>
          <a:stretch>
            <a:fillRect/>
          </a:stretch>
        </p:blipFill>
        <p:spPr>
          <a:xfrm rot="0">
            <a:off x="10947358" y="5517378"/>
            <a:ext cx="5854944" cy="3290835"/>
          </a:xfrm>
          <a:prstGeom prst="rect">
            <a:avLst/>
          </a:prstGeom>
        </p:spPr>
      </p:pic>
      <p:sp>
        <p:nvSpPr>
          <p:cNvPr name="Freeform 7" id="7"/>
          <p:cNvSpPr/>
          <p:nvPr/>
        </p:nvSpPr>
        <p:spPr>
          <a:xfrm flipH="false" flipV="false" rot="1163000">
            <a:off x="5539707" y="6897308"/>
            <a:ext cx="4820790" cy="2839884"/>
          </a:xfrm>
          <a:custGeom>
            <a:avLst/>
            <a:gdLst/>
            <a:ahLst/>
            <a:cxnLst/>
            <a:rect r="r" b="b" t="t" l="l"/>
            <a:pathLst>
              <a:path h="2839884" w="4820790">
                <a:moveTo>
                  <a:pt x="0" y="0"/>
                </a:moveTo>
                <a:lnTo>
                  <a:pt x="4820790" y="0"/>
                </a:lnTo>
                <a:lnTo>
                  <a:pt x="4820790" y="2839884"/>
                </a:lnTo>
                <a:lnTo>
                  <a:pt x="0" y="28398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758196" y="2954889"/>
            <a:ext cx="731751" cy="803310"/>
          </a:xfrm>
          <a:prstGeom prst="rect">
            <a:avLst/>
          </a:prstGeom>
        </p:spPr>
        <p:txBody>
          <a:bodyPr anchor="t" rtlCol="false" tIns="0" lIns="0" bIns="0" rIns="0">
            <a:spAutoFit/>
          </a:bodyPr>
          <a:lstStyle/>
          <a:p>
            <a:pPr algn="ctr">
              <a:lnSpc>
                <a:spcPts val="6123"/>
              </a:lnSpc>
            </a:pPr>
            <a:r>
              <a:rPr lang="en-US" sz="4373">
                <a:solidFill>
                  <a:srgbClr val="000000"/>
                </a:solidFill>
                <a:latin typeface="The Seasons"/>
                <a:ea typeface="The Seasons"/>
                <a:cs typeface="The Seasons"/>
                <a:sym typeface="The Seasons"/>
              </a:rPr>
              <a:t>01</a:t>
            </a:r>
          </a:p>
        </p:txBody>
      </p:sp>
      <p:sp>
        <p:nvSpPr>
          <p:cNvPr name="TextBox 9" id="9"/>
          <p:cNvSpPr txBox="true"/>
          <p:nvPr/>
        </p:nvSpPr>
        <p:spPr>
          <a:xfrm rot="0">
            <a:off x="1758196" y="3763704"/>
            <a:ext cx="731751" cy="803310"/>
          </a:xfrm>
          <a:prstGeom prst="rect">
            <a:avLst/>
          </a:prstGeom>
        </p:spPr>
        <p:txBody>
          <a:bodyPr anchor="t" rtlCol="false" tIns="0" lIns="0" bIns="0" rIns="0">
            <a:spAutoFit/>
          </a:bodyPr>
          <a:lstStyle/>
          <a:p>
            <a:pPr algn="ctr">
              <a:lnSpc>
                <a:spcPts val="6123"/>
              </a:lnSpc>
            </a:pPr>
            <a:r>
              <a:rPr lang="en-US" sz="4373">
                <a:solidFill>
                  <a:srgbClr val="000000"/>
                </a:solidFill>
                <a:latin typeface="The Seasons"/>
                <a:ea typeface="The Seasons"/>
                <a:cs typeface="The Seasons"/>
                <a:sym typeface="The Seasons"/>
              </a:rPr>
              <a:t>02</a:t>
            </a:r>
          </a:p>
        </p:txBody>
      </p:sp>
      <p:sp>
        <p:nvSpPr>
          <p:cNvPr name="TextBox 10" id="10"/>
          <p:cNvSpPr txBox="true"/>
          <p:nvPr/>
        </p:nvSpPr>
        <p:spPr>
          <a:xfrm rot="0">
            <a:off x="1758196" y="4569103"/>
            <a:ext cx="731751" cy="803310"/>
          </a:xfrm>
          <a:prstGeom prst="rect">
            <a:avLst/>
          </a:prstGeom>
        </p:spPr>
        <p:txBody>
          <a:bodyPr anchor="t" rtlCol="false" tIns="0" lIns="0" bIns="0" rIns="0">
            <a:spAutoFit/>
          </a:bodyPr>
          <a:lstStyle/>
          <a:p>
            <a:pPr algn="ctr">
              <a:lnSpc>
                <a:spcPts val="6123"/>
              </a:lnSpc>
            </a:pPr>
            <a:r>
              <a:rPr lang="en-US" sz="4373">
                <a:solidFill>
                  <a:srgbClr val="000000"/>
                </a:solidFill>
                <a:latin typeface="The Seasons"/>
                <a:ea typeface="The Seasons"/>
                <a:cs typeface="The Seasons"/>
                <a:sym typeface="The Seasons"/>
              </a:rPr>
              <a:t>03</a:t>
            </a:r>
          </a:p>
        </p:txBody>
      </p:sp>
      <p:sp>
        <p:nvSpPr>
          <p:cNvPr name="TextBox 11" id="11"/>
          <p:cNvSpPr txBox="true"/>
          <p:nvPr/>
        </p:nvSpPr>
        <p:spPr>
          <a:xfrm rot="0">
            <a:off x="1758196" y="5374503"/>
            <a:ext cx="731751" cy="803310"/>
          </a:xfrm>
          <a:prstGeom prst="rect">
            <a:avLst/>
          </a:prstGeom>
        </p:spPr>
        <p:txBody>
          <a:bodyPr anchor="t" rtlCol="false" tIns="0" lIns="0" bIns="0" rIns="0">
            <a:spAutoFit/>
          </a:bodyPr>
          <a:lstStyle/>
          <a:p>
            <a:pPr algn="ctr">
              <a:lnSpc>
                <a:spcPts val="6123"/>
              </a:lnSpc>
            </a:pPr>
            <a:r>
              <a:rPr lang="en-US" sz="4373">
                <a:solidFill>
                  <a:srgbClr val="000000"/>
                </a:solidFill>
                <a:latin typeface="The Seasons"/>
                <a:ea typeface="The Seasons"/>
                <a:cs typeface="The Seasons"/>
                <a:sym typeface="The Seasons"/>
              </a:rPr>
              <a:t>04</a:t>
            </a:r>
          </a:p>
        </p:txBody>
      </p:sp>
      <p:sp>
        <p:nvSpPr>
          <p:cNvPr name="TextBox 12" id="12"/>
          <p:cNvSpPr txBox="true"/>
          <p:nvPr/>
        </p:nvSpPr>
        <p:spPr>
          <a:xfrm rot="0">
            <a:off x="1758196" y="6179902"/>
            <a:ext cx="731751" cy="803310"/>
          </a:xfrm>
          <a:prstGeom prst="rect">
            <a:avLst/>
          </a:prstGeom>
        </p:spPr>
        <p:txBody>
          <a:bodyPr anchor="t" rtlCol="false" tIns="0" lIns="0" bIns="0" rIns="0">
            <a:spAutoFit/>
          </a:bodyPr>
          <a:lstStyle/>
          <a:p>
            <a:pPr algn="ctr">
              <a:lnSpc>
                <a:spcPts val="6123"/>
              </a:lnSpc>
            </a:pPr>
            <a:r>
              <a:rPr lang="en-US" sz="4373">
                <a:solidFill>
                  <a:srgbClr val="000000"/>
                </a:solidFill>
                <a:latin typeface="The Seasons"/>
                <a:ea typeface="The Seasons"/>
                <a:cs typeface="The Seasons"/>
                <a:sym typeface="The Seasons"/>
              </a:rPr>
              <a:t>05</a:t>
            </a:r>
          </a:p>
        </p:txBody>
      </p:sp>
      <p:sp>
        <p:nvSpPr>
          <p:cNvPr name="TextBox 13" id="13"/>
          <p:cNvSpPr txBox="true"/>
          <p:nvPr/>
        </p:nvSpPr>
        <p:spPr>
          <a:xfrm rot="0">
            <a:off x="3378607" y="2954889"/>
            <a:ext cx="7568751" cy="1587039"/>
          </a:xfrm>
          <a:prstGeom prst="rect">
            <a:avLst/>
          </a:prstGeom>
        </p:spPr>
        <p:txBody>
          <a:bodyPr anchor="t" rtlCol="false" tIns="0" lIns="0" bIns="0" rIns="0">
            <a:spAutoFit/>
          </a:bodyPr>
          <a:lstStyle/>
          <a:p>
            <a:pPr algn="l">
              <a:lnSpc>
                <a:spcPts val="6123"/>
              </a:lnSpc>
            </a:pPr>
            <a:r>
              <a:rPr lang="en-US" sz="4373">
                <a:solidFill>
                  <a:srgbClr val="000000"/>
                </a:solidFill>
                <a:latin typeface="The Seasons"/>
                <a:ea typeface="The Seasons"/>
                <a:cs typeface="The Seasons"/>
                <a:sym typeface="The Seasons"/>
              </a:rPr>
              <a:t>Tipo de Sentencia de Control</a:t>
            </a:r>
          </a:p>
          <a:p>
            <a:pPr algn="l">
              <a:lnSpc>
                <a:spcPts val="6123"/>
              </a:lnSpc>
            </a:pPr>
          </a:p>
        </p:txBody>
      </p:sp>
      <p:sp>
        <p:nvSpPr>
          <p:cNvPr name="TextBox 14" id="14"/>
          <p:cNvSpPr txBox="true"/>
          <p:nvPr/>
        </p:nvSpPr>
        <p:spPr>
          <a:xfrm rot="0">
            <a:off x="3668517" y="3755332"/>
            <a:ext cx="5527713" cy="809412"/>
          </a:xfrm>
          <a:prstGeom prst="rect">
            <a:avLst/>
          </a:prstGeom>
        </p:spPr>
        <p:txBody>
          <a:bodyPr anchor="t" rtlCol="false" tIns="0" lIns="0" bIns="0" rIns="0">
            <a:spAutoFit/>
          </a:bodyPr>
          <a:lstStyle/>
          <a:p>
            <a:pPr algn="l">
              <a:lnSpc>
                <a:spcPts val="6123"/>
              </a:lnSpc>
            </a:pPr>
            <a:r>
              <a:rPr lang="en-US" sz="4373">
                <a:solidFill>
                  <a:srgbClr val="000000"/>
                </a:solidFill>
                <a:latin typeface="The Seasons"/>
                <a:ea typeface="The Seasons"/>
                <a:cs typeface="The Seasons"/>
                <a:sym typeface="The Seasons"/>
              </a:rPr>
              <a:t>If / If-Else / If-ElseIf</a:t>
            </a:r>
          </a:p>
        </p:txBody>
      </p:sp>
      <p:sp>
        <p:nvSpPr>
          <p:cNvPr name="TextBox 15" id="15"/>
          <p:cNvSpPr txBox="true"/>
          <p:nvPr/>
        </p:nvSpPr>
        <p:spPr>
          <a:xfrm rot="0">
            <a:off x="3616287" y="4569103"/>
            <a:ext cx="5527713" cy="809412"/>
          </a:xfrm>
          <a:prstGeom prst="rect">
            <a:avLst/>
          </a:prstGeom>
        </p:spPr>
        <p:txBody>
          <a:bodyPr anchor="t" rtlCol="false" tIns="0" lIns="0" bIns="0" rIns="0">
            <a:spAutoFit/>
          </a:bodyPr>
          <a:lstStyle/>
          <a:p>
            <a:pPr algn="l">
              <a:lnSpc>
                <a:spcPts val="6123"/>
              </a:lnSpc>
            </a:pPr>
            <a:r>
              <a:rPr lang="en-US" sz="4373">
                <a:solidFill>
                  <a:srgbClr val="000000"/>
                </a:solidFill>
                <a:latin typeface="The Seasons"/>
                <a:ea typeface="The Seasons"/>
                <a:cs typeface="The Seasons"/>
                <a:sym typeface="The Seasons"/>
              </a:rPr>
              <a:t>Select-Case</a:t>
            </a:r>
          </a:p>
        </p:txBody>
      </p:sp>
      <p:sp>
        <p:nvSpPr>
          <p:cNvPr name="TextBox 16" id="16"/>
          <p:cNvSpPr txBox="true"/>
          <p:nvPr/>
        </p:nvSpPr>
        <p:spPr>
          <a:xfrm rot="0">
            <a:off x="3668517" y="5368401"/>
            <a:ext cx="5527713" cy="809412"/>
          </a:xfrm>
          <a:prstGeom prst="rect">
            <a:avLst/>
          </a:prstGeom>
        </p:spPr>
        <p:txBody>
          <a:bodyPr anchor="t" rtlCol="false" tIns="0" lIns="0" bIns="0" rIns="0">
            <a:spAutoFit/>
          </a:bodyPr>
          <a:lstStyle/>
          <a:p>
            <a:pPr algn="l">
              <a:lnSpc>
                <a:spcPts val="6123"/>
              </a:lnSpc>
            </a:pPr>
            <a:r>
              <a:rPr lang="en-US" sz="4373">
                <a:solidFill>
                  <a:srgbClr val="000000"/>
                </a:solidFill>
                <a:latin typeface="The Seasons"/>
                <a:ea typeface="The Seasons"/>
                <a:cs typeface="The Seasons"/>
                <a:sym typeface="The Seasons"/>
              </a:rPr>
              <a:t>Funciones Básicas</a:t>
            </a:r>
          </a:p>
        </p:txBody>
      </p:sp>
      <p:sp>
        <p:nvSpPr>
          <p:cNvPr name="TextBox 17" id="17"/>
          <p:cNvSpPr txBox="true"/>
          <p:nvPr/>
        </p:nvSpPr>
        <p:spPr>
          <a:xfrm rot="0">
            <a:off x="3616287" y="6179902"/>
            <a:ext cx="5527713" cy="809412"/>
          </a:xfrm>
          <a:prstGeom prst="rect">
            <a:avLst/>
          </a:prstGeom>
        </p:spPr>
        <p:txBody>
          <a:bodyPr anchor="t" rtlCol="false" tIns="0" lIns="0" bIns="0" rIns="0">
            <a:spAutoFit/>
          </a:bodyPr>
          <a:lstStyle/>
          <a:p>
            <a:pPr algn="l">
              <a:lnSpc>
                <a:spcPts val="6123"/>
              </a:lnSpc>
            </a:pPr>
            <a:r>
              <a:rPr lang="en-US" sz="4373">
                <a:solidFill>
                  <a:srgbClr val="000000"/>
                </a:solidFill>
                <a:latin typeface="The Seasons"/>
                <a:ea typeface="The Seasons"/>
                <a:cs typeface="The Seasons"/>
                <a:sym typeface="The Seasons"/>
              </a:rPr>
              <a:t>Ejemplo</a:t>
            </a:r>
          </a:p>
        </p:txBody>
      </p:sp>
      <p:sp>
        <p:nvSpPr>
          <p:cNvPr name="TextBox 18" id="18"/>
          <p:cNvSpPr txBox="true"/>
          <p:nvPr/>
        </p:nvSpPr>
        <p:spPr>
          <a:xfrm rot="0">
            <a:off x="-867874" y="1460606"/>
            <a:ext cx="12145888" cy="1295400"/>
          </a:xfrm>
          <a:prstGeom prst="rect">
            <a:avLst/>
          </a:prstGeom>
        </p:spPr>
        <p:txBody>
          <a:bodyPr anchor="t" rtlCol="false" tIns="0" lIns="0" bIns="0" rIns="0">
            <a:spAutoFit/>
          </a:bodyPr>
          <a:lstStyle/>
          <a:p>
            <a:pPr algn="ctr">
              <a:lnSpc>
                <a:spcPts val="7500"/>
              </a:lnSpc>
            </a:pPr>
            <a:r>
              <a:rPr lang="en-US" sz="15000">
                <a:solidFill>
                  <a:srgbClr val="131416"/>
                </a:solidFill>
                <a:latin typeface="Prata"/>
                <a:ea typeface="Prata"/>
                <a:cs typeface="Prata"/>
                <a:sym typeface="Prata"/>
              </a:rPr>
              <a:t>Agenda</a:t>
            </a:r>
          </a:p>
        </p:txBody>
      </p:sp>
      <p:sp>
        <p:nvSpPr>
          <p:cNvPr name="TextBox 19" id="19"/>
          <p:cNvSpPr txBox="true"/>
          <p:nvPr/>
        </p:nvSpPr>
        <p:spPr>
          <a:xfrm rot="0">
            <a:off x="3668517" y="7508497"/>
            <a:ext cx="5527713" cy="808753"/>
          </a:xfrm>
          <a:prstGeom prst="rect">
            <a:avLst/>
          </a:prstGeom>
        </p:spPr>
        <p:txBody>
          <a:bodyPr anchor="t" rtlCol="false" tIns="0" lIns="0" bIns="0" rIns="0">
            <a:spAutoFit/>
          </a:bodyPr>
          <a:lstStyle/>
          <a:p>
            <a:pPr algn="l">
              <a:lnSpc>
                <a:spcPts val="6123"/>
              </a:lnSpc>
            </a:pPr>
            <a:r>
              <a:rPr lang="en-US" sz="4373" b="true">
                <a:solidFill>
                  <a:srgbClr val="000000"/>
                </a:solidFill>
                <a:latin typeface="The Seasons Bold"/>
                <a:ea typeface="The Seasons Bold"/>
                <a:cs typeface="The Seasons Bold"/>
                <a:sym typeface="The Seasons Bold"/>
              </a:rPr>
              <a:t>Recursos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654368"/>
            <a:ext cx="13991101" cy="938698"/>
          </a:xfrm>
          <a:custGeom>
            <a:avLst/>
            <a:gdLst/>
            <a:ahLst/>
            <a:cxnLst/>
            <a:rect r="r" b="b" t="t" l="l"/>
            <a:pathLst>
              <a:path h="938698" w="13991101">
                <a:moveTo>
                  <a:pt x="0" y="0"/>
                </a:moveTo>
                <a:lnTo>
                  <a:pt x="13991101" y="0"/>
                </a:lnTo>
                <a:lnTo>
                  <a:pt x="13991101" y="938698"/>
                </a:lnTo>
                <a:lnTo>
                  <a:pt x="0" y="938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3113989"/>
            <a:ext cx="5234359" cy="7173011"/>
          </a:xfrm>
          <a:custGeom>
            <a:avLst/>
            <a:gdLst/>
            <a:ahLst/>
            <a:cxnLst/>
            <a:rect r="r" b="b" t="t" l="l"/>
            <a:pathLst>
              <a:path h="7173011" w="5234359">
                <a:moveTo>
                  <a:pt x="0" y="0"/>
                </a:moveTo>
                <a:lnTo>
                  <a:pt x="5234359" y="0"/>
                </a:lnTo>
                <a:lnTo>
                  <a:pt x="5234359" y="7173011"/>
                </a:lnTo>
                <a:lnTo>
                  <a:pt x="0" y="7173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140346" y="2938831"/>
            <a:ext cx="5234359" cy="7173011"/>
          </a:xfrm>
          <a:custGeom>
            <a:avLst/>
            <a:gdLst/>
            <a:ahLst/>
            <a:cxnLst/>
            <a:rect r="r" b="b" t="t" l="l"/>
            <a:pathLst>
              <a:path h="7173011" w="5234359">
                <a:moveTo>
                  <a:pt x="0" y="0"/>
                </a:moveTo>
                <a:lnTo>
                  <a:pt x="5234359" y="0"/>
                </a:lnTo>
                <a:lnTo>
                  <a:pt x="5234359" y="7173011"/>
                </a:lnTo>
                <a:lnTo>
                  <a:pt x="0" y="7173011"/>
                </a:lnTo>
                <a:lnTo>
                  <a:pt x="0" y="0"/>
                </a:lnTo>
                <a:close/>
              </a:path>
            </a:pathLst>
          </a:custGeom>
          <a:blipFill>
            <a:blip r:embed="rId6"/>
            <a:stretch>
              <a:fillRect l="0" t="0" r="0" b="0"/>
            </a:stretch>
          </a:blipFill>
        </p:spPr>
      </p:sp>
      <p:sp>
        <p:nvSpPr>
          <p:cNvPr name="TextBox 5" id="5"/>
          <p:cNvSpPr txBox="true"/>
          <p:nvPr/>
        </p:nvSpPr>
        <p:spPr>
          <a:xfrm rot="0">
            <a:off x="1530475" y="914400"/>
            <a:ext cx="15227051" cy="2024431"/>
          </a:xfrm>
          <a:prstGeom prst="rect">
            <a:avLst/>
          </a:prstGeom>
        </p:spPr>
        <p:txBody>
          <a:bodyPr anchor="t" rtlCol="false" tIns="0" lIns="0" bIns="0" rIns="0">
            <a:spAutoFit/>
          </a:bodyPr>
          <a:lstStyle/>
          <a:p>
            <a:pPr algn="ctr">
              <a:lnSpc>
                <a:spcPts val="8117"/>
              </a:lnSpc>
            </a:pPr>
            <a:r>
              <a:rPr lang="en-US" sz="5798">
                <a:solidFill>
                  <a:srgbClr val="131416"/>
                </a:solidFill>
                <a:latin typeface="Prata"/>
                <a:ea typeface="Prata"/>
                <a:cs typeface="Prata"/>
                <a:sym typeface="Prata"/>
              </a:rPr>
              <a:t>COMPETENCIA(S) QUE DESARROLLAREMOS</a:t>
            </a:r>
          </a:p>
        </p:txBody>
      </p:sp>
      <p:sp>
        <p:nvSpPr>
          <p:cNvPr name="TextBox 6" id="6"/>
          <p:cNvSpPr txBox="true"/>
          <p:nvPr/>
        </p:nvSpPr>
        <p:spPr>
          <a:xfrm rot="0">
            <a:off x="3266884" y="3111313"/>
            <a:ext cx="11754232" cy="5103557"/>
          </a:xfrm>
          <a:prstGeom prst="rect">
            <a:avLst/>
          </a:prstGeom>
        </p:spPr>
        <p:txBody>
          <a:bodyPr anchor="t" rtlCol="false" tIns="0" lIns="0" bIns="0" rIns="0">
            <a:spAutoFit/>
          </a:bodyPr>
          <a:lstStyle/>
          <a:p>
            <a:pPr algn="just">
              <a:lnSpc>
                <a:spcPts val="5038"/>
              </a:lnSpc>
            </a:pPr>
            <a:r>
              <a:rPr lang="en-US" sz="2998">
                <a:solidFill>
                  <a:srgbClr val="131416"/>
                </a:solidFill>
                <a:latin typeface="The Seasons"/>
                <a:ea typeface="The Seasons"/>
                <a:cs typeface="The Seasons"/>
                <a:sym typeface="The Seasons"/>
              </a:rPr>
              <a:t>Desarrolla Interfaces gráficas funcionales haciendo uso de controles básicos, como textbox, label, combobox capturar mostrar los datos de forma eficiente </a:t>
            </a:r>
          </a:p>
          <a:p>
            <a:pPr algn="just">
              <a:lnSpc>
                <a:spcPts val="5038"/>
              </a:lnSpc>
            </a:pPr>
          </a:p>
          <a:p>
            <a:pPr algn="just">
              <a:lnSpc>
                <a:spcPts val="5038"/>
              </a:lnSpc>
            </a:pPr>
            <a:r>
              <a:rPr lang="en-US" sz="2998">
                <a:solidFill>
                  <a:srgbClr val="131416"/>
                </a:solidFill>
                <a:latin typeface="The Seasons"/>
                <a:ea typeface="The Seasons"/>
                <a:cs typeface="The Seasons"/>
                <a:sym typeface="The Seasons"/>
              </a:rPr>
              <a:t>Implementa Estructuras de Control procedimientos en VB.NET mediante variables condicionales ciclos para desarrollar soluciones informáticas que automaticen procesos de gestión de datos </a:t>
            </a:r>
          </a:p>
          <a:p>
            <a:pPr algn="just">
              <a:lnSpc>
                <a:spcPts val="5038"/>
              </a:lnSpc>
            </a:pPr>
          </a:p>
        </p:txBody>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8" id="8"/>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25589" y="1331973"/>
            <a:ext cx="11228019" cy="1199835"/>
          </a:xfrm>
          <a:prstGeom prst="rect">
            <a:avLst/>
          </a:prstGeom>
        </p:spPr>
        <p:txBody>
          <a:bodyPr anchor="t" rtlCol="false" tIns="0" lIns="0" bIns="0" rIns="0">
            <a:spAutoFit/>
          </a:bodyPr>
          <a:lstStyle/>
          <a:p>
            <a:pPr algn="ctr">
              <a:lnSpc>
                <a:spcPts val="10246"/>
              </a:lnSpc>
              <a:spcBef>
                <a:spcPct val="0"/>
              </a:spcBef>
            </a:pPr>
            <a:r>
              <a:rPr lang="en-US" sz="6098">
                <a:solidFill>
                  <a:srgbClr val="000000"/>
                </a:solidFill>
                <a:latin typeface="Prata"/>
                <a:ea typeface="Prata"/>
                <a:cs typeface="Prata"/>
                <a:sym typeface="Prata"/>
              </a:rPr>
              <a:t>Sentencias de contr</a:t>
            </a:r>
            <a:r>
              <a:rPr lang="en-US" sz="6098">
                <a:solidFill>
                  <a:srgbClr val="000000"/>
                </a:solidFill>
                <a:latin typeface="Prata"/>
                <a:ea typeface="Prata"/>
                <a:cs typeface="Prata"/>
                <a:sym typeface="Prata"/>
              </a:rPr>
              <a:t>ol del flujo</a:t>
            </a:r>
          </a:p>
        </p:txBody>
      </p:sp>
      <p:sp>
        <p:nvSpPr>
          <p:cNvPr name="TextBox 3" id="3"/>
          <p:cNvSpPr txBox="true"/>
          <p:nvPr/>
        </p:nvSpPr>
        <p:spPr>
          <a:xfrm rot="0">
            <a:off x="2244394" y="3077009"/>
            <a:ext cx="13799212" cy="3287711"/>
          </a:xfrm>
          <a:prstGeom prst="rect">
            <a:avLst/>
          </a:prstGeom>
        </p:spPr>
        <p:txBody>
          <a:bodyPr anchor="t" rtlCol="false" tIns="0" lIns="0" bIns="0" rIns="0">
            <a:spAutoFit/>
          </a:bodyPr>
          <a:lstStyle/>
          <a:p>
            <a:pPr algn="just">
              <a:lnSpc>
                <a:spcPts val="5206"/>
              </a:lnSpc>
              <a:spcBef>
                <a:spcPct val="0"/>
              </a:spcBef>
            </a:pPr>
            <a:r>
              <a:rPr lang="en-US" sz="3098">
                <a:solidFill>
                  <a:srgbClr val="000000"/>
                </a:solidFill>
                <a:latin typeface="The Seasons"/>
                <a:ea typeface="The Seasons"/>
                <a:cs typeface="The Seasons"/>
                <a:sym typeface="The Seasons"/>
              </a:rPr>
              <a:t>Hasta</a:t>
            </a:r>
            <a:r>
              <a:rPr lang="en-US" sz="3098">
                <a:solidFill>
                  <a:srgbClr val="000000"/>
                </a:solidFill>
                <a:latin typeface="The Seasons"/>
                <a:ea typeface="The Seasons"/>
                <a:cs typeface="The Seasons"/>
                <a:sym typeface="The Seasons"/>
              </a:rPr>
              <a:t> ahora un programa no era más que una secuencia de instrucciones que son ejecutadas en el orden en que son formuladas. Además, si quisieramos que un conjunto de ellas se repitiera varias veces, no tenemos más remedio que escribirlas varias veces. </a:t>
            </a:r>
          </a:p>
          <a:p>
            <a:pPr algn="just">
              <a:lnSpc>
                <a:spcPts val="5206"/>
              </a:lnSpc>
              <a:spcBef>
                <a:spcPct val="0"/>
              </a:spcBef>
            </a:pPr>
          </a:p>
        </p:txBody>
      </p:sp>
      <p:sp>
        <p:nvSpPr>
          <p:cNvPr name="Freeform 4" id="4"/>
          <p:cNvSpPr/>
          <p:nvPr/>
        </p:nvSpPr>
        <p:spPr>
          <a:xfrm flipH="false" flipV="false" rot="0">
            <a:off x="12317259" y="5792847"/>
            <a:ext cx="5114490" cy="3186578"/>
          </a:xfrm>
          <a:custGeom>
            <a:avLst/>
            <a:gdLst/>
            <a:ahLst/>
            <a:cxnLst/>
            <a:rect r="r" b="b" t="t" l="l"/>
            <a:pathLst>
              <a:path h="3186578" w="5114490">
                <a:moveTo>
                  <a:pt x="0" y="0"/>
                </a:moveTo>
                <a:lnTo>
                  <a:pt x="5114490" y="0"/>
                </a:lnTo>
                <a:lnTo>
                  <a:pt x="5114490" y="3186578"/>
                </a:lnTo>
                <a:lnTo>
                  <a:pt x="0" y="3186578"/>
                </a:lnTo>
                <a:lnTo>
                  <a:pt x="0" y="0"/>
                </a:lnTo>
                <a:close/>
              </a:path>
            </a:pathLst>
          </a:custGeom>
          <a:blipFill>
            <a:blip r:embed="rId2"/>
            <a:stretch>
              <a:fillRect l="0" t="0" r="0" b="0"/>
            </a:stretch>
          </a:blipFill>
        </p:spPr>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79391" y="1673941"/>
            <a:ext cx="4868889" cy="6939118"/>
          </a:xfrm>
          <a:custGeom>
            <a:avLst/>
            <a:gdLst/>
            <a:ahLst/>
            <a:cxnLst/>
            <a:rect r="r" b="b" t="t" l="l"/>
            <a:pathLst>
              <a:path h="6939118" w="4868889">
                <a:moveTo>
                  <a:pt x="0" y="0"/>
                </a:moveTo>
                <a:lnTo>
                  <a:pt x="4868890" y="0"/>
                </a:lnTo>
                <a:lnTo>
                  <a:pt x="4868890" y="6939118"/>
                </a:lnTo>
                <a:lnTo>
                  <a:pt x="0" y="6939118"/>
                </a:lnTo>
                <a:lnTo>
                  <a:pt x="0" y="0"/>
                </a:lnTo>
                <a:close/>
              </a:path>
            </a:pathLst>
          </a:custGeom>
          <a:blipFill>
            <a:blip r:embed="rId2"/>
            <a:stretch>
              <a:fillRect l="0" t="-8525" r="0" b="-17050"/>
            </a:stretch>
          </a:blipFill>
        </p:spPr>
      </p:sp>
      <p:sp>
        <p:nvSpPr>
          <p:cNvPr name="TextBox 3" id="3"/>
          <p:cNvSpPr txBox="true"/>
          <p:nvPr/>
        </p:nvSpPr>
        <p:spPr>
          <a:xfrm rot="0">
            <a:off x="1953443" y="1783448"/>
            <a:ext cx="8978386" cy="7334312"/>
          </a:xfrm>
          <a:prstGeom prst="rect">
            <a:avLst/>
          </a:prstGeom>
        </p:spPr>
        <p:txBody>
          <a:bodyPr anchor="t" rtlCol="false" tIns="0" lIns="0" bIns="0" rIns="0">
            <a:spAutoFit/>
          </a:bodyPr>
          <a:lstStyle/>
          <a:p>
            <a:pPr algn="just">
              <a:lnSpc>
                <a:spcPts val="4198"/>
              </a:lnSpc>
              <a:spcBef>
                <a:spcPct val="0"/>
              </a:spcBef>
            </a:pPr>
            <a:r>
              <a:rPr lang="en-US" sz="2499">
                <a:solidFill>
                  <a:srgbClr val="000000"/>
                </a:solidFill>
                <a:latin typeface="The Seasons"/>
                <a:ea typeface="The Seasons"/>
                <a:cs typeface="The Seasons"/>
                <a:sym typeface="The Seasons"/>
              </a:rPr>
              <a:t>El orden de ejecución de las sentencias es lo que se conoce por el flujo del programa, y se puede variar a voluntad utilizando las sentencias de control de flujo, con las que es muy fácil alterarlo para adecuarlo a nuestras necesidades. Esto es lo que hace potentes a los lenguajes de programación. Básicamente, existen tres tipos de sentencias:</a:t>
            </a:r>
          </a:p>
          <a:p>
            <a:pPr algn="just">
              <a:lnSpc>
                <a:spcPts val="4198"/>
              </a:lnSpc>
              <a:spcBef>
                <a:spcPct val="0"/>
              </a:spcBef>
            </a:pPr>
          </a:p>
          <a:p>
            <a:pPr algn="just" marL="539534" indent="-269767" lvl="1">
              <a:lnSpc>
                <a:spcPts val="4198"/>
              </a:lnSpc>
              <a:buFont typeface="Arial"/>
              <a:buChar char="•"/>
            </a:pPr>
            <a:r>
              <a:rPr lang="en-US" sz="2499">
                <a:solidFill>
                  <a:srgbClr val="000000"/>
                </a:solidFill>
                <a:latin typeface="The Seasons"/>
                <a:ea typeface="The Seasons"/>
                <a:cs typeface="The Seasons"/>
                <a:sym typeface="The Seasons"/>
              </a:rPr>
              <a:t>secuencial</a:t>
            </a:r>
          </a:p>
          <a:p>
            <a:pPr algn="just" marL="539534" indent="-269767" lvl="1">
              <a:lnSpc>
                <a:spcPts val="4198"/>
              </a:lnSpc>
              <a:buFont typeface="Arial"/>
              <a:buChar char="•"/>
            </a:pPr>
            <a:r>
              <a:rPr lang="en-US" sz="2499">
                <a:solidFill>
                  <a:srgbClr val="000000"/>
                </a:solidFill>
                <a:latin typeface="The Seasons"/>
                <a:ea typeface="The Seasons"/>
                <a:cs typeface="The Seasons"/>
                <a:sym typeface="The Seasons"/>
              </a:rPr>
              <a:t>condicional </a:t>
            </a:r>
          </a:p>
          <a:p>
            <a:pPr algn="just" marL="539534" indent="-269767" lvl="1">
              <a:lnSpc>
                <a:spcPts val="4198"/>
              </a:lnSpc>
              <a:buFont typeface="Arial"/>
              <a:buChar char="•"/>
            </a:pPr>
            <a:r>
              <a:rPr lang="en-US" sz="2499">
                <a:solidFill>
                  <a:srgbClr val="000000"/>
                </a:solidFill>
                <a:latin typeface="The Seasons"/>
                <a:ea typeface="The Seasons"/>
                <a:cs typeface="The Seasons"/>
                <a:sym typeface="The Seasons"/>
              </a:rPr>
              <a:t>iterativa </a:t>
            </a:r>
          </a:p>
          <a:p>
            <a:pPr algn="just">
              <a:lnSpc>
                <a:spcPts val="4198"/>
              </a:lnSpc>
              <a:spcBef>
                <a:spcPct val="0"/>
              </a:spcBef>
            </a:pPr>
          </a:p>
          <a:p>
            <a:pPr algn="just">
              <a:lnSpc>
                <a:spcPts val="4198"/>
              </a:lnSpc>
              <a:spcBef>
                <a:spcPct val="0"/>
              </a:spcBef>
            </a:pPr>
            <a:r>
              <a:rPr lang="en-US" sz="2499">
                <a:solidFill>
                  <a:srgbClr val="000000"/>
                </a:solidFill>
                <a:latin typeface="The Seasons"/>
                <a:ea typeface="The Seasons"/>
                <a:cs typeface="The Seasons"/>
                <a:sym typeface="The Seasons"/>
              </a:rPr>
              <a:t>Con ellas se puede escribir cualquier programa.</a:t>
            </a:r>
          </a:p>
          <a:p>
            <a:pPr algn="just">
              <a:lnSpc>
                <a:spcPts val="4198"/>
              </a:lnSpc>
              <a:spcBef>
                <a:spcPct val="0"/>
              </a:spcBef>
            </a:pPr>
          </a:p>
          <a:p>
            <a:pPr algn="just">
              <a:lnSpc>
                <a:spcPts val="4198"/>
              </a:lnSpc>
              <a:spcBef>
                <a:spcPct val="0"/>
              </a:spcBef>
            </a:pPr>
          </a:p>
        </p:txBody>
      </p:sp>
      <p:sp>
        <p:nvSpPr>
          <p:cNvPr name="AutoShape 4" id="4"/>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2036125" y="628650"/>
            <a:ext cx="5489741" cy="1412020"/>
          </a:xfrm>
          <a:prstGeom prst="rect">
            <a:avLst/>
          </a:prstGeom>
        </p:spPr>
        <p:txBody>
          <a:bodyPr anchor="t" rtlCol="false" tIns="0" lIns="0" bIns="0" rIns="0">
            <a:spAutoFit/>
          </a:bodyPr>
          <a:lstStyle/>
          <a:p>
            <a:pPr algn="l">
              <a:lnSpc>
                <a:spcPts val="10897"/>
              </a:lnSpc>
            </a:pPr>
            <a:r>
              <a:rPr lang="en-US" sz="7783">
                <a:solidFill>
                  <a:srgbClr val="000000"/>
                </a:solidFill>
                <a:latin typeface="The Seasons"/>
                <a:ea typeface="The Seasons"/>
                <a:cs typeface="The Seasons"/>
                <a:sym typeface="The Seasons"/>
              </a:rPr>
              <a:t>Ejemplo</a:t>
            </a:r>
          </a:p>
        </p:txBody>
      </p:sp>
      <p:sp>
        <p:nvSpPr>
          <p:cNvPr name="AutoShape 5" id="5"/>
          <p:cNvSpPr/>
          <p:nvPr/>
        </p:nvSpPr>
        <p:spPr>
          <a:xfrm rot="0">
            <a:off x="1009650" y="2895878"/>
            <a:ext cx="17278350"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1352550" y="3067299"/>
            <a:ext cx="2501221" cy="654233"/>
          </a:xfrm>
          <a:prstGeom prst="rect">
            <a:avLst/>
          </a:prstGeom>
        </p:spPr>
        <p:txBody>
          <a:bodyPr anchor="t" rtlCol="false" tIns="0" lIns="0" bIns="0" rIns="0">
            <a:spAutoFit/>
          </a:bodyPr>
          <a:lstStyle/>
          <a:p>
            <a:pPr algn="l">
              <a:lnSpc>
                <a:spcPts val="4964"/>
              </a:lnSpc>
            </a:pPr>
            <a:r>
              <a:rPr lang="en-US" sz="3546" b="true">
                <a:solidFill>
                  <a:srgbClr val="000000"/>
                </a:solidFill>
                <a:latin typeface="The Seasons Bold"/>
                <a:ea typeface="The Seasons Bold"/>
                <a:cs typeface="The Seasons Bold"/>
                <a:sym typeface="The Seasons Bold"/>
              </a:rPr>
              <a:t>Secuencia</a:t>
            </a:r>
          </a:p>
        </p:txBody>
      </p:sp>
      <p:sp>
        <p:nvSpPr>
          <p:cNvPr name="TextBox 7" id="7"/>
          <p:cNvSpPr txBox="true"/>
          <p:nvPr/>
        </p:nvSpPr>
        <p:spPr>
          <a:xfrm rot="0">
            <a:off x="9949922" y="3067299"/>
            <a:ext cx="3749048" cy="654233"/>
          </a:xfrm>
          <a:prstGeom prst="rect">
            <a:avLst/>
          </a:prstGeom>
        </p:spPr>
        <p:txBody>
          <a:bodyPr anchor="t" rtlCol="false" tIns="0" lIns="0" bIns="0" rIns="0">
            <a:spAutoFit/>
          </a:bodyPr>
          <a:lstStyle/>
          <a:p>
            <a:pPr algn="l">
              <a:lnSpc>
                <a:spcPts val="4964"/>
              </a:lnSpc>
            </a:pPr>
            <a:r>
              <a:rPr lang="en-US" sz="3546" b="true">
                <a:solidFill>
                  <a:srgbClr val="000000"/>
                </a:solidFill>
                <a:latin typeface="The Seasons Bold"/>
                <a:ea typeface="The Seasons Bold"/>
                <a:cs typeface="The Seasons Bold"/>
                <a:sym typeface="The Seasons Bold"/>
              </a:rPr>
              <a:t>Selección Simple</a:t>
            </a:r>
          </a:p>
        </p:txBody>
      </p:sp>
      <p:sp>
        <p:nvSpPr>
          <p:cNvPr name="AutoShape 8" id="8"/>
          <p:cNvSpPr/>
          <p:nvPr/>
        </p:nvSpPr>
        <p:spPr>
          <a:xfrm rot="-5405154">
            <a:off x="6435332" y="6072327"/>
            <a:ext cx="6352904" cy="0"/>
          </a:xfrm>
          <a:prstGeom prst="line">
            <a:avLst/>
          </a:prstGeom>
          <a:ln cap="flat" w="19050">
            <a:solidFill>
              <a:srgbClr val="000000"/>
            </a:solidFill>
            <a:prstDash val="solid"/>
            <a:headEnd type="none" len="sm" w="sm"/>
            <a:tailEnd type="none" len="sm" w="sm"/>
          </a:ln>
        </p:spPr>
      </p:sp>
      <p:sp>
        <p:nvSpPr>
          <p:cNvPr name="AutoShape 9" id="9"/>
          <p:cNvSpPr/>
          <p:nvPr/>
        </p:nvSpPr>
        <p:spPr>
          <a:xfrm rot="0">
            <a:off x="1028700" y="3972044"/>
            <a:ext cx="17278350" cy="0"/>
          </a:xfrm>
          <a:prstGeom prst="line">
            <a:avLst/>
          </a:prstGeom>
          <a:ln cap="flat" w="19050">
            <a:solidFill>
              <a:srgbClr val="000000"/>
            </a:solidFill>
            <a:prstDash val="solid"/>
            <a:headEnd type="none" len="sm" w="sm"/>
            <a:tailEnd type="none" len="sm" w="sm"/>
          </a:ln>
        </p:spPr>
      </p:sp>
      <p:sp>
        <p:nvSpPr>
          <p:cNvPr name="TextBox 10" id="10"/>
          <p:cNvSpPr txBox="true"/>
          <p:nvPr/>
        </p:nvSpPr>
        <p:spPr>
          <a:xfrm rot="0">
            <a:off x="1352550" y="4038719"/>
            <a:ext cx="6579933" cy="2137768"/>
          </a:xfrm>
          <a:prstGeom prst="rect">
            <a:avLst/>
          </a:prstGeom>
        </p:spPr>
        <p:txBody>
          <a:bodyPr anchor="t" rtlCol="false" tIns="0" lIns="0" bIns="0" rIns="0">
            <a:spAutoFit/>
          </a:bodyPr>
          <a:lstStyle/>
          <a:p>
            <a:pPr algn="l">
              <a:lnSpc>
                <a:spcPts val="5660"/>
              </a:lnSpc>
              <a:spcBef>
                <a:spcPct val="0"/>
              </a:spcBef>
            </a:pPr>
            <a:r>
              <a:rPr lang="en-US" sz="3369">
                <a:solidFill>
                  <a:srgbClr val="000000"/>
                </a:solidFill>
                <a:latin typeface="The Seasons"/>
                <a:ea typeface="The Seasons"/>
                <a:cs typeface="The Seasons"/>
                <a:sym typeface="The Seasons"/>
              </a:rPr>
              <a:t>Es una serie de pasos. </a:t>
            </a:r>
          </a:p>
          <a:p>
            <a:pPr algn="l">
              <a:lnSpc>
                <a:spcPts val="5660"/>
              </a:lnSpc>
              <a:spcBef>
                <a:spcPct val="0"/>
              </a:spcBef>
            </a:pPr>
            <a:r>
              <a:rPr lang="en-US" sz="3369">
                <a:solidFill>
                  <a:srgbClr val="000000"/>
                </a:solidFill>
                <a:latin typeface="The Seasons"/>
                <a:ea typeface="The Seasons"/>
                <a:cs typeface="The Seasons"/>
                <a:sym typeface="The Seasons"/>
              </a:rPr>
              <a:t>Puede ser solo un paso.</a:t>
            </a:r>
          </a:p>
          <a:p>
            <a:pPr algn="l">
              <a:lnSpc>
                <a:spcPts val="5660"/>
              </a:lnSpc>
              <a:spcBef>
                <a:spcPct val="0"/>
              </a:spcBef>
            </a:pPr>
          </a:p>
        </p:txBody>
      </p:sp>
      <p:sp>
        <p:nvSpPr>
          <p:cNvPr name="TextBox 11" id="11"/>
          <p:cNvSpPr txBox="true"/>
          <p:nvPr/>
        </p:nvSpPr>
        <p:spPr>
          <a:xfrm rot="0">
            <a:off x="9949922" y="4048244"/>
            <a:ext cx="7490055" cy="1973261"/>
          </a:xfrm>
          <a:prstGeom prst="rect">
            <a:avLst/>
          </a:prstGeom>
        </p:spPr>
        <p:txBody>
          <a:bodyPr anchor="t" rtlCol="false" tIns="0" lIns="0" bIns="0" rIns="0">
            <a:spAutoFit/>
          </a:bodyPr>
          <a:lstStyle/>
          <a:p>
            <a:pPr algn="just">
              <a:lnSpc>
                <a:spcPts val="5206"/>
              </a:lnSpc>
              <a:spcBef>
                <a:spcPct val="0"/>
              </a:spcBef>
            </a:pPr>
            <a:r>
              <a:rPr lang="en-US" sz="3098">
                <a:solidFill>
                  <a:srgbClr val="000000"/>
                </a:solidFill>
                <a:latin typeface="The Seasons"/>
                <a:ea typeface="The Seasons"/>
                <a:cs typeface="The Seasons"/>
                <a:sym typeface="The Seasons"/>
              </a:rPr>
              <a:t>Se especifica si una condicion es verdadera se hace la primer secuencia de paso, si no se realiza la otra</a:t>
            </a:r>
          </a:p>
        </p:txBody>
      </p:sp>
      <p:sp>
        <p:nvSpPr>
          <p:cNvPr name="Freeform 12" id="12"/>
          <p:cNvSpPr/>
          <p:nvPr/>
        </p:nvSpPr>
        <p:spPr>
          <a:xfrm flipH="false" flipV="false" rot="0">
            <a:off x="3853771" y="5544780"/>
            <a:ext cx="3557935" cy="3519781"/>
          </a:xfrm>
          <a:custGeom>
            <a:avLst/>
            <a:gdLst/>
            <a:ahLst/>
            <a:cxnLst/>
            <a:rect r="r" b="b" t="t" l="l"/>
            <a:pathLst>
              <a:path h="3519781" w="3557935">
                <a:moveTo>
                  <a:pt x="0" y="0"/>
                </a:moveTo>
                <a:lnTo>
                  <a:pt x="3557935" y="0"/>
                </a:lnTo>
                <a:lnTo>
                  <a:pt x="3557935" y="3519780"/>
                </a:lnTo>
                <a:lnTo>
                  <a:pt x="0" y="3519780"/>
                </a:lnTo>
                <a:lnTo>
                  <a:pt x="0" y="0"/>
                </a:lnTo>
                <a:close/>
              </a:path>
            </a:pathLst>
          </a:custGeom>
          <a:blipFill>
            <a:blip r:embed="rId2"/>
            <a:stretch>
              <a:fillRect l="0" t="0" r="0" b="0"/>
            </a:stretch>
          </a:blipFill>
        </p:spPr>
      </p:sp>
      <p:sp>
        <p:nvSpPr>
          <p:cNvPr name="Freeform 13" id="13"/>
          <p:cNvSpPr/>
          <p:nvPr/>
        </p:nvSpPr>
        <p:spPr>
          <a:xfrm flipH="false" flipV="false" rot="0">
            <a:off x="11462215" y="6191885"/>
            <a:ext cx="4473510" cy="1112786"/>
          </a:xfrm>
          <a:custGeom>
            <a:avLst/>
            <a:gdLst/>
            <a:ahLst/>
            <a:cxnLst/>
            <a:rect r="r" b="b" t="t" l="l"/>
            <a:pathLst>
              <a:path h="1112786" w="4473510">
                <a:moveTo>
                  <a:pt x="0" y="0"/>
                </a:moveTo>
                <a:lnTo>
                  <a:pt x="4473509" y="0"/>
                </a:lnTo>
                <a:lnTo>
                  <a:pt x="4473509" y="1112785"/>
                </a:lnTo>
                <a:lnTo>
                  <a:pt x="0" y="1112785"/>
                </a:lnTo>
                <a:lnTo>
                  <a:pt x="0" y="0"/>
                </a:lnTo>
                <a:close/>
              </a:path>
            </a:pathLst>
          </a:custGeom>
          <a:blipFill>
            <a:blip r:embed="rId3"/>
            <a:stretch>
              <a:fillRect l="0" t="0" r="0" b="0"/>
            </a:stretch>
          </a:blipFill>
        </p:spPr>
      </p:sp>
      <p:sp>
        <p:nvSpPr>
          <p:cNvPr name="Freeform 14" id="14"/>
          <p:cNvSpPr/>
          <p:nvPr/>
        </p:nvSpPr>
        <p:spPr>
          <a:xfrm flipH="false" flipV="false" rot="0">
            <a:off x="11462215" y="7396830"/>
            <a:ext cx="4473510" cy="1750261"/>
          </a:xfrm>
          <a:custGeom>
            <a:avLst/>
            <a:gdLst/>
            <a:ahLst/>
            <a:cxnLst/>
            <a:rect r="r" b="b" t="t" l="l"/>
            <a:pathLst>
              <a:path h="1750261" w="4473510">
                <a:moveTo>
                  <a:pt x="0" y="0"/>
                </a:moveTo>
                <a:lnTo>
                  <a:pt x="4473509" y="0"/>
                </a:lnTo>
                <a:lnTo>
                  <a:pt x="4473509" y="1750260"/>
                </a:lnTo>
                <a:lnTo>
                  <a:pt x="0" y="1750260"/>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2036125" y="628650"/>
            <a:ext cx="5489741" cy="1412020"/>
          </a:xfrm>
          <a:prstGeom prst="rect">
            <a:avLst/>
          </a:prstGeom>
        </p:spPr>
        <p:txBody>
          <a:bodyPr anchor="t" rtlCol="false" tIns="0" lIns="0" bIns="0" rIns="0">
            <a:spAutoFit/>
          </a:bodyPr>
          <a:lstStyle/>
          <a:p>
            <a:pPr algn="l">
              <a:lnSpc>
                <a:spcPts val="10897"/>
              </a:lnSpc>
            </a:pPr>
            <a:r>
              <a:rPr lang="en-US" sz="7783">
                <a:solidFill>
                  <a:srgbClr val="000000"/>
                </a:solidFill>
                <a:latin typeface="The Seasons"/>
                <a:ea typeface="The Seasons"/>
                <a:cs typeface="The Seasons"/>
                <a:sym typeface="The Seasons"/>
              </a:rPr>
              <a:t>Ejemplo</a:t>
            </a:r>
          </a:p>
        </p:txBody>
      </p:sp>
      <p:sp>
        <p:nvSpPr>
          <p:cNvPr name="AutoShape 5" id="5"/>
          <p:cNvSpPr/>
          <p:nvPr/>
        </p:nvSpPr>
        <p:spPr>
          <a:xfrm rot="0">
            <a:off x="1009650" y="2895878"/>
            <a:ext cx="17278350"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1352550" y="3067299"/>
            <a:ext cx="2501221" cy="654233"/>
          </a:xfrm>
          <a:prstGeom prst="rect">
            <a:avLst/>
          </a:prstGeom>
        </p:spPr>
        <p:txBody>
          <a:bodyPr anchor="t" rtlCol="false" tIns="0" lIns="0" bIns="0" rIns="0">
            <a:spAutoFit/>
          </a:bodyPr>
          <a:lstStyle/>
          <a:p>
            <a:pPr algn="l">
              <a:lnSpc>
                <a:spcPts val="4964"/>
              </a:lnSpc>
            </a:pPr>
            <a:r>
              <a:rPr lang="en-US" sz="3546" b="true">
                <a:solidFill>
                  <a:srgbClr val="000000"/>
                </a:solidFill>
                <a:latin typeface="The Seasons Bold"/>
                <a:ea typeface="The Seasons Bold"/>
                <a:cs typeface="The Seasons Bold"/>
                <a:sym typeface="The Seasons Bold"/>
              </a:rPr>
              <a:t>Repetir</a:t>
            </a:r>
          </a:p>
        </p:txBody>
      </p:sp>
      <p:sp>
        <p:nvSpPr>
          <p:cNvPr name="TextBox 7" id="7"/>
          <p:cNvSpPr txBox="true"/>
          <p:nvPr/>
        </p:nvSpPr>
        <p:spPr>
          <a:xfrm rot="0">
            <a:off x="9949922" y="3067299"/>
            <a:ext cx="3749048" cy="654233"/>
          </a:xfrm>
          <a:prstGeom prst="rect">
            <a:avLst/>
          </a:prstGeom>
        </p:spPr>
        <p:txBody>
          <a:bodyPr anchor="t" rtlCol="false" tIns="0" lIns="0" bIns="0" rIns="0">
            <a:spAutoFit/>
          </a:bodyPr>
          <a:lstStyle/>
          <a:p>
            <a:pPr algn="l">
              <a:lnSpc>
                <a:spcPts val="4964"/>
              </a:lnSpc>
            </a:pPr>
            <a:r>
              <a:rPr lang="en-US" sz="3546" b="true">
                <a:solidFill>
                  <a:srgbClr val="000000"/>
                </a:solidFill>
                <a:latin typeface="The Seasons Bold"/>
                <a:ea typeface="The Seasons Bold"/>
                <a:cs typeface="The Seasons Bold"/>
                <a:sym typeface="The Seasons Bold"/>
              </a:rPr>
              <a:t>Mientras</a:t>
            </a:r>
          </a:p>
        </p:txBody>
      </p:sp>
      <p:sp>
        <p:nvSpPr>
          <p:cNvPr name="AutoShape 8" id="8"/>
          <p:cNvSpPr/>
          <p:nvPr/>
        </p:nvSpPr>
        <p:spPr>
          <a:xfrm rot="-5405154">
            <a:off x="6435332" y="6072327"/>
            <a:ext cx="6352904" cy="0"/>
          </a:xfrm>
          <a:prstGeom prst="line">
            <a:avLst/>
          </a:prstGeom>
          <a:ln cap="flat" w="19050">
            <a:solidFill>
              <a:srgbClr val="000000"/>
            </a:solidFill>
            <a:prstDash val="solid"/>
            <a:headEnd type="none" len="sm" w="sm"/>
            <a:tailEnd type="none" len="sm" w="sm"/>
          </a:ln>
        </p:spPr>
      </p:sp>
      <p:sp>
        <p:nvSpPr>
          <p:cNvPr name="AutoShape 9" id="9"/>
          <p:cNvSpPr/>
          <p:nvPr/>
        </p:nvSpPr>
        <p:spPr>
          <a:xfrm rot="0">
            <a:off x="1028700" y="3972044"/>
            <a:ext cx="17278350" cy="0"/>
          </a:xfrm>
          <a:prstGeom prst="line">
            <a:avLst/>
          </a:prstGeom>
          <a:ln cap="flat" w="19050">
            <a:solidFill>
              <a:srgbClr val="000000"/>
            </a:solidFill>
            <a:prstDash val="solid"/>
            <a:headEnd type="none" len="sm" w="sm"/>
            <a:tailEnd type="none" len="sm" w="sm"/>
          </a:ln>
        </p:spPr>
      </p:sp>
      <p:sp>
        <p:nvSpPr>
          <p:cNvPr name="TextBox 10" id="10"/>
          <p:cNvSpPr txBox="true"/>
          <p:nvPr/>
        </p:nvSpPr>
        <p:spPr>
          <a:xfrm rot="0">
            <a:off x="1352550" y="4038719"/>
            <a:ext cx="6579933" cy="2852143"/>
          </a:xfrm>
          <a:prstGeom prst="rect">
            <a:avLst/>
          </a:prstGeom>
        </p:spPr>
        <p:txBody>
          <a:bodyPr anchor="t" rtlCol="false" tIns="0" lIns="0" bIns="0" rIns="0">
            <a:spAutoFit/>
          </a:bodyPr>
          <a:lstStyle/>
          <a:p>
            <a:pPr algn="just">
              <a:lnSpc>
                <a:spcPts val="5660"/>
              </a:lnSpc>
              <a:spcBef>
                <a:spcPct val="0"/>
              </a:spcBef>
            </a:pPr>
            <a:r>
              <a:rPr lang="en-US" sz="3369">
                <a:solidFill>
                  <a:srgbClr val="000000"/>
                </a:solidFill>
                <a:latin typeface="The Seasons"/>
                <a:ea typeface="The Seasons"/>
                <a:cs typeface="The Seasons"/>
                <a:sym typeface="The Seasons"/>
              </a:rPr>
              <a:t>Permite llevar a cabo la secuencia de pasos al menos una vez, repetiendola hasta que se cumpla la condición.</a:t>
            </a:r>
          </a:p>
        </p:txBody>
      </p:sp>
      <p:sp>
        <p:nvSpPr>
          <p:cNvPr name="TextBox 11" id="11"/>
          <p:cNvSpPr txBox="true"/>
          <p:nvPr/>
        </p:nvSpPr>
        <p:spPr>
          <a:xfrm rot="0">
            <a:off x="9949922" y="4048244"/>
            <a:ext cx="7490055" cy="1316036"/>
          </a:xfrm>
          <a:prstGeom prst="rect">
            <a:avLst/>
          </a:prstGeom>
        </p:spPr>
        <p:txBody>
          <a:bodyPr anchor="t" rtlCol="false" tIns="0" lIns="0" bIns="0" rIns="0">
            <a:spAutoFit/>
          </a:bodyPr>
          <a:lstStyle/>
          <a:p>
            <a:pPr algn="just">
              <a:lnSpc>
                <a:spcPts val="5206"/>
              </a:lnSpc>
              <a:spcBef>
                <a:spcPct val="0"/>
              </a:spcBef>
            </a:pPr>
            <a:r>
              <a:rPr lang="en-US" sz="3098">
                <a:solidFill>
                  <a:srgbClr val="000000"/>
                </a:solidFill>
                <a:latin typeface="The Seasons"/>
                <a:ea typeface="The Seasons"/>
                <a:cs typeface="The Seasons"/>
                <a:sym typeface="The Seasons"/>
              </a:rPr>
              <a:t>Repite una secuencia de pasos, mientras se cumpla la condición.</a:t>
            </a:r>
          </a:p>
        </p:txBody>
      </p:sp>
      <p:sp>
        <p:nvSpPr>
          <p:cNvPr name="Freeform 12" id="12"/>
          <p:cNvSpPr/>
          <p:nvPr/>
        </p:nvSpPr>
        <p:spPr>
          <a:xfrm flipH="false" flipV="false" rot="0">
            <a:off x="3853771" y="6304169"/>
            <a:ext cx="5368672" cy="2751444"/>
          </a:xfrm>
          <a:custGeom>
            <a:avLst/>
            <a:gdLst/>
            <a:ahLst/>
            <a:cxnLst/>
            <a:rect r="r" b="b" t="t" l="l"/>
            <a:pathLst>
              <a:path h="2751444" w="5368672">
                <a:moveTo>
                  <a:pt x="0" y="0"/>
                </a:moveTo>
                <a:lnTo>
                  <a:pt x="5368672" y="0"/>
                </a:lnTo>
                <a:lnTo>
                  <a:pt x="5368672" y="2751444"/>
                </a:lnTo>
                <a:lnTo>
                  <a:pt x="0" y="2751444"/>
                </a:lnTo>
                <a:lnTo>
                  <a:pt x="0" y="0"/>
                </a:lnTo>
                <a:close/>
              </a:path>
            </a:pathLst>
          </a:custGeom>
          <a:blipFill>
            <a:blip r:embed="rId2"/>
            <a:stretch>
              <a:fillRect l="0" t="0" r="0" b="0"/>
            </a:stretch>
          </a:blipFill>
        </p:spPr>
      </p:sp>
      <p:sp>
        <p:nvSpPr>
          <p:cNvPr name="Freeform 13" id="13"/>
          <p:cNvSpPr/>
          <p:nvPr/>
        </p:nvSpPr>
        <p:spPr>
          <a:xfrm flipH="false" flipV="false" rot="0">
            <a:off x="9997547" y="5957711"/>
            <a:ext cx="7734832" cy="1314921"/>
          </a:xfrm>
          <a:custGeom>
            <a:avLst/>
            <a:gdLst/>
            <a:ahLst/>
            <a:cxnLst/>
            <a:rect r="r" b="b" t="t" l="l"/>
            <a:pathLst>
              <a:path h="1314921" w="7734832">
                <a:moveTo>
                  <a:pt x="0" y="0"/>
                </a:moveTo>
                <a:lnTo>
                  <a:pt x="7734832" y="0"/>
                </a:lnTo>
                <a:lnTo>
                  <a:pt x="7734832" y="1314922"/>
                </a:lnTo>
                <a:lnTo>
                  <a:pt x="0" y="1314922"/>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2036125" y="628650"/>
            <a:ext cx="5489741" cy="1412020"/>
          </a:xfrm>
          <a:prstGeom prst="rect">
            <a:avLst/>
          </a:prstGeom>
        </p:spPr>
        <p:txBody>
          <a:bodyPr anchor="t" rtlCol="false" tIns="0" lIns="0" bIns="0" rIns="0">
            <a:spAutoFit/>
          </a:bodyPr>
          <a:lstStyle/>
          <a:p>
            <a:pPr algn="l">
              <a:lnSpc>
                <a:spcPts val="10897"/>
              </a:lnSpc>
            </a:pPr>
            <a:r>
              <a:rPr lang="en-US" sz="7783">
                <a:solidFill>
                  <a:srgbClr val="000000"/>
                </a:solidFill>
                <a:latin typeface="The Seasons"/>
                <a:ea typeface="The Seasons"/>
                <a:cs typeface="The Seasons"/>
                <a:sym typeface="The Seasons"/>
              </a:rPr>
              <a:t>Ejemplo</a:t>
            </a:r>
          </a:p>
        </p:txBody>
      </p:sp>
      <p:sp>
        <p:nvSpPr>
          <p:cNvPr name="AutoShape 5" id="5"/>
          <p:cNvSpPr/>
          <p:nvPr/>
        </p:nvSpPr>
        <p:spPr>
          <a:xfrm rot="0">
            <a:off x="1009650" y="2895878"/>
            <a:ext cx="17278350"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1352550" y="3067299"/>
            <a:ext cx="2501221" cy="654233"/>
          </a:xfrm>
          <a:prstGeom prst="rect">
            <a:avLst/>
          </a:prstGeom>
        </p:spPr>
        <p:txBody>
          <a:bodyPr anchor="t" rtlCol="false" tIns="0" lIns="0" bIns="0" rIns="0">
            <a:spAutoFit/>
          </a:bodyPr>
          <a:lstStyle/>
          <a:p>
            <a:pPr algn="l">
              <a:lnSpc>
                <a:spcPts val="4964"/>
              </a:lnSpc>
            </a:pPr>
            <a:r>
              <a:rPr lang="en-US" sz="3546" b="true">
                <a:solidFill>
                  <a:srgbClr val="000000"/>
                </a:solidFill>
                <a:latin typeface="The Seasons Bold"/>
                <a:ea typeface="The Seasons Bold"/>
                <a:cs typeface="The Seasons Bold"/>
                <a:sym typeface="The Seasons Bold"/>
              </a:rPr>
              <a:t>Para</a:t>
            </a:r>
          </a:p>
        </p:txBody>
      </p:sp>
      <p:sp>
        <p:nvSpPr>
          <p:cNvPr name="AutoShape 7" id="7"/>
          <p:cNvSpPr/>
          <p:nvPr/>
        </p:nvSpPr>
        <p:spPr>
          <a:xfrm rot="0">
            <a:off x="1028700" y="3972044"/>
            <a:ext cx="17278350" cy="0"/>
          </a:xfrm>
          <a:prstGeom prst="line">
            <a:avLst/>
          </a:prstGeom>
          <a:ln cap="flat" w="19050">
            <a:solidFill>
              <a:srgbClr val="000000"/>
            </a:solidFill>
            <a:prstDash val="solid"/>
            <a:headEnd type="none" len="sm" w="sm"/>
            <a:tailEnd type="none" len="sm" w="sm"/>
          </a:ln>
        </p:spPr>
      </p:sp>
      <p:sp>
        <p:nvSpPr>
          <p:cNvPr name="TextBox 8" id="8"/>
          <p:cNvSpPr txBox="true"/>
          <p:nvPr/>
        </p:nvSpPr>
        <p:spPr>
          <a:xfrm rot="0">
            <a:off x="1319808" y="4038719"/>
            <a:ext cx="14092919" cy="709018"/>
          </a:xfrm>
          <a:prstGeom prst="rect">
            <a:avLst/>
          </a:prstGeom>
        </p:spPr>
        <p:txBody>
          <a:bodyPr anchor="t" rtlCol="false" tIns="0" lIns="0" bIns="0" rIns="0">
            <a:spAutoFit/>
          </a:bodyPr>
          <a:lstStyle/>
          <a:p>
            <a:pPr algn="ctr">
              <a:lnSpc>
                <a:spcPts val="5660"/>
              </a:lnSpc>
              <a:spcBef>
                <a:spcPct val="0"/>
              </a:spcBef>
            </a:pPr>
            <a:r>
              <a:rPr lang="en-US" sz="3369">
                <a:solidFill>
                  <a:srgbClr val="000000"/>
                </a:solidFill>
                <a:latin typeface="The Seasons"/>
                <a:ea typeface="The Seasons"/>
                <a:cs typeface="The Seasons"/>
                <a:sym typeface="The Seasons"/>
              </a:rPr>
              <a:t>Repite una cantidad fija de veces, de acuerdo a los elementos del conjunto.</a:t>
            </a:r>
          </a:p>
        </p:txBody>
      </p:sp>
      <p:sp>
        <p:nvSpPr>
          <p:cNvPr name="Freeform 9" id="9"/>
          <p:cNvSpPr/>
          <p:nvPr/>
        </p:nvSpPr>
        <p:spPr>
          <a:xfrm flipH="false" flipV="false" rot="0">
            <a:off x="1352550" y="5004912"/>
            <a:ext cx="9814225" cy="1619347"/>
          </a:xfrm>
          <a:custGeom>
            <a:avLst/>
            <a:gdLst/>
            <a:ahLst/>
            <a:cxnLst/>
            <a:rect r="r" b="b" t="t" l="l"/>
            <a:pathLst>
              <a:path h="1619347" w="9814225">
                <a:moveTo>
                  <a:pt x="0" y="0"/>
                </a:moveTo>
                <a:lnTo>
                  <a:pt x="9814225" y="0"/>
                </a:lnTo>
                <a:lnTo>
                  <a:pt x="9814225" y="1619347"/>
                </a:lnTo>
                <a:lnTo>
                  <a:pt x="0" y="1619347"/>
                </a:lnTo>
                <a:lnTo>
                  <a:pt x="0" y="0"/>
                </a:lnTo>
                <a:close/>
              </a:path>
            </a:pathLst>
          </a:custGeom>
          <a:blipFill>
            <a:blip r:embed="rId2"/>
            <a:stretch>
              <a:fillRect l="0" t="0" r="0" b="0"/>
            </a:stretch>
          </a:blipFill>
        </p:spPr>
      </p:sp>
      <p:sp>
        <p:nvSpPr>
          <p:cNvPr name="TextBox 10" id="10"/>
          <p:cNvSpPr txBox="true"/>
          <p:nvPr/>
        </p:nvSpPr>
        <p:spPr>
          <a:xfrm rot="0">
            <a:off x="1304840" y="6671884"/>
            <a:ext cx="12917177" cy="709018"/>
          </a:xfrm>
          <a:prstGeom prst="rect">
            <a:avLst/>
          </a:prstGeom>
        </p:spPr>
        <p:txBody>
          <a:bodyPr anchor="t" rtlCol="false" tIns="0" lIns="0" bIns="0" rIns="0">
            <a:spAutoFit/>
          </a:bodyPr>
          <a:lstStyle/>
          <a:p>
            <a:pPr algn="ctr">
              <a:lnSpc>
                <a:spcPts val="5660"/>
              </a:lnSpc>
              <a:spcBef>
                <a:spcPct val="0"/>
              </a:spcBef>
            </a:pPr>
            <a:r>
              <a:rPr lang="en-US" sz="3369">
                <a:solidFill>
                  <a:srgbClr val="000000"/>
                </a:solidFill>
                <a:latin typeface="The Seasons"/>
                <a:ea typeface="The Seasons"/>
                <a:cs typeface="The Seasons"/>
                <a:sym typeface="The Seasons"/>
              </a:rPr>
              <a:t>Tambien se le puede indicar la cantidad de veces que debe repetirse.</a:t>
            </a:r>
          </a:p>
        </p:txBody>
      </p:sp>
      <p:sp>
        <p:nvSpPr>
          <p:cNvPr name="Freeform 11" id="11"/>
          <p:cNvSpPr/>
          <p:nvPr/>
        </p:nvSpPr>
        <p:spPr>
          <a:xfrm flipH="false" flipV="false" rot="0">
            <a:off x="1352550" y="7638077"/>
            <a:ext cx="9976067" cy="1371709"/>
          </a:xfrm>
          <a:custGeom>
            <a:avLst/>
            <a:gdLst/>
            <a:ahLst/>
            <a:cxnLst/>
            <a:rect r="r" b="b" t="t" l="l"/>
            <a:pathLst>
              <a:path h="1371709" w="9976067">
                <a:moveTo>
                  <a:pt x="0" y="0"/>
                </a:moveTo>
                <a:lnTo>
                  <a:pt x="9976067" y="0"/>
                </a:lnTo>
                <a:lnTo>
                  <a:pt x="9976067" y="1371709"/>
                </a:lnTo>
                <a:lnTo>
                  <a:pt x="0" y="1371709"/>
                </a:lnTo>
                <a:lnTo>
                  <a:pt x="0" y="0"/>
                </a:lnTo>
                <a:close/>
              </a:path>
            </a:pathLst>
          </a:custGeom>
          <a:blipFill>
            <a:blip r:embed="rId3"/>
            <a:stretch>
              <a:fillRect l="0" t="0" r="0" b="0"/>
            </a:stretch>
          </a:blipFill>
        </p:spPr>
      </p:sp>
      <p:sp>
        <p:nvSpPr>
          <p:cNvPr name="Freeform 12" id="12"/>
          <p:cNvSpPr/>
          <p:nvPr/>
        </p:nvSpPr>
        <p:spPr>
          <a:xfrm flipH="false" flipV="false" rot="0">
            <a:off x="14385051" y="6624259"/>
            <a:ext cx="3902949" cy="2431729"/>
          </a:xfrm>
          <a:custGeom>
            <a:avLst/>
            <a:gdLst/>
            <a:ahLst/>
            <a:cxnLst/>
            <a:rect r="r" b="b" t="t" l="l"/>
            <a:pathLst>
              <a:path h="2431729" w="3902949">
                <a:moveTo>
                  <a:pt x="0" y="0"/>
                </a:moveTo>
                <a:lnTo>
                  <a:pt x="3902949" y="0"/>
                </a:lnTo>
                <a:lnTo>
                  <a:pt x="3902949" y="2431729"/>
                </a:lnTo>
                <a:lnTo>
                  <a:pt x="0" y="2431729"/>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654368"/>
            <a:ext cx="13991101" cy="938698"/>
          </a:xfrm>
          <a:custGeom>
            <a:avLst/>
            <a:gdLst/>
            <a:ahLst/>
            <a:cxnLst/>
            <a:rect r="r" b="b" t="t" l="l"/>
            <a:pathLst>
              <a:path h="938698" w="13991101">
                <a:moveTo>
                  <a:pt x="0" y="0"/>
                </a:moveTo>
                <a:lnTo>
                  <a:pt x="13991101" y="0"/>
                </a:lnTo>
                <a:lnTo>
                  <a:pt x="13991101" y="938698"/>
                </a:lnTo>
                <a:lnTo>
                  <a:pt x="0" y="938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4886" y="3027817"/>
            <a:ext cx="12625502" cy="783441"/>
          </a:xfrm>
          <a:custGeom>
            <a:avLst/>
            <a:gdLst/>
            <a:ahLst/>
            <a:cxnLst/>
            <a:rect r="r" b="b" t="t" l="l"/>
            <a:pathLst>
              <a:path h="783441" w="12625502">
                <a:moveTo>
                  <a:pt x="0" y="0"/>
                </a:moveTo>
                <a:lnTo>
                  <a:pt x="12625502" y="0"/>
                </a:lnTo>
                <a:lnTo>
                  <a:pt x="12625502" y="783440"/>
                </a:lnTo>
                <a:lnTo>
                  <a:pt x="0" y="783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675018" y="4127995"/>
            <a:ext cx="6468152" cy="4794518"/>
          </a:xfrm>
          <a:custGeom>
            <a:avLst/>
            <a:gdLst/>
            <a:ahLst/>
            <a:cxnLst/>
            <a:rect r="r" b="b" t="t" l="l"/>
            <a:pathLst>
              <a:path h="4794518" w="6468152">
                <a:moveTo>
                  <a:pt x="0" y="0"/>
                </a:moveTo>
                <a:lnTo>
                  <a:pt x="6468153" y="0"/>
                </a:lnTo>
                <a:lnTo>
                  <a:pt x="6468153" y="4794518"/>
                </a:lnTo>
                <a:lnTo>
                  <a:pt x="0" y="4794518"/>
                </a:lnTo>
                <a:lnTo>
                  <a:pt x="0" y="0"/>
                </a:lnTo>
                <a:close/>
              </a:path>
            </a:pathLst>
          </a:custGeom>
          <a:blipFill>
            <a:blip r:embed="rId6"/>
            <a:stretch>
              <a:fillRect l="0" t="0" r="0" b="0"/>
            </a:stretch>
          </a:blipFill>
        </p:spPr>
      </p:sp>
      <p:sp>
        <p:nvSpPr>
          <p:cNvPr name="TextBox 5" id="5"/>
          <p:cNvSpPr txBox="true"/>
          <p:nvPr/>
        </p:nvSpPr>
        <p:spPr>
          <a:xfrm rot="0">
            <a:off x="4894191" y="406718"/>
            <a:ext cx="8499617" cy="1070148"/>
          </a:xfrm>
          <a:prstGeom prst="rect">
            <a:avLst/>
          </a:prstGeom>
        </p:spPr>
        <p:txBody>
          <a:bodyPr anchor="t" rtlCol="false" tIns="0" lIns="0" bIns="0" rIns="0">
            <a:spAutoFit/>
          </a:bodyPr>
          <a:lstStyle/>
          <a:p>
            <a:pPr algn="ctr">
              <a:lnSpc>
                <a:spcPts val="9095"/>
              </a:lnSpc>
              <a:spcBef>
                <a:spcPct val="0"/>
              </a:spcBef>
            </a:pPr>
            <a:r>
              <a:rPr lang="en-US" sz="5413">
                <a:solidFill>
                  <a:srgbClr val="000000"/>
                </a:solidFill>
                <a:latin typeface="Prata"/>
                <a:ea typeface="Prata"/>
                <a:cs typeface="Prata"/>
                <a:sym typeface="Prata"/>
              </a:rPr>
              <a:t>Sentencias Condicionales</a:t>
            </a:r>
          </a:p>
        </p:txBody>
      </p:sp>
      <p:sp>
        <p:nvSpPr>
          <p:cNvPr name="TextBox 6" id="6"/>
          <p:cNvSpPr txBox="true"/>
          <p:nvPr/>
        </p:nvSpPr>
        <p:spPr>
          <a:xfrm rot="0">
            <a:off x="2400891" y="1681038"/>
            <a:ext cx="13486219" cy="2900214"/>
          </a:xfrm>
          <a:prstGeom prst="rect">
            <a:avLst/>
          </a:prstGeom>
        </p:spPr>
        <p:txBody>
          <a:bodyPr anchor="t" rtlCol="false" tIns="0" lIns="0" bIns="0" rIns="0">
            <a:spAutoFit/>
          </a:bodyPr>
          <a:lstStyle/>
          <a:p>
            <a:pPr algn="just">
              <a:lnSpc>
                <a:spcPts val="4597"/>
              </a:lnSpc>
            </a:pPr>
            <a:r>
              <a:rPr lang="en-US" sz="2736">
                <a:solidFill>
                  <a:srgbClr val="000000"/>
                </a:solidFill>
                <a:latin typeface="The Seasons"/>
                <a:ea typeface="The Seasons"/>
                <a:cs typeface="The Seasons"/>
                <a:sym typeface="The Seasons"/>
              </a:rPr>
              <a:t>Exiten dos formas de alterar el flujo dependiendo de una condición. La idea básica es la de encontrarnos ante una bifurcación de un camino, en la que seguiremos por uno u otro camino dependiendo de la respuesta a una pregunta que se halla escrita en la bifurcación. Una variante de esto es que en lugar de dos posibilidades, se nos presenten más caminos por los que poder seguir.</a:t>
            </a:r>
          </a:p>
        </p:txBody>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8" id="8"/>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32202" y="4632332"/>
            <a:ext cx="7823595" cy="4381213"/>
          </a:xfrm>
          <a:custGeom>
            <a:avLst/>
            <a:gdLst/>
            <a:ahLst/>
            <a:cxnLst/>
            <a:rect r="r" b="b" t="t" l="l"/>
            <a:pathLst>
              <a:path h="4381213" w="7823595">
                <a:moveTo>
                  <a:pt x="0" y="0"/>
                </a:moveTo>
                <a:lnTo>
                  <a:pt x="7823596" y="0"/>
                </a:lnTo>
                <a:lnTo>
                  <a:pt x="7823596" y="4381213"/>
                </a:lnTo>
                <a:lnTo>
                  <a:pt x="0" y="4381213"/>
                </a:lnTo>
                <a:lnTo>
                  <a:pt x="0" y="0"/>
                </a:lnTo>
                <a:close/>
              </a:path>
            </a:pathLst>
          </a:custGeom>
          <a:blipFill>
            <a:blip r:embed="rId2"/>
            <a:stretch>
              <a:fillRect l="0" t="0" r="0" b="0"/>
            </a:stretch>
          </a:blipFill>
        </p:spPr>
      </p:sp>
      <p:sp>
        <p:nvSpPr>
          <p:cNvPr name="TextBox 3" id="3"/>
          <p:cNvSpPr txBox="true"/>
          <p:nvPr/>
        </p:nvSpPr>
        <p:spPr>
          <a:xfrm rot="0">
            <a:off x="2543263" y="544208"/>
            <a:ext cx="4059521" cy="1730632"/>
          </a:xfrm>
          <a:prstGeom prst="rect">
            <a:avLst/>
          </a:prstGeom>
        </p:spPr>
        <p:txBody>
          <a:bodyPr anchor="t" rtlCol="false" tIns="0" lIns="0" bIns="0" rIns="0">
            <a:spAutoFit/>
          </a:bodyPr>
          <a:lstStyle/>
          <a:p>
            <a:pPr algn="ctr">
              <a:lnSpc>
                <a:spcPts val="13992"/>
              </a:lnSpc>
              <a:spcBef>
                <a:spcPct val="0"/>
              </a:spcBef>
            </a:pPr>
            <a:r>
              <a:rPr lang="en-US" sz="8329">
                <a:solidFill>
                  <a:srgbClr val="000000"/>
                </a:solidFill>
                <a:latin typeface="The Seasons"/>
                <a:ea typeface="The Seasons"/>
                <a:cs typeface="The Seasons"/>
                <a:sym typeface="The Seasons"/>
              </a:rPr>
              <a:t>If Simple</a:t>
            </a:r>
          </a:p>
        </p:txBody>
      </p:sp>
      <p:sp>
        <p:nvSpPr>
          <p:cNvPr name="TextBox 4" id="4"/>
          <p:cNvSpPr txBox="true"/>
          <p:nvPr/>
        </p:nvSpPr>
        <p:spPr>
          <a:xfrm rot="0">
            <a:off x="2543263" y="2270277"/>
            <a:ext cx="13610375" cy="2664589"/>
          </a:xfrm>
          <a:prstGeom prst="rect">
            <a:avLst/>
          </a:prstGeom>
        </p:spPr>
        <p:txBody>
          <a:bodyPr anchor="t" rtlCol="false" tIns="0" lIns="0" bIns="0" rIns="0">
            <a:spAutoFit/>
          </a:bodyPr>
          <a:lstStyle/>
          <a:p>
            <a:pPr algn="just">
              <a:lnSpc>
                <a:spcPts val="5316"/>
              </a:lnSpc>
              <a:spcBef>
                <a:spcPct val="0"/>
              </a:spcBef>
            </a:pPr>
            <a:r>
              <a:rPr lang="en-US" sz="3164">
                <a:solidFill>
                  <a:srgbClr val="000000"/>
                </a:solidFill>
                <a:latin typeface="The Seasons"/>
                <a:ea typeface="The Seasons"/>
                <a:cs typeface="The Seasons"/>
                <a:sym typeface="The Seasons"/>
              </a:rPr>
              <a:t>Es la forma más elemental de control de flujo condicional. Una sentencia if evaluará primero su condición, y si se evalúa como true ejecutará la sentencia o bloque de sentencias que se encuentre justo después de la condición. </a:t>
            </a:r>
          </a:p>
        </p:txBody>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654368"/>
            <a:ext cx="13991101" cy="938698"/>
          </a:xfrm>
          <a:custGeom>
            <a:avLst/>
            <a:gdLst/>
            <a:ahLst/>
            <a:cxnLst/>
            <a:rect r="r" b="b" t="t" l="l"/>
            <a:pathLst>
              <a:path h="938698" w="13991101">
                <a:moveTo>
                  <a:pt x="0" y="0"/>
                </a:moveTo>
                <a:lnTo>
                  <a:pt x="13991101" y="0"/>
                </a:lnTo>
                <a:lnTo>
                  <a:pt x="13991101" y="938698"/>
                </a:lnTo>
                <a:lnTo>
                  <a:pt x="0" y="938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4886" y="3027817"/>
            <a:ext cx="12625502" cy="783441"/>
          </a:xfrm>
          <a:custGeom>
            <a:avLst/>
            <a:gdLst/>
            <a:ahLst/>
            <a:cxnLst/>
            <a:rect r="r" b="b" t="t" l="l"/>
            <a:pathLst>
              <a:path h="783441" w="12625502">
                <a:moveTo>
                  <a:pt x="0" y="0"/>
                </a:moveTo>
                <a:lnTo>
                  <a:pt x="12625502" y="0"/>
                </a:lnTo>
                <a:lnTo>
                  <a:pt x="12625502" y="783440"/>
                </a:lnTo>
                <a:lnTo>
                  <a:pt x="0" y="783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761923" y="1337986"/>
            <a:ext cx="9718176" cy="7920314"/>
          </a:xfrm>
          <a:custGeom>
            <a:avLst/>
            <a:gdLst/>
            <a:ahLst/>
            <a:cxnLst/>
            <a:rect r="r" b="b" t="t" l="l"/>
            <a:pathLst>
              <a:path h="7920314" w="9718176">
                <a:moveTo>
                  <a:pt x="0" y="0"/>
                </a:moveTo>
                <a:lnTo>
                  <a:pt x="9718176" y="0"/>
                </a:lnTo>
                <a:lnTo>
                  <a:pt x="9718176" y="7920314"/>
                </a:lnTo>
                <a:lnTo>
                  <a:pt x="0" y="7920314"/>
                </a:lnTo>
                <a:lnTo>
                  <a:pt x="0" y="0"/>
                </a:lnTo>
                <a:close/>
              </a:path>
            </a:pathLst>
          </a:custGeom>
          <a:blipFill>
            <a:blip r:embed="rId6"/>
            <a:stretch>
              <a:fillRect l="0" t="0" r="0" b="0"/>
            </a:stretch>
          </a:blipFill>
        </p:spPr>
      </p:sp>
      <p:sp>
        <p:nvSpPr>
          <p:cNvPr name="TextBox 5" id="5"/>
          <p:cNvSpPr txBox="true"/>
          <p:nvPr/>
        </p:nvSpPr>
        <p:spPr>
          <a:xfrm rot="0">
            <a:off x="1597502" y="292418"/>
            <a:ext cx="3669932" cy="1585033"/>
          </a:xfrm>
          <a:prstGeom prst="rect">
            <a:avLst/>
          </a:prstGeom>
        </p:spPr>
        <p:txBody>
          <a:bodyPr anchor="t" rtlCol="false" tIns="0" lIns="0" bIns="0" rIns="0">
            <a:spAutoFit/>
          </a:bodyPr>
          <a:lstStyle/>
          <a:p>
            <a:pPr algn="ctr">
              <a:lnSpc>
                <a:spcPts val="13542"/>
              </a:lnSpc>
              <a:spcBef>
                <a:spcPct val="0"/>
              </a:spcBef>
            </a:pPr>
            <a:r>
              <a:rPr lang="en-US" sz="8061">
                <a:solidFill>
                  <a:srgbClr val="000000"/>
                </a:solidFill>
                <a:latin typeface="Prata"/>
                <a:ea typeface="Prata"/>
                <a:cs typeface="Prata"/>
                <a:sym typeface="Prata"/>
              </a:rPr>
              <a:t>If - Else</a:t>
            </a:r>
          </a:p>
        </p:txBody>
      </p:sp>
      <p:sp>
        <p:nvSpPr>
          <p:cNvPr name="TextBox 6" id="6"/>
          <p:cNvSpPr txBox="true"/>
          <p:nvPr/>
        </p:nvSpPr>
        <p:spPr>
          <a:xfrm rot="0">
            <a:off x="1575773" y="1632158"/>
            <a:ext cx="5785502" cy="1177740"/>
          </a:xfrm>
          <a:prstGeom prst="rect">
            <a:avLst/>
          </a:prstGeom>
        </p:spPr>
        <p:txBody>
          <a:bodyPr anchor="t" rtlCol="false" tIns="0" lIns="0" bIns="0" rIns="0">
            <a:spAutoFit/>
          </a:bodyPr>
          <a:lstStyle/>
          <a:p>
            <a:pPr algn="ctr">
              <a:lnSpc>
                <a:spcPts val="9430"/>
              </a:lnSpc>
              <a:spcBef>
                <a:spcPct val="0"/>
              </a:spcBef>
            </a:pPr>
            <a:r>
              <a:rPr lang="en-US" b="true" sz="5613">
                <a:solidFill>
                  <a:srgbClr val="000000"/>
                </a:solidFill>
                <a:latin typeface="The Seasons Bold"/>
                <a:ea typeface="The Seasons Bold"/>
                <a:cs typeface="The Seasons Bold"/>
                <a:sym typeface="The Seasons Bold"/>
              </a:rPr>
              <a:t>Diagrama de Flujo</a:t>
            </a:r>
          </a:p>
        </p:txBody>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8" id="8"/>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02080" y="5737425"/>
            <a:ext cx="9483840" cy="3520875"/>
          </a:xfrm>
          <a:custGeom>
            <a:avLst/>
            <a:gdLst/>
            <a:ahLst/>
            <a:cxnLst/>
            <a:rect r="r" b="b" t="t" l="l"/>
            <a:pathLst>
              <a:path h="3520875" w="9483840">
                <a:moveTo>
                  <a:pt x="0" y="0"/>
                </a:moveTo>
                <a:lnTo>
                  <a:pt x="9483840" y="0"/>
                </a:lnTo>
                <a:lnTo>
                  <a:pt x="9483840" y="3520875"/>
                </a:lnTo>
                <a:lnTo>
                  <a:pt x="0" y="3520875"/>
                </a:lnTo>
                <a:lnTo>
                  <a:pt x="0" y="0"/>
                </a:lnTo>
                <a:close/>
              </a:path>
            </a:pathLst>
          </a:custGeom>
          <a:blipFill>
            <a:blip r:embed="rId2"/>
            <a:stretch>
              <a:fillRect l="0" t="0" r="0" b="0"/>
            </a:stretch>
          </a:blipFill>
        </p:spPr>
      </p:sp>
      <p:sp>
        <p:nvSpPr>
          <p:cNvPr name="TextBox 3" id="3"/>
          <p:cNvSpPr txBox="true"/>
          <p:nvPr/>
        </p:nvSpPr>
        <p:spPr>
          <a:xfrm rot="0">
            <a:off x="1994164" y="657225"/>
            <a:ext cx="3640336" cy="1589002"/>
          </a:xfrm>
          <a:prstGeom prst="rect">
            <a:avLst/>
          </a:prstGeom>
        </p:spPr>
        <p:txBody>
          <a:bodyPr anchor="t" rtlCol="false" tIns="0" lIns="0" bIns="0" rIns="0">
            <a:spAutoFit/>
          </a:bodyPr>
          <a:lstStyle/>
          <a:p>
            <a:pPr algn="ctr">
              <a:lnSpc>
                <a:spcPts val="13433"/>
              </a:lnSpc>
              <a:spcBef>
                <a:spcPct val="0"/>
              </a:spcBef>
            </a:pPr>
            <a:r>
              <a:rPr lang="en-US" sz="7996">
                <a:solidFill>
                  <a:srgbClr val="000000"/>
                </a:solidFill>
                <a:latin typeface="Prata"/>
                <a:ea typeface="Prata"/>
                <a:cs typeface="Prata"/>
                <a:sym typeface="Prata"/>
              </a:rPr>
              <a:t>If - Else</a:t>
            </a:r>
          </a:p>
        </p:txBody>
      </p:sp>
      <p:sp>
        <p:nvSpPr>
          <p:cNvPr name="TextBox 4" id="4"/>
          <p:cNvSpPr txBox="true"/>
          <p:nvPr/>
        </p:nvSpPr>
        <p:spPr>
          <a:xfrm rot="0">
            <a:off x="1994164" y="2513076"/>
            <a:ext cx="14299672" cy="2630424"/>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The Seasons"/>
                <a:ea typeface="The Seasons"/>
                <a:cs typeface="The Seasons"/>
                <a:sym typeface="The Seasons"/>
              </a:rPr>
              <a:t>Si la condición se evalúa como false y existe una cláusula else, entonces se ejecutará la sentencia o bloque de sentencias que siguen al else. Esta parte es opcional. La única restricción que se impone a la expresión condicional es que sea una expresión válida de tipo booleano que se evalúe como true o como false</a:t>
            </a:r>
          </a:p>
        </p:txBody>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50427" y="2478027"/>
            <a:ext cx="8787147" cy="7480059"/>
          </a:xfrm>
          <a:custGeom>
            <a:avLst/>
            <a:gdLst/>
            <a:ahLst/>
            <a:cxnLst/>
            <a:rect r="r" b="b" t="t" l="l"/>
            <a:pathLst>
              <a:path h="7480059" w="8787147">
                <a:moveTo>
                  <a:pt x="0" y="0"/>
                </a:moveTo>
                <a:lnTo>
                  <a:pt x="8787146" y="0"/>
                </a:lnTo>
                <a:lnTo>
                  <a:pt x="8787146" y="7480059"/>
                </a:lnTo>
                <a:lnTo>
                  <a:pt x="0" y="7480059"/>
                </a:lnTo>
                <a:lnTo>
                  <a:pt x="0" y="0"/>
                </a:lnTo>
                <a:close/>
              </a:path>
            </a:pathLst>
          </a:custGeom>
          <a:blipFill>
            <a:blip r:embed="rId2"/>
            <a:stretch>
              <a:fillRect l="0" t="0" r="0" b="0"/>
            </a:stretch>
          </a:blipFill>
        </p:spPr>
      </p:sp>
      <p:sp>
        <p:nvSpPr>
          <p:cNvPr name="TextBox 3" id="3"/>
          <p:cNvSpPr txBox="true"/>
          <p:nvPr/>
        </p:nvSpPr>
        <p:spPr>
          <a:xfrm rot="0">
            <a:off x="1471633" y="332436"/>
            <a:ext cx="3847080" cy="1675655"/>
          </a:xfrm>
          <a:prstGeom prst="rect">
            <a:avLst/>
          </a:prstGeom>
        </p:spPr>
        <p:txBody>
          <a:bodyPr anchor="t" rtlCol="false" tIns="0" lIns="0" bIns="0" rIns="0">
            <a:spAutoFit/>
          </a:bodyPr>
          <a:lstStyle/>
          <a:p>
            <a:pPr algn="ctr">
              <a:lnSpc>
                <a:spcPts val="14195"/>
              </a:lnSpc>
              <a:spcBef>
                <a:spcPct val="0"/>
              </a:spcBef>
            </a:pPr>
            <a:r>
              <a:rPr lang="en-US" sz="8449">
                <a:solidFill>
                  <a:srgbClr val="000000"/>
                </a:solidFill>
                <a:latin typeface="Prata"/>
                <a:ea typeface="Prata"/>
                <a:cs typeface="Prata"/>
                <a:sym typeface="Prata"/>
              </a:rPr>
              <a:t>If - Else</a:t>
            </a:r>
          </a:p>
        </p:txBody>
      </p:sp>
      <p:sp>
        <p:nvSpPr>
          <p:cNvPr name="TextBox 4" id="4"/>
          <p:cNvSpPr txBox="true"/>
          <p:nvPr/>
        </p:nvSpPr>
        <p:spPr>
          <a:xfrm rot="0">
            <a:off x="1471633" y="1655666"/>
            <a:ext cx="6287266" cy="1292298"/>
          </a:xfrm>
          <a:prstGeom prst="rect">
            <a:avLst/>
          </a:prstGeom>
        </p:spPr>
        <p:txBody>
          <a:bodyPr anchor="t" rtlCol="false" tIns="0" lIns="0" bIns="0" rIns="0">
            <a:spAutoFit/>
          </a:bodyPr>
          <a:lstStyle/>
          <a:p>
            <a:pPr algn="ctr">
              <a:lnSpc>
                <a:spcPts val="10247"/>
              </a:lnSpc>
              <a:spcBef>
                <a:spcPct val="0"/>
              </a:spcBef>
            </a:pPr>
            <a:r>
              <a:rPr lang="en-US" b="true" sz="6099">
                <a:solidFill>
                  <a:srgbClr val="000000"/>
                </a:solidFill>
                <a:latin typeface="The Seasons Bold"/>
                <a:ea typeface="The Seasons Bold"/>
                <a:cs typeface="The Seasons Bold"/>
                <a:sym typeface="The Seasons Bold"/>
              </a:rPr>
              <a:t>Diagrama de Flujo</a:t>
            </a:r>
          </a:p>
        </p:txBody>
      </p:sp>
      <p:sp>
        <p:nvSpPr>
          <p:cNvPr name="AutoShape 5" id="5"/>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6" id="6"/>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654368"/>
            <a:ext cx="13991101" cy="938698"/>
          </a:xfrm>
          <a:custGeom>
            <a:avLst/>
            <a:gdLst/>
            <a:ahLst/>
            <a:cxnLst/>
            <a:rect r="r" b="b" t="t" l="l"/>
            <a:pathLst>
              <a:path h="938698" w="13991101">
                <a:moveTo>
                  <a:pt x="0" y="0"/>
                </a:moveTo>
                <a:lnTo>
                  <a:pt x="13991101" y="0"/>
                </a:lnTo>
                <a:lnTo>
                  <a:pt x="13991101" y="938698"/>
                </a:lnTo>
                <a:lnTo>
                  <a:pt x="0" y="938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51792" y="3313627"/>
            <a:ext cx="12584416" cy="5537143"/>
          </a:xfrm>
          <a:custGeom>
            <a:avLst/>
            <a:gdLst/>
            <a:ahLst/>
            <a:cxnLst/>
            <a:rect r="r" b="b" t="t" l="l"/>
            <a:pathLst>
              <a:path h="5537143" w="12584416">
                <a:moveTo>
                  <a:pt x="0" y="0"/>
                </a:moveTo>
                <a:lnTo>
                  <a:pt x="12584416" y="0"/>
                </a:lnTo>
                <a:lnTo>
                  <a:pt x="12584416" y="5537143"/>
                </a:lnTo>
                <a:lnTo>
                  <a:pt x="0" y="5537143"/>
                </a:lnTo>
                <a:lnTo>
                  <a:pt x="0" y="0"/>
                </a:lnTo>
                <a:close/>
              </a:path>
            </a:pathLst>
          </a:custGeom>
          <a:blipFill>
            <a:blip r:embed="rId4"/>
            <a:stretch>
              <a:fillRect l="0" t="0" r="0" b="0"/>
            </a:stretch>
          </a:blipFill>
        </p:spPr>
      </p:sp>
      <p:sp>
        <p:nvSpPr>
          <p:cNvPr name="TextBox 4" id="4"/>
          <p:cNvSpPr txBox="true"/>
          <p:nvPr/>
        </p:nvSpPr>
        <p:spPr>
          <a:xfrm rot="0">
            <a:off x="1413088" y="536481"/>
            <a:ext cx="3351354" cy="1446748"/>
          </a:xfrm>
          <a:prstGeom prst="rect">
            <a:avLst/>
          </a:prstGeom>
        </p:spPr>
        <p:txBody>
          <a:bodyPr anchor="t" rtlCol="false" tIns="0" lIns="0" bIns="0" rIns="0">
            <a:spAutoFit/>
          </a:bodyPr>
          <a:lstStyle/>
          <a:p>
            <a:pPr algn="ctr">
              <a:lnSpc>
                <a:spcPts val="12366"/>
              </a:lnSpc>
              <a:spcBef>
                <a:spcPct val="0"/>
              </a:spcBef>
            </a:pPr>
            <a:r>
              <a:rPr lang="en-US" sz="7361">
                <a:solidFill>
                  <a:srgbClr val="000000"/>
                </a:solidFill>
                <a:latin typeface="Prata"/>
                <a:ea typeface="Prata"/>
                <a:cs typeface="Prata"/>
                <a:sym typeface="Prata"/>
              </a:rPr>
              <a:t>If - Else</a:t>
            </a:r>
          </a:p>
        </p:txBody>
      </p:sp>
      <p:sp>
        <p:nvSpPr>
          <p:cNvPr name="TextBox 5" id="5"/>
          <p:cNvSpPr txBox="true"/>
          <p:nvPr/>
        </p:nvSpPr>
        <p:spPr>
          <a:xfrm rot="0">
            <a:off x="1413088" y="1630804"/>
            <a:ext cx="2647100" cy="1292298"/>
          </a:xfrm>
          <a:prstGeom prst="rect">
            <a:avLst/>
          </a:prstGeom>
        </p:spPr>
        <p:txBody>
          <a:bodyPr anchor="t" rtlCol="false" tIns="0" lIns="0" bIns="0" rIns="0">
            <a:spAutoFit/>
          </a:bodyPr>
          <a:lstStyle/>
          <a:p>
            <a:pPr algn="ctr">
              <a:lnSpc>
                <a:spcPts val="10247"/>
              </a:lnSpc>
              <a:spcBef>
                <a:spcPct val="0"/>
              </a:spcBef>
            </a:pPr>
            <a:r>
              <a:rPr lang="en-US" b="true" sz="6099">
                <a:solidFill>
                  <a:srgbClr val="000000"/>
                </a:solidFill>
                <a:latin typeface="The Seasons Bold"/>
                <a:ea typeface="The Seasons Bold"/>
                <a:cs typeface="The Seasons Bold"/>
                <a:sym typeface="The Seasons Bold"/>
              </a:rPr>
              <a:t>Sintaxis</a:t>
            </a:r>
          </a:p>
        </p:txBody>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7" id="7"/>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72225" y="1237815"/>
            <a:ext cx="7388352" cy="7111289"/>
          </a:xfrm>
          <a:custGeom>
            <a:avLst/>
            <a:gdLst/>
            <a:ahLst/>
            <a:cxnLst/>
            <a:rect r="r" b="b" t="t" l="l"/>
            <a:pathLst>
              <a:path h="7111289" w="7388352">
                <a:moveTo>
                  <a:pt x="0" y="0"/>
                </a:moveTo>
                <a:lnTo>
                  <a:pt x="7388353" y="0"/>
                </a:lnTo>
                <a:lnTo>
                  <a:pt x="7388353" y="7111290"/>
                </a:lnTo>
                <a:lnTo>
                  <a:pt x="0" y="7111290"/>
                </a:lnTo>
                <a:lnTo>
                  <a:pt x="0" y="0"/>
                </a:lnTo>
                <a:close/>
              </a:path>
            </a:pathLst>
          </a:custGeom>
          <a:blipFill>
            <a:blip r:embed="rId2"/>
            <a:stretch>
              <a:fillRect l="0" t="0" r="0" b="0"/>
            </a:stretch>
          </a:blipFill>
        </p:spPr>
      </p:sp>
      <p:sp>
        <p:nvSpPr>
          <p:cNvPr name="TextBox 3" id="3"/>
          <p:cNvSpPr txBox="true"/>
          <p:nvPr/>
        </p:nvSpPr>
        <p:spPr>
          <a:xfrm rot="0">
            <a:off x="3964834" y="2110525"/>
            <a:ext cx="2777218"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If - Else</a:t>
            </a:r>
          </a:p>
        </p:txBody>
      </p:sp>
      <p:sp>
        <p:nvSpPr>
          <p:cNvPr name="TextBox 4" id="4"/>
          <p:cNvSpPr txBox="true"/>
          <p:nvPr/>
        </p:nvSpPr>
        <p:spPr>
          <a:xfrm rot="0">
            <a:off x="4090700" y="3662719"/>
            <a:ext cx="2525486" cy="1130741"/>
          </a:xfrm>
          <a:prstGeom prst="rect">
            <a:avLst/>
          </a:prstGeom>
        </p:spPr>
        <p:txBody>
          <a:bodyPr anchor="t" rtlCol="false" tIns="0" lIns="0" bIns="0" rIns="0">
            <a:spAutoFit/>
          </a:bodyPr>
          <a:lstStyle/>
          <a:p>
            <a:pPr algn="ctr">
              <a:lnSpc>
                <a:spcPts val="9000"/>
              </a:lnSpc>
              <a:spcBef>
                <a:spcPct val="0"/>
              </a:spcBef>
            </a:pPr>
            <a:r>
              <a:rPr lang="en-US" sz="5357">
                <a:solidFill>
                  <a:srgbClr val="000000"/>
                </a:solidFill>
                <a:latin typeface="The Seasons"/>
                <a:ea typeface="The Seasons"/>
                <a:cs typeface="The Seasons"/>
                <a:sym typeface="The Seasons"/>
              </a:rPr>
              <a:t>Ejemplo</a:t>
            </a:r>
          </a:p>
        </p:txBody>
      </p:sp>
      <p:sp>
        <p:nvSpPr>
          <p:cNvPr name="TextBox 5" id="5"/>
          <p:cNvSpPr txBox="true"/>
          <p:nvPr/>
        </p:nvSpPr>
        <p:spPr>
          <a:xfrm rot="0">
            <a:off x="1456357" y="5212999"/>
            <a:ext cx="7794172" cy="910926"/>
          </a:xfrm>
          <a:prstGeom prst="rect">
            <a:avLst/>
          </a:prstGeom>
        </p:spPr>
        <p:txBody>
          <a:bodyPr anchor="t" rtlCol="false" tIns="0" lIns="0" bIns="0" rIns="0">
            <a:spAutoFit/>
          </a:bodyPr>
          <a:lstStyle/>
          <a:p>
            <a:pPr algn="ctr">
              <a:lnSpc>
                <a:spcPts val="7220"/>
              </a:lnSpc>
              <a:spcBef>
                <a:spcPct val="0"/>
              </a:spcBef>
            </a:pPr>
            <a:r>
              <a:rPr lang="en-US" b="true" sz="4298">
                <a:solidFill>
                  <a:srgbClr val="000000"/>
                </a:solidFill>
                <a:latin typeface="The Seasons Bold"/>
                <a:ea typeface="The Seasons Bold"/>
                <a:cs typeface="The Seasons Bold"/>
                <a:sym typeface="The Seasons Bold"/>
              </a:rPr>
              <a:t>Se elige el mayor de dos enteros</a:t>
            </a:r>
          </a:p>
        </p:txBody>
      </p:sp>
      <p:sp>
        <p:nvSpPr>
          <p:cNvPr name="AutoShape 6" id="6"/>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75159" y="2797793"/>
            <a:ext cx="10195778" cy="5072399"/>
          </a:xfrm>
          <a:custGeom>
            <a:avLst/>
            <a:gdLst/>
            <a:ahLst/>
            <a:cxnLst/>
            <a:rect r="r" b="b" t="t" l="l"/>
            <a:pathLst>
              <a:path h="5072399" w="10195778">
                <a:moveTo>
                  <a:pt x="0" y="0"/>
                </a:moveTo>
                <a:lnTo>
                  <a:pt x="10195778" y="0"/>
                </a:lnTo>
                <a:lnTo>
                  <a:pt x="10195778" y="5072399"/>
                </a:lnTo>
                <a:lnTo>
                  <a:pt x="0" y="5072399"/>
                </a:lnTo>
                <a:lnTo>
                  <a:pt x="0" y="0"/>
                </a:lnTo>
                <a:close/>
              </a:path>
            </a:pathLst>
          </a:custGeom>
          <a:blipFill>
            <a:blip r:embed="rId2"/>
            <a:stretch>
              <a:fillRect l="0" t="0" r="0" b="0"/>
            </a:stretch>
          </a:blipFill>
        </p:spPr>
      </p:sp>
      <p:sp>
        <p:nvSpPr>
          <p:cNvPr name="TextBox 3" id="3"/>
          <p:cNvSpPr txBox="true"/>
          <p:nvPr/>
        </p:nvSpPr>
        <p:spPr>
          <a:xfrm rot="0">
            <a:off x="1450816" y="1077328"/>
            <a:ext cx="2777218"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If - Else</a:t>
            </a:r>
          </a:p>
        </p:txBody>
      </p:sp>
      <p:sp>
        <p:nvSpPr>
          <p:cNvPr name="TextBox 4" id="4"/>
          <p:cNvSpPr txBox="true"/>
          <p:nvPr/>
        </p:nvSpPr>
        <p:spPr>
          <a:xfrm rot="0">
            <a:off x="1450816" y="2439022"/>
            <a:ext cx="2340259" cy="1040370"/>
          </a:xfrm>
          <a:prstGeom prst="rect">
            <a:avLst/>
          </a:prstGeom>
        </p:spPr>
        <p:txBody>
          <a:bodyPr anchor="t" rtlCol="false" tIns="0" lIns="0" bIns="0" rIns="0">
            <a:spAutoFit/>
          </a:bodyPr>
          <a:lstStyle/>
          <a:p>
            <a:pPr algn="ctr">
              <a:lnSpc>
                <a:spcPts val="8340"/>
              </a:lnSpc>
              <a:spcBef>
                <a:spcPct val="0"/>
              </a:spcBef>
            </a:pPr>
            <a:r>
              <a:rPr lang="en-US" sz="4964">
                <a:solidFill>
                  <a:srgbClr val="000000"/>
                </a:solidFill>
                <a:latin typeface="The Seasons"/>
                <a:ea typeface="The Seasons"/>
                <a:cs typeface="The Seasons"/>
                <a:sym typeface="The Seasons"/>
              </a:rPr>
              <a:t>Ejemplo</a:t>
            </a:r>
          </a:p>
        </p:txBody>
      </p:sp>
      <p:sp>
        <p:nvSpPr>
          <p:cNvPr name="TextBox 5" id="5"/>
          <p:cNvSpPr txBox="true"/>
          <p:nvPr/>
        </p:nvSpPr>
        <p:spPr>
          <a:xfrm rot="0">
            <a:off x="1450816" y="3733038"/>
            <a:ext cx="5799052" cy="2630424"/>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The Seasons"/>
                <a:ea typeface="The Seasons"/>
                <a:cs typeface="The Seasons"/>
                <a:sym typeface="The Seasons"/>
              </a:rPr>
              <a:t>Un ejemplo de condicional sin parte else es el siguiente, donde se imprime si un número es par o impar.</a:t>
            </a:r>
          </a:p>
        </p:txBody>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7" id="7"/>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636757" y="2167810"/>
            <a:ext cx="6622543" cy="6283138"/>
          </a:xfrm>
          <a:custGeom>
            <a:avLst/>
            <a:gdLst/>
            <a:ahLst/>
            <a:cxnLst/>
            <a:rect r="r" b="b" t="t" l="l"/>
            <a:pathLst>
              <a:path h="6283138" w="6622543">
                <a:moveTo>
                  <a:pt x="0" y="0"/>
                </a:moveTo>
                <a:lnTo>
                  <a:pt x="6622543" y="0"/>
                </a:lnTo>
                <a:lnTo>
                  <a:pt x="6622543" y="6283138"/>
                </a:lnTo>
                <a:lnTo>
                  <a:pt x="0" y="6283138"/>
                </a:lnTo>
                <a:lnTo>
                  <a:pt x="0" y="0"/>
                </a:lnTo>
                <a:close/>
              </a:path>
            </a:pathLst>
          </a:custGeom>
          <a:blipFill>
            <a:blip r:embed="rId2"/>
            <a:stretch>
              <a:fillRect l="0" t="0" r="0" b="0"/>
            </a:stretch>
          </a:blipFill>
        </p:spPr>
      </p:sp>
      <p:sp>
        <p:nvSpPr>
          <p:cNvPr name="TextBox 3" id="3"/>
          <p:cNvSpPr txBox="true"/>
          <p:nvPr/>
        </p:nvSpPr>
        <p:spPr>
          <a:xfrm rot="0">
            <a:off x="1424456" y="752475"/>
            <a:ext cx="3600705"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If - Else-If</a:t>
            </a:r>
          </a:p>
        </p:txBody>
      </p:sp>
      <p:sp>
        <p:nvSpPr>
          <p:cNvPr name="TextBox 4" id="4"/>
          <p:cNvSpPr txBox="true"/>
          <p:nvPr/>
        </p:nvSpPr>
        <p:spPr>
          <a:xfrm rot="0">
            <a:off x="1433733" y="1815385"/>
            <a:ext cx="2895005" cy="1292298"/>
          </a:xfrm>
          <a:prstGeom prst="rect">
            <a:avLst/>
          </a:prstGeom>
        </p:spPr>
        <p:txBody>
          <a:bodyPr anchor="t" rtlCol="false" tIns="0" lIns="0" bIns="0" rIns="0">
            <a:spAutoFit/>
          </a:bodyPr>
          <a:lstStyle/>
          <a:p>
            <a:pPr algn="ctr">
              <a:lnSpc>
                <a:spcPts val="10247"/>
              </a:lnSpc>
              <a:spcBef>
                <a:spcPct val="0"/>
              </a:spcBef>
            </a:pPr>
            <a:r>
              <a:rPr lang="en-US" b="true" sz="6099">
                <a:solidFill>
                  <a:srgbClr val="000000"/>
                </a:solidFill>
                <a:latin typeface="The Seasons Bold"/>
                <a:ea typeface="The Seasons Bold"/>
                <a:cs typeface="The Seasons Bold"/>
                <a:sym typeface="The Seasons Bold"/>
              </a:rPr>
              <a:t>Ejemplo</a:t>
            </a:r>
          </a:p>
        </p:txBody>
      </p:sp>
      <p:sp>
        <p:nvSpPr>
          <p:cNvPr name="TextBox 5" id="5"/>
          <p:cNvSpPr txBox="true"/>
          <p:nvPr/>
        </p:nvSpPr>
        <p:spPr>
          <a:xfrm rot="0">
            <a:off x="1424456" y="3130113"/>
            <a:ext cx="8816544" cy="5070782"/>
          </a:xfrm>
          <a:prstGeom prst="rect">
            <a:avLst/>
          </a:prstGeom>
        </p:spPr>
        <p:txBody>
          <a:bodyPr anchor="t" rtlCol="false" tIns="0" lIns="0" bIns="0" rIns="0">
            <a:spAutoFit/>
          </a:bodyPr>
          <a:lstStyle/>
          <a:p>
            <a:pPr algn="just">
              <a:lnSpc>
                <a:spcPts val="6729"/>
              </a:lnSpc>
              <a:spcBef>
                <a:spcPct val="0"/>
              </a:spcBef>
            </a:pPr>
            <a:r>
              <a:rPr lang="en-US" sz="4005">
                <a:solidFill>
                  <a:srgbClr val="000000"/>
                </a:solidFill>
                <a:latin typeface="The Seasons"/>
                <a:ea typeface="The Seasons"/>
                <a:cs typeface="The Seasons"/>
                <a:sym typeface="The Seasons"/>
              </a:rPr>
              <a:t>Es posible construir una serie de comprobaciones uniendo un if a la cláusula else de un if anterior. Por ejemplo, el siguiente trozo de código muestra una calificación dada una nota numérica.</a:t>
            </a:r>
          </a:p>
        </p:txBody>
      </p:sp>
      <p:sp>
        <p:nvSpPr>
          <p:cNvPr name="AutoShape 6" id="6"/>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654368"/>
            <a:ext cx="13991101" cy="938698"/>
          </a:xfrm>
          <a:custGeom>
            <a:avLst/>
            <a:gdLst/>
            <a:ahLst/>
            <a:cxnLst/>
            <a:rect r="r" b="b" t="t" l="l"/>
            <a:pathLst>
              <a:path h="938698" w="13991101">
                <a:moveTo>
                  <a:pt x="0" y="0"/>
                </a:moveTo>
                <a:lnTo>
                  <a:pt x="13991101" y="0"/>
                </a:lnTo>
                <a:lnTo>
                  <a:pt x="13991101" y="938698"/>
                </a:lnTo>
                <a:lnTo>
                  <a:pt x="0" y="938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4886" y="3027817"/>
            <a:ext cx="12625502" cy="783441"/>
          </a:xfrm>
          <a:custGeom>
            <a:avLst/>
            <a:gdLst/>
            <a:ahLst/>
            <a:cxnLst/>
            <a:rect r="r" b="b" t="t" l="l"/>
            <a:pathLst>
              <a:path h="783441" w="12625502">
                <a:moveTo>
                  <a:pt x="0" y="0"/>
                </a:moveTo>
                <a:lnTo>
                  <a:pt x="12625502" y="0"/>
                </a:lnTo>
                <a:lnTo>
                  <a:pt x="12625502" y="783440"/>
                </a:lnTo>
                <a:lnTo>
                  <a:pt x="0" y="783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95090" y="518669"/>
            <a:ext cx="9442787" cy="8730106"/>
          </a:xfrm>
          <a:custGeom>
            <a:avLst/>
            <a:gdLst/>
            <a:ahLst/>
            <a:cxnLst/>
            <a:rect r="r" b="b" t="t" l="l"/>
            <a:pathLst>
              <a:path h="8730106" w="9442787">
                <a:moveTo>
                  <a:pt x="0" y="0"/>
                </a:moveTo>
                <a:lnTo>
                  <a:pt x="9442786" y="0"/>
                </a:lnTo>
                <a:lnTo>
                  <a:pt x="9442786" y="8730106"/>
                </a:lnTo>
                <a:lnTo>
                  <a:pt x="0" y="8730106"/>
                </a:lnTo>
                <a:lnTo>
                  <a:pt x="0" y="0"/>
                </a:lnTo>
                <a:close/>
              </a:path>
            </a:pathLst>
          </a:custGeom>
          <a:blipFill>
            <a:blip r:embed="rId6"/>
            <a:stretch>
              <a:fillRect l="0" t="-4377" r="0" b="0"/>
            </a:stretch>
          </a:blipFill>
        </p:spPr>
      </p:sp>
      <p:sp>
        <p:nvSpPr>
          <p:cNvPr name="TextBox 5" id="5"/>
          <p:cNvSpPr txBox="true"/>
          <p:nvPr/>
        </p:nvSpPr>
        <p:spPr>
          <a:xfrm rot="0">
            <a:off x="1396698" y="528377"/>
            <a:ext cx="3970990"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If - Else - If</a:t>
            </a:r>
          </a:p>
        </p:txBody>
      </p:sp>
      <p:sp>
        <p:nvSpPr>
          <p:cNvPr name="AutoShape 6" id="6"/>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TextBox 8" id="8"/>
          <p:cNvSpPr txBox="true"/>
          <p:nvPr/>
        </p:nvSpPr>
        <p:spPr>
          <a:xfrm rot="0">
            <a:off x="1471633" y="1655666"/>
            <a:ext cx="6287266" cy="1292298"/>
          </a:xfrm>
          <a:prstGeom prst="rect">
            <a:avLst/>
          </a:prstGeom>
        </p:spPr>
        <p:txBody>
          <a:bodyPr anchor="t" rtlCol="false" tIns="0" lIns="0" bIns="0" rIns="0">
            <a:spAutoFit/>
          </a:bodyPr>
          <a:lstStyle/>
          <a:p>
            <a:pPr algn="ctr">
              <a:lnSpc>
                <a:spcPts val="10247"/>
              </a:lnSpc>
              <a:spcBef>
                <a:spcPct val="0"/>
              </a:spcBef>
            </a:pPr>
            <a:r>
              <a:rPr lang="en-US" b="true" sz="6099">
                <a:solidFill>
                  <a:srgbClr val="000000"/>
                </a:solidFill>
                <a:latin typeface="The Seasons Bold"/>
                <a:ea typeface="The Seasons Bold"/>
                <a:cs typeface="The Seasons Bold"/>
                <a:sym typeface="The Seasons Bold"/>
              </a:rPr>
              <a:t>Diagrama de Flujo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19163" y="6062197"/>
            <a:ext cx="5114490" cy="3186578"/>
          </a:xfrm>
          <a:custGeom>
            <a:avLst/>
            <a:gdLst/>
            <a:ahLst/>
            <a:cxnLst/>
            <a:rect r="r" b="b" t="t" l="l"/>
            <a:pathLst>
              <a:path h="3186578" w="5114490">
                <a:moveTo>
                  <a:pt x="0" y="0"/>
                </a:moveTo>
                <a:lnTo>
                  <a:pt x="5114489" y="0"/>
                </a:lnTo>
                <a:lnTo>
                  <a:pt x="5114489" y="3186578"/>
                </a:lnTo>
                <a:lnTo>
                  <a:pt x="0" y="3186578"/>
                </a:lnTo>
                <a:lnTo>
                  <a:pt x="0" y="0"/>
                </a:lnTo>
                <a:close/>
              </a:path>
            </a:pathLst>
          </a:custGeom>
          <a:blipFill>
            <a:blip r:embed="rId2"/>
            <a:stretch>
              <a:fillRect l="0" t="0" r="0" b="0"/>
            </a:stretch>
          </a:blipFill>
        </p:spPr>
      </p:sp>
      <p:sp>
        <p:nvSpPr>
          <p:cNvPr name="Freeform 3" id="3"/>
          <p:cNvSpPr/>
          <p:nvPr/>
        </p:nvSpPr>
        <p:spPr>
          <a:xfrm flipH="false" flipV="false" rot="0">
            <a:off x="4095431" y="1180374"/>
            <a:ext cx="10097137" cy="7926253"/>
          </a:xfrm>
          <a:custGeom>
            <a:avLst/>
            <a:gdLst/>
            <a:ahLst/>
            <a:cxnLst/>
            <a:rect r="r" b="b" t="t" l="l"/>
            <a:pathLst>
              <a:path h="7926253" w="10097137">
                <a:moveTo>
                  <a:pt x="0" y="0"/>
                </a:moveTo>
                <a:lnTo>
                  <a:pt x="10097138" y="0"/>
                </a:lnTo>
                <a:lnTo>
                  <a:pt x="10097138" y="7926252"/>
                </a:lnTo>
                <a:lnTo>
                  <a:pt x="0" y="7926252"/>
                </a:lnTo>
                <a:lnTo>
                  <a:pt x="0" y="0"/>
                </a:lnTo>
                <a:close/>
              </a:path>
            </a:pathLst>
          </a:custGeom>
          <a:blipFill>
            <a:blip r:embed="rId3"/>
            <a:stretch>
              <a:fillRect l="0" t="0" r="0" b="0"/>
            </a:stretch>
          </a:blipFill>
        </p:spPr>
      </p:sp>
      <p:sp>
        <p:nvSpPr>
          <p:cNvPr name="AutoShape 4" id="4"/>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2016" y="1639235"/>
            <a:ext cx="6101595" cy="6587417"/>
          </a:xfrm>
          <a:custGeom>
            <a:avLst/>
            <a:gdLst/>
            <a:ahLst/>
            <a:cxnLst/>
            <a:rect r="r" b="b" t="t" l="l"/>
            <a:pathLst>
              <a:path h="6587417" w="6101595">
                <a:moveTo>
                  <a:pt x="0" y="0"/>
                </a:moveTo>
                <a:lnTo>
                  <a:pt x="6101595" y="0"/>
                </a:lnTo>
                <a:lnTo>
                  <a:pt x="6101595" y="6587417"/>
                </a:lnTo>
                <a:lnTo>
                  <a:pt x="0" y="6587417"/>
                </a:lnTo>
                <a:lnTo>
                  <a:pt x="0" y="0"/>
                </a:lnTo>
                <a:close/>
              </a:path>
            </a:pathLst>
          </a:custGeom>
          <a:blipFill>
            <a:blip r:embed="rId2"/>
            <a:stretch>
              <a:fillRect l="0" t="0" r="0" b="0"/>
            </a:stretch>
          </a:blipFill>
        </p:spPr>
      </p:sp>
      <p:sp>
        <p:nvSpPr>
          <p:cNvPr name="TextBox 3" id="3"/>
          <p:cNvSpPr txBox="true"/>
          <p:nvPr/>
        </p:nvSpPr>
        <p:spPr>
          <a:xfrm rot="0">
            <a:off x="3520226" y="1554851"/>
            <a:ext cx="4759609"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Select - Case</a:t>
            </a:r>
          </a:p>
        </p:txBody>
      </p:sp>
      <p:sp>
        <p:nvSpPr>
          <p:cNvPr name="TextBox 4" id="4"/>
          <p:cNvSpPr txBox="true"/>
          <p:nvPr/>
        </p:nvSpPr>
        <p:spPr>
          <a:xfrm rot="0">
            <a:off x="1934839" y="3522481"/>
            <a:ext cx="8940508" cy="3287649"/>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The Seasons"/>
                <a:ea typeface="The Seasons"/>
                <a:cs typeface="The Seasons"/>
                <a:sym typeface="The Seasons"/>
              </a:rPr>
              <a:t>Mediante esta instrucción establecemos una serie de casos que se podrían cumplir para el valor de una expresión o variable, y en función del valor de la variable se ejecutarán una serie de instrucciones asociadas u otra.</a:t>
            </a:r>
          </a:p>
        </p:txBody>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84374" y="2757912"/>
            <a:ext cx="11119252" cy="6490863"/>
          </a:xfrm>
          <a:custGeom>
            <a:avLst/>
            <a:gdLst/>
            <a:ahLst/>
            <a:cxnLst/>
            <a:rect r="r" b="b" t="t" l="l"/>
            <a:pathLst>
              <a:path h="6490863" w="11119252">
                <a:moveTo>
                  <a:pt x="0" y="0"/>
                </a:moveTo>
                <a:lnTo>
                  <a:pt x="11119252" y="0"/>
                </a:lnTo>
                <a:lnTo>
                  <a:pt x="11119252" y="6490863"/>
                </a:lnTo>
                <a:lnTo>
                  <a:pt x="0" y="6490863"/>
                </a:lnTo>
                <a:lnTo>
                  <a:pt x="0" y="0"/>
                </a:lnTo>
                <a:close/>
              </a:path>
            </a:pathLst>
          </a:custGeom>
          <a:blipFill>
            <a:blip r:embed="rId2"/>
            <a:stretch>
              <a:fillRect l="0" t="0" r="0" b="0"/>
            </a:stretch>
          </a:blipFill>
        </p:spPr>
      </p:sp>
      <p:sp>
        <p:nvSpPr>
          <p:cNvPr name="TextBox 3" id="3"/>
          <p:cNvSpPr txBox="true"/>
          <p:nvPr/>
        </p:nvSpPr>
        <p:spPr>
          <a:xfrm rot="0">
            <a:off x="6764196" y="529596"/>
            <a:ext cx="4759609"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Select - Case</a:t>
            </a:r>
          </a:p>
        </p:txBody>
      </p:sp>
      <p:sp>
        <p:nvSpPr>
          <p:cNvPr name="TextBox 4" id="4"/>
          <p:cNvSpPr txBox="true"/>
          <p:nvPr/>
        </p:nvSpPr>
        <p:spPr>
          <a:xfrm rot="0">
            <a:off x="6000367" y="1488405"/>
            <a:ext cx="6287266" cy="1292298"/>
          </a:xfrm>
          <a:prstGeom prst="rect">
            <a:avLst/>
          </a:prstGeom>
        </p:spPr>
        <p:txBody>
          <a:bodyPr anchor="t" rtlCol="false" tIns="0" lIns="0" bIns="0" rIns="0">
            <a:spAutoFit/>
          </a:bodyPr>
          <a:lstStyle/>
          <a:p>
            <a:pPr algn="ctr">
              <a:lnSpc>
                <a:spcPts val="10247"/>
              </a:lnSpc>
              <a:spcBef>
                <a:spcPct val="0"/>
              </a:spcBef>
            </a:pPr>
            <a:r>
              <a:rPr lang="en-US" b="true" sz="6099">
                <a:solidFill>
                  <a:srgbClr val="000000"/>
                </a:solidFill>
                <a:latin typeface="The Seasons Bold"/>
                <a:ea typeface="The Seasons Bold"/>
                <a:cs typeface="The Seasons Bold"/>
                <a:sym typeface="The Seasons Bold"/>
              </a:rPr>
              <a:t>Diagrama de Flujo</a:t>
            </a:r>
          </a:p>
        </p:txBody>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07369" y="2373181"/>
            <a:ext cx="13873261" cy="5713537"/>
          </a:xfrm>
          <a:prstGeom prst="rect">
            <a:avLst/>
          </a:prstGeom>
        </p:spPr>
        <p:txBody>
          <a:bodyPr anchor="t" rtlCol="false" tIns="0" lIns="0" bIns="0" rIns="0">
            <a:spAutoFit/>
          </a:bodyPr>
          <a:lstStyle/>
          <a:p>
            <a:pPr algn="just">
              <a:lnSpc>
                <a:spcPts val="4502"/>
              </a:lnSpc>
              <a:spcBef>
                <a:spcPct val="0"/>
              </a:spcBef>
            </a:pPr>
            <a:r>
              <a:rPr lang="en-US" sz="2680">
                <a:solidFill>
                  <a:srgbClr val="000000"/>
                </a:solidFill>
                <a:latin typeface="The Seasons"/>
                <a:ea typeface="The Seasons"/>
                <a:cs typeface="The Seasons"/>
                <a:sym typeface="The Seasons"/>
              </a:rPr>
              <a:t>La expresión a evaluar puede ser un valor numérico o una cadena de texto. Sólo se puede evaluar una expresión y no múltiples expresiones. La evaluación de expresiones puede ser:</a:t>
            </a:r>
          </a:p>
          <a:p>
            <a:pPr algn="just" marL="578667" indent="-289333" lvl="1">
              <a:lnSpc>
                <a:spcPts val="4502"/>
              </a:lnSpc>
              <a:buFont typeface="Arial"/>
              <a:buChar char="•"/>
            </a:pPr>
            <a:r>
              <a:rPr lang="en-US" sz="2680">
                <a:solidFill>
                  <a:srgbClr val="000000"/>
                </a:solidFill>
                <a:latin typeface="The Seasons"/>
                <a:ea typeface="The Seasons"/>
                <a:cs typeface="The Seasons"/>
                <a:sym typeface="The Seasons"/>
              </a:rPr>
              <a:t>De coincidencia: por ejemplo, Case 12 indicaría que si la expresión evaluada vale 12 se ejecutarán las instrucciones anexas.</a:t>
            </a:r>
          </a:p>
          <a:p>
            <a:pPr algn="just" marL="578667" indent="-289333" lvl="1">
              <a:lnSpc>
                <a:spcPts val="4502"/>
              </a:lnSpc>
              <a:buFont typeface="Arial"/>
              <a:buChar char="•"/>
            </a:pPr>
            <a:r>
              <a:rPr lang="en-US" sz="2680">
                <a:solidFill>
                  <a:srgbClr val="000000"/>
                </a:solidFill>
                <a:latin typeface="The Seasons"/>
                <a:ea typeface="The Seasons"/>
                <a:cs typeface="The Seasons"/>
                <a:sym typeface="The Seasons"/>
              </a:rPr>
              <a:t>De intervalo: usando la palabra clave To. Por ejemplo, Case 12 To 14 indicaría que si la expresión evaluada tiene un valor comprendido entre 12 y 14 (incluidos los extremos de los intervalos), se ejecutarán las instrucciones anexas.</a:t>
            </a:r>
          </a:p>
          <a:p>
            <a:pPr algn="just" marL="578667" indent="-289333" lvl="1">
              <a:lnSpc>
                <a:spcPts val="4502"/>
              </a:lnSpc>
              <a:buFont typeface="Arial"/>
              <a:buChar char="•"/>
            </a:pPr>
            <a:r>
              <a:rPr lang="en-US" sz="2680">
                <a:solidFill>
                  <a:srgbClr val="000000"/>
                </a:solidFill>
                <a:latin typeface="The Seasons"/>
                <a:ea typeface="The Seasons"/>
                <a:cs typeface="The Seasons"/>
                <a:sym typeface="The Seasons"/>
              </a:rPr>
              <a:t>De comparación: usando la palabra clave Is. Por ejemplo, Case Is &lt;= 14 indicaría que si la expresión evaluada tiene un valor menor o igual a 14 se ejecutarán las instrucciones anexas.</a:t>
            </a:r>
          </a:p>
        </p:txBody>
      </p:sp>
      <p:sp>
        <p:nvSpPr>
          <p:cNvPr name="TextBox 3" id="3"/>
          <p:cNvSpPr txBox="true"/>
          <p:nvPr/>
        </p:nvSpPr>
        <p:spPr>
          <a:xfrm rot="0">
            <a:off x="6764196" y="529596"/>
            <a:ext cx="4759609" cy="1199770"/>
          </a:xfrm>
          <a:prstGeom prst="rect">
            <a:avLst/>
          </a:prstGeom>
        </p:spPr>
        <p:txBody>
          <a:bodyPr anchor="t" rtlCol="false" tIns="0" lIns="0" bIns="0" rIns="0">
            <a:spAutoFit/>
          </a:bodyPr>
          <a:lstStyle/>
          <a:p>
            <a:pPr algn="ctr">
              <a:lnSpc>
                <a:spcPts val="10247"/>
              </a:lnSpc>
              <a:spcBef>
                <a:spcPct val="0"/>
              </a:spcBef>
            </a:pPr>
            <a:r>
              <a:rPr lang="en-US" sz="6099">
                <a:solidFill>
                  <a:srgbClr val="000000"/>
                </a:solidFill>
                <a:latin typeface="Prata"/>
                <a:ea typeface="Prata"/>
                <a:cs typeface="Prata"/>
                <a:sym typeface="Prata"/>
              </a:rPr>
              <a:t>Select - Case</a:t>
            </a:r>
          </a:p>
        </p:txBody>
      </p:sp>
      <p:sp>
        <p:nvSpPr>
          <p:cNvPr name="AutoShape 4" id="4"/>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48440" y="4077814"/>
            <a:ext cx="13991101" cy="938698"/>
          </a:xfrm>
          <a:custGeom>
            <a:avLst/>
            <a:gdLst/>
            <a:ahLst/>
            <a:cxnLst/>
            <a:rect r="r" b="b" t="t" l="l"/>
            <a:pathLst>
              <a:path h="938698" w="13991101">
                <a:moveTo>
                  <a:pt x="0" y="0"/>
                </a:moveTo>
                <a:lnTo>
                  <a:pt x="13991101" y="0"/>
                </a:lnTo>
                <a:lnTo>
                  <a:pt x="13991101" y="938699"/>
                </a:lnTo>
                <a:lnTo>
                  <a:pt x="0" y="938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3"/>
            <a:ext cx="4695577" cy="6434680"/>
          </a:xfrm>
          <a:custGeom>
            <a:avLst/>
            <a:gdLst/>
            <a:ahLst/>
            <a:cxnLst/>
            <a:rect r="r" b="b" t="t" l="l"/>
            <a:pathLst>
              <a:path h="6434680" w="4695577">
                <a:moveTo>
                  <a:pt x="0" y="0"/>
                </a:moveTo>
                <a:lnTo>
                  <a:pt x="4695577" y="0"/>
                </a:lnTo>
                <a:lnTo>
                  <a:pt x="4695577" y="6434681"/>
                </a:lnTo>
                <a:lnTo>
                  <a:pt x="0" y="64346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69935" y="0"/>
            <a:ext cx="4695577" cy="6434680"/>
          </a:xfrm>
          <a:custGeom>
            <a:avLst/>
            <a:gdLst/>
            <a:ahLst/>
            <a:cxnLst/>
            <a:rect r="r" b="b" t="t" l="l"/>
            <a:pathLst>
              <a:path h="6434680" w="4695577">
                <a:moveTo>
                  <a:pt x="0" y="0"/>
                </a:moveTo>
                <a:lnTo>
                  <a:pt x="4695578" y="0"/>
                </a:lnTo>
                <a:lnTo>
                  <a:pt x="4695578" y="6434680"/>
                </a:lnTo>
                <a:lnTo>
                  <a:pt x="0" y="6434680"/>
                </a:lnTo>
                <a:lnTo>
                  <a:pt x="0" y="0"/>
                </a:lnTo>
                <a:close/>
              </a:path>
            </a:pathLst>
          </a:custGeom>
          <a:blipFill>
            <a:blip r:embed="rId6"/>
            <a:stretch>
              <a:fillRect l="0" t="0" r="0" b="0"/>
            </a:stretch>
          </a:blipFill>
        </p:spPr>
      </p:sp>
      <p:sp>
        <p:nvSpPr>
          <p:cNvPr name="TextBox 5" id="5"/>
          <p:cNvSpPr txBox="true"/>
          <p:nvPr/>
        </p:nvSpPr>
        <p:spPr>
          <a:xfrm rot="0">
            <a:off x="6465513" y="4023665"/>
            <a:ext cx="6390595" cy="1035736"/>
          </a:xfrm>
          <a:prstGeom prst="rect">
            <a:avLst/>
          </a:prstGeom>
        </p:spPr>
        <p:txBody>
          <a:bodyPr anchor="t" rtlCol="false" tIns="0" lIns="0" bIns="0" rIns="0">
            <a:spAutoFit/>
          </a:bodyPr>
          <a:lstStyle/>
          <a:p>
            <a:pPr algn="l">
              <a:lnSpc>
                <a:spcPts val="8537"/>
              </a:lnSpc>
            </a:pPr>
            <a:r>
              <a:rPr lang="en-US" sz="6098">
                <a:solidFill>
                  <a:srgbClr val="131416"/>
                </a:solidFill>
                <a:latin typeface="Prata"/>
                <a:ea typeface="Prata"/>
                <a:cs typeface="Prata"/>
                <a:sym typeface="Prata"/>
              </a:rPr>
              <a:t>Ejemplo práctico</a:t>
            </a:r>
          </a:p>
        </p:txBody>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7" id="7"/>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654368"/>
            <a:ext cx="13991101" cy="938698"/>
          </a:xfrm>
          <a:custGeom>
            <a:avLst/>
            <a:gdLst/>
            <a:ahLst/>
            <a:cxnLst/>
            <a:rect r="r" b="b" t="t" l="l"/>
            <a:pathLst>
              <a:path h="938698" w="13991101">
                <a:moveTo>
                  <a:pt x="0" y="0"/>
                </a:moveTo>
                <a:lnTo>
                  <a:pt x="13991101" y="0"/>
                </a:lnTo>
                <a:lnTo>
                  <a:pt x="13991101" y="938698"/>
                </a:lnTo>
                <a:lnTo>
                  <a:pt x="0" y="938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9363576" y="5097151"/>
          <a:ext cx="11944350" cy="4645438"/>
        </p:xfrm>
        <a:graphic>
          <a:graphicData uri="http://schemas.openxmlformats.org/presentationml/2006/ole">
            <p:oleObj imgW="14325600" imgH="7035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1736186" y="552475"/>
            <a:ext cx="15700943" cy="1093470"/>
          </a:xfrm>
          <a:prstGeom prst="rect">
            <a:avLst/>
          </a:prstGeom>
        </p:spPr>
        <p:txBody>
          <a:bodyPr anchor="t" rtlCol="false" tIns="0" lIns="0" bIns="0" rIns="0">
            <a:spAutoFit/>
          </a:bodyPr>
          <a:lstStyle/>
          <a:p>
            <a:pPr algn="just">
              <a:lnSpc>
                <a:spcPts val="9240"/>
              </a:lnSpc>
              <a:spcBef>
                <a:spcPct val="0"/>
              </a:spcBef>
            </a:pPr>
            <a:r>
              <a:rPr lang="en-US" sz="5500">
                <a:solidFill>
                  <a:srgbClr val="000000"/>
                </a:solidFill>
                <a:latin typeface="Prata"/>
                <a:ea typeface="Prata"/>
                <a:cs typeface="Prata"/>
                <a:sym typeface="Prata"/>
              </a:rPr>
              <a:t>APLICACIONES POR MEDIO DE EJEMPLOS</a:t>
            </a:r>
          </a:p>
        </p:txBody>
      </p:sp>
      <p:sp>
        <p:nvSpPr>
          <p:cNvPr name="TextBox 5" id="5"/>
          <p:cNvSpPr txBox="true"/>
          <p:nvPr/>
        </p:nvSpPr>
        <p:spPr>
          <a:xfrm rot="0">
            <a:off x="1736186" y="1637795"/>
            <a:ext cx="15700943" cy="1651254"/>
          </a:xfrm>
          <a:prstGeom prst="rect">
            <a:avLst/>
          </a:prstGeom>
        </p:spPr>
        <p:txBody>
          <a:bodyPr anchor="t" rtlCol="false" tIns="0" lIns="0" bIns="0" rIns="0">
            <a:spAutoFit/>
          </a:bodyPr>
          <a:lstStyle/>
          <a:p>
            <a:pPr algn="just">
              <a:lnSpc>
                <a:spcPts val="4368"/>
              </a:lnSpc>
              <a:spcBef>
                <a:spcPct val="0"/>
              </a:spcBef>
            </a:pPr>
            <a:r>
              <a:rPr lang="en-US" sz="2600">
                <a:solidFill>
                  <a:srgbClr val="000000"/>
                </a:solidFill>
                <a:latin typeface="The Seasons"/>
                <a:ea typeface="The Seasons"/>
                <a:cs typeface="The Seasons"/>
                <a:sym typeface="The Seasons"/>
              </a:rPr>
              <a:t>Se requiere desarrollar una aplicación en Visual Basic .NET que permita calcular el subtotal, descuentos y total a pagar por la compra de productos de limpieza, dependiendo del tipo de cliente y los productos seleccionados. La aplicación debe cumplir con los siguientes requerimientos:</a:t>
            </a:r>
          </a:p>
        </p:txBody>
      </p:sp>
      <p:sp>
        <p:nvSpPr>
          <p:cNvPr name="TextBox 6" id="6"/>
          <p:cNvSpPr txBox="true"/>
          <p:nvPr/>
        </p:nvSpPr>
        <p:spPr>
          <a:xfrm rot="0">
            <a:off x="1736186" y="3336674"/>
            <a:ext cx="15700943" cy="1656697"/>
          </a:xfrm>
          <a:prstGeom prst="rect">
            <a:avLst/>
          </a:prstGeom>
        </p:spPr>
        <p:txBody>
          <a:bodyPr anchor="t" rtlCol="false" tIns="0" lIns="0" bIns="0" rIns="0">
            <a:spAutoFit/>
          </a:bodyPr>
          <a:lstStyle/>
          <a:p>
            <a:pPr algn="just">
              <a:lnSpc>
                <a:spcPts val="4368"/>
              </a:lnSpc>
              <a:spcBef>
                <a:spcPct val="0"/>
              </a:spcBef>
            </a:pPr>
            <a:r>
              <a:rPr lang="en-US" b="true" sz="2600">
                <a:solidFill>
                  <a:srgbClr val="000000"/>
                </a:solidFill>
                <a:latin typeface="The Seasons Bold"/>
                <a:ea typeface="The Seasons Bold"/>
                <a:cs typeface="The Seasons Bold"/>
                <a:sym typeface="The Seasons Bold"/>
              </a:rPr>
              <a:t>Objetivo General</a:t>
            </a:r>
          </a:p>
          <a:p>
            <a:pPr algn="just">
              <a:lnSpc>
                <a:spcPts val="4368"/>
              </a:lnSpc>
              <a:spcBef>
                <a:spcPct val="0"/>
              </a:spcBef>
            </a:pPr>
            <a:r>
              <a:rPr lang="en-US" sz="2600">
                <a:solidFill>
                  <a:srgbClr val="000000"/>
                </a:solidFill>
                <a:latin typeface="The Seasons"/>
                <a:ea typeface="The Seasons"/>
                <a:cs typeface="The Seasons"/>
                <a:sym typeface="The Seasons"/>
              </a:rPr>
              <a:t>Calcular de forma dinámica el monto a pagar por un cliente según los productos seleccionados, el tipo de cliente (Regular, Mayorista o Premium) y los descuentos aplicables.</a:t>
            </a:r>
          </a:p>
        </p:txBody>
      </p:sp>
      <p:sp>
        <p:nvSpPr>
          <p:cNvPr name="TextBox 7" id="7"/>
          <p:cNvSpPr txBox="true"/>
          <p:nvPr/>
        </p:nvSpPr>
        <p:spPr>
          <a:xfrm rot="0">
            <a:off x="1736186" y="5187634"/>
            <a:ext cx="6279136" cy="3314047"/>
          </a:xfrm>
          <a:prstGeom prst="rect">
            <a:avLst/>
          </a:prstGeom>
        </p:spPr>
        <p:txBody>
          <a:bodyPr anchor="t" rtlCol="false" tIns="0" lIns="0" bIns="0" rIns="0">
            <a:spAutoFit/>
          </a:bodyPr>
          <a:lstStyle/>
          <a:p>
            <a:pPr algn="just">
              <a:lnSpc>
                <a:spcPts val="4368"/>
              </a:lnSpc>
              <a:spcBef>
                <a:spcPct val="0"/>
              </a:spcBef>
            </a:pPr>
            <a:r>
              <a:rPr lang="en-US" b="true" sz="2600">
                <a:solidFill>
                  <a:srgbClr val="000000"/>
                </a:solidFill>
                <a:latin typeface="The Seasons Bold"/>
                <a:ea typeface="The Seasons Bold"/>
                <a:cs typeface="The Seasons Bold"/>
                <a:sym typeface="The Seasons Bold"/>
              </a:rPr>
              <a:t>Tipos de Cliente</a:t>
            </a:r>
          </a:p>
          <a:p>
            <a:pPr algn="just" marL="561341" indent="-280670" lvl="1">
              <a:lnSpc>
                <a:spcPts val="4368"/>
              </a:lnSpc>
              <a:buFont typeface="Arial"/>
              <a:buChar char="•"/>
            </a:pPr>
            <a:r>
              <a:rPr lang="en-US" sz="2600">
                <a:solidFill>
                  <a:srgbClr val="000000"/>
                </a:solidFill>
                <a:latin typeface="The Seasons"/>
                <a:ea typeface="The Seasons"/>
                <a:cs typeface="The Seasons"/>
                <a:sym typeface="The Seasons"/>
              </a:rPr>
              <a:t>Regular</a:t>
            </a:r>
          </a:p>
          <a:p>
            <a:pPr algn="just" marL="561341" indent="-280670" lvl="1">
              <a:lnSpc>
                <a:spcPts val="4368"/>
              </a:lnSpc>
              <a:buFont typeface="Arial"/>
              <a:buChar char="•"/>
            </a:pPr>
            <a:r>
              <a:rPr lang="en-US" sz="2600">
                <a:solidFill>
                  <a:srgbClr val="000000"/>
                </a:solidFill>
                <a:latin typeface="The Seasons"/>
                <a:ea typeface="The Seasons"/>
                <a:cs typeface="The Seasons"/>
                <a:sym typeface="The Seasons"/>
              </a:rPr>
              <a:t>Mayorista</a:t>
            </a:r>
          </a:p>
          <a:p>
            <a:pPr algn="just" marL="561341" indent="-280670" lvl="1">
              <a:lnSpc>
                <a:spcPts val="4368"/>
              </a:lnSpc>
              <a:buFont typeface="Arial"/>
              <a:buChar char="•"/>
            </a:pPr>
            <a:r>
              <a:rPr lang="en-US" sz="2600">
                <a:solidFill>
                  <a:srgbClr val="000000"/>
                </a:solidFill>
                <a:latin typeface="The Seasons"/>
                <a:ea typeface="The Seasons"/>
                <a:cs typeface="The Seasons"/>
                <a:sym typeface="The Seasons"/>
              </a:rPr>
              <a:t>Premium</a:t>
            </a:r>
          </a:p>
          <a:p>
            <a:pPr algn="just">
              <a:lnSpc>
                <a:spcPts val="4368"/>
              </a:lnSpc>
              <a:spcBef>
                <a:spcPct val="0"/>
              </a:spcBef>
            </a:pPr>
            <a:r>
              <a:rPr lang="en-US" sz="2600">
                <a:solidFill>
                  <a:srgbClr val="000000"/>
                </a:solidFill>
                <a:latin typeface="The Seasons"/>
                <a:ea typeface="The Seasons"/>
                <a:cs typeface="The Seasons"/>
                <a:sym typeface="The Seasons"/>
              </a:rPr>
              <a:t>Cada tipo de cliente tiene un precio distinto por producto.</a:t>
            </a:r>
          </a:p>
        </p:txBody>
      </p:sp>
      <p:sp>
        <p:nvSpPr>
          <p:cNvPr name="TextBox 8" id="8"/>
          <p:cNvSpPr txBox="true"/>
          <p:nvPr/>
        </p:nvSpPr>
        <p:spPr>
          <a:xfrm rot="0">
            <a:off x="1736186" y="8695944"/>
            <a:ext cx="12915752" cy="552831"/>
          </a:xfrm>
          <a:prstGeom prst="rect">
            <a:avLst/>
          </a:prstGeom>
        </p:spPr>
        <p:txBody>
          <a:bodyPr anchor="t" rtlCol="false" tIns="0" lIns="0" bIns="0" rIns="0">
            <a:spAutoFit/>
          </a:bodyPr>
          <a:lstStyle/>
          <a:p>
            <a:pPr algn="just">
              <a:lnSpc>
                <a:spcPts val="4451"/>
              </a:lnSpc>
              <a:spcBef>
                <a:spcPct val="0"/>
              </a:spcBef>
            </a:pPr>
            <a:r>
              <a:rPr lang="en-US" sz="2649">
                <a:solidFill>
                  <a:srgbClr val="000000"/>
                </a:solidFill>
                <a:latin typeface="The Seasons"/>
                <a:ea typeface="The Seasons"/>
                <a:cs typeface="The Seasons"/>
                <a:sym typeface="The Seasons"/>
              </a:rPr>
              <a:t>El usuario puede seleccionar uno o varios de estos productos mediante un Input</a:t>
            </a:r>
          </a:p>
        </p:txBody>
      </p:sp>
      <p:sp>
        <p:nvSpPr>
          <p:cNvPr name="AutoShape 9" id="9"/>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10" id="10"/>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4351" y="598212"/>
            <a:ext cx="4889387" cy="699051"/>
          </a:xfrm>
          <a:prstGeom prst="rect">
            <a:avLst/>
          </a:prstGeom>
        </p:spPr>
        <p:txBody>
          <a:bodyPr anchor="t" rtlCol="false" tIns="0" lIns="0" bIns="0" rIns="0">
            <a:spAutoFit/>
          </a:bodyPr>
          <a:lstStyle/>
          <a:p>
            <a:pPr algn="ctr">
              <a:lnSpc>
                <a:spcPts val="5934"/>
              </a:lnSpc>
              <a:spcBef>
                <a:spcPct val="0"/>
              </a:spcBef>
            </a:pPr>
            <a:r>
              <a:rPr lang="en-US" sz="3532">
                <a:solidFill>
                  <a:srgbClr val="000000"/>
                </a:solidFill>
                <a:latin typeface="Prata"/>
                <a:ea typeface="Prata"/>
                <a:cs typeface="Prata"/>
                <a:sym typeface="Prata"/>
              </a:rPr>
              <a:t>Descuentos Aplicables</a:t>
            </a:r>
          </a:p>
        </p:txBody>
      </p:sp>
      <p:sp>
        <p:nvSpPr>
          <p:cNvPr name="TextBox 3" id="3"/>
          <p:cNvSpPr txBox="true"/>
          <p:nvPr/>
        </p:nvSpPr>
        <p:spPr>
          <a:xfrm rot="0">
            <a:off x="1424351" y="1333110"/>
            <a:ext cx="15834949" cy="2520696"/>
          </a:xfrm>
          <a:prstGeom prst="rect">
            <a:avLst/>
          </a:prstGeom>
        </p:spPr>
        <p:txBody>
          <a:bodyPr anchor="t" rtlCol="false" tIns="0" lIns="0" bIns="0" rIns="0">
            <a:spAutoFit/>
          </a:bodyPr>
          <a:lstStyle/>
          <a:p>
            <a:pPr algn="l">
              <a:lnSpc>
                <a:spcPts val="4032"/>
              </a:lnSpc>
            </a:pPr>
            <a:r>
              <a:rPr lang="en-US" b="true" sz="2400">
                <a:solidFill>
                  <a:srgbClr val="000000"/>
                </a:solidFill>
                <a:latin typeface="The Seasons Bold"/>
                <a:ea typeface="The Seasons Bold"/>
                <a:cs typeface="The Seasons Bold"/>
                <a:sym typeface="The Seasons Bold"/>
              </a:rPr>
              <a:t>Descuento 1</a:t>
            </a:r>
            <a:r>
              <a:rPr lang="en-US" sz="2400">
                <a:solidFill>
                  <a:srgbClr val="000000"/>
                </a:solidFill>
                <a:latin typeface="The Seasons"/>
                <a:ea typeface="The Seasons"/>
                <a:cs typeface="The Seasons"/>
                <a:sym typeface="The Seasons"/>
              </a:rPr>
              <a:t>:</a:t>
            </a:r>
          </a:p>
          <a:p>
            <a:pPr algn="l" marL="518160" indent="-259080" lvl="1">
              <a:lnSpc>
                <a:spcPts val="4032"/>
              </a:lnSpc>
              <a:buFont typeface="Arial"/>
              <a:buChar char="•"/>
            </a:pPr>
            <a:r>
              <a:rPr lang="en-US" sz="2400">
                <a:solidFill>
                  <a:srgbClr val="000000"/>
                </a:solidFill>
                <a:latin typeface="The Seasons"/>
                <a:ea typeface="The Seasons"/>
                <a:cs typeface="The Seasons"/>
                <a:sym typeface="The Seasons"/>
              </a:rPr>
              <a:t>Si se compran más de 3 productos, se aplica un 5% sobre el subtotal.</a:t>
            </a:r>
          </a:p>
          <a:p>
            <a:pPr algn="l" marL="518160" indent="-259080" lvl="1">
              <a:lnSpc>
                <a:spcPts val="4032"/>
              </a:lnSpc>
              <a:buFont typeface="Arial"/>
              <a:buChar char="•"/>
            </a:pPr>
            <a:r>
              <a:rPr lang="en-US" sz="2400">
                <a:solidFill>
                  <a:srgbClr val="000000"/>
                </a:solidFill>
                <a:latin typeface="The Seasons"/>
                <a:ea typeface="The Seasons"/>
                <a:cs typeface="The Seasons"/>
                <a:sym typeface="The Seasons"/>
              </a:rPr>
              <a:t>Si el cliente es mayorista y ha comprado detergente y cloro, se aplica un 4% adicional sobre el subtotal.</a:t>
            </a:r>
          </a:p>
          <a:p>
            <a:pPr algn="l">
              <a:lnSpc>
                <a:spcPts val="4032"/>
              </a:lnSpc>
            </a:pPr>
            <a:r>
              <a:rPr lang="en-US" b="true" sz="2400">
                <a:solidFill>
                  <a:srgbClr val="000000"/>
                </a:solidFill>
                <a:latin typeface="The Seasons Bold"/>
                <a:ea typeface="The Seasons Bold"/>
                <a:cs typeface="The Seasons Bold"/>
                <a:sym typeface="The Seasons Bold"/>
              </a:rPr>
              <a:t>Descuento 2</a:t>
            </a:r>
            <a:r>
              <a:rPr lang="en-US" sz="2400">
                <a:solidFill>
                  <a:srgbClr val="000000"/>
                </a:solidFill>
                <a:latin typeface="The Seasons"/>
                <a:ea typeface="The Seasons"/>
                <a:cs typeface="The Seasons"/>
                <a:sym typeface="The Seasons"/>
              </a:rPr>
              <a:t>:</a:t>
            </a:r>
          </a:p>
          <a:p>
            <a:pPr algn="l" marL="518160" indent="-259080" lvl="1">
              <a:lnSpc>
                <a:spcPts val="4032"/>
              </a:lnSpc>
              <a:buFont typeface="Arial"/>
              <a:buChar char="•"/>
            </a:pPr>
            <a:r>
              <a:rPr lang="en-US" sz="2400">
                <a:solidFill>
                  <a:srgbClr val="000000"/>
                </a:solidFill>
                <a:latin typeface="The Seasons"/>
                <a:ea typeface="The Seasons"/>
                <a:cs typeface="The Seasons"/>
                <a:sym typeface="The Seasons"/>
              </a:rPr>
              <a:t>Si el subtotal supera Q1500, se aplica un 10% adicional.</a:t>
            </a:r>
          </a:p>
        </p:txBody>
      </p:sp>
      <p:sp>
        <p:nvSpPr>
          <p:cNvPr name="TextBox 4" id="4"/>
          <p:cNvSpPr txBox="true"/>
          <p:nvPr/>
        </p:nvSpPr>
        <p:spPr>
          <a:xfrm rot="0">
            <a:off x="2399219" y="4365531"/>
            <a:ext cx="5635823" cy="3030880"/>
          </a:xfrm>
          <a:prstGeom prst="rect">
            <a:avLst/>
          </a:prstGeom>
        </p:spPr>
        <p:txBody>
          <a:bodyPr anchor="t" rtlCol="false" tIns="0" lIns="0" bIns="0" rIns="0">
            <a:spAutoFit/>
          </a:bodyPr>
          <a:lstStyle/>
          <a:p>
            <a:pPr algn="just">
              <a:lnSpc>
                <a:spcPts val="4034"/>
              </a:lnSpc>
            </a:pPr>
            <a:r>
              <a:rPr lang="en-US" b="true" sz="2401">
                <a:solidFill>
                  <a:srgbClr val="000000"/>
                </a:solidFill>
                <a:latin typeface="The Seasons Bold"/>
                <a:ea typeface="The Seasons Bold"/>
                <a:cs typeface="The Seasons Bold"/>
                <a:sym typeface="The Seasons Bold"/>
              </a:rPr>
              <a:t>Resultados a mostrar</a:t>
            </a:r>
          </a:p>
          <a:p>
            <a:pPr algn="just" marL="518458" indent="-259229" lvl="1">
              <a:lnSpc>
                <a:spcPts val="4034"/>
              </a:lnSpc>
              <a:buFont typeface="Arial"/>
              <a:buChar char="•"/>
            </a:pPr>
            <a:r>
              <a:rPr lang="en-US" sz="2401">
                <a:solidFill>
                  <a:srgbClr val="000000"/>
                </a:solidFill>
                <a:latin typeface="The Seasons"/>
                <a:ea typeface="The Seasons"/>
                <a:cs typeface="The Seasons"/>
                <a:sym typeface="The Seasons"/>
              </a:rPr>
              <a:t>Subtotal de los productos seleccionados.</a:t>
            </a:r>
          </a:p>
          <a:p>
            <a:pPr algn="just" marL="518458" indent="-259229" lvl="1">
              <a:lnSpc>
                <a:spcPts val="4034"/>
              </a:lnSpc>
              <a:buFont typeface="Arial"/>
              <a:buChar char="•"/>
            </a:pPr>
            <a:r>
              <a:rPr lang="en-US" sz="2401">
                <a:solidFill>
                  <a:srgbClr val="000000"/>
                </a:solidFill>
                <a:latin typeface="The Seasons"/>
                <a:ea typeface="The Seasons"/>
                <a:cs typeface="The Seasons"/>
                <a:sym typeface="The Seasons"/>
              </a:rPr>
              <a:t>Descuento 1 aplicado.</a:t>
            </a:r>
          </a:p>
          <a:p>
            <a:pPr algn="just" marL="518458" indent="-259229" lvl="1">
              <a:lnSpc>
                <a:spcPts val="4034"/>
              </a:lnSpc>
              <a:buFont typeface="Arial"/>
              <a:buChar char="•"/>
            </a:pPr>
            <a:r>
              <a:rPr lang="en-US" sz="2401">
                <a:solidFill>
                  <a:srgbClr val="000000"/>
                </a:solidFill>
                <a:latin typeface="The Seasons"/>
                <a:ea typeface="The Seasons"/>
                <a:cs typeface="The Seasons"/>
                <a:sym typeface="The Seasons"/>
              </a:rPr>
              <a:t>Descuento 2 aplicado.</a:t>
            </a:r>
          </a:p>
          <a:p>
            <a:pPr algn="just" marL="518458" indent="-259229" lvl="1">
              <a:lnSpc>
                <a:spcPts val="4034"/>
              </a:lnSpc>
              <a:buFont typeface="Arial"/>
              <a:buChar char="•"/>
            </a:pPr>
            <a:r>
              <a:rPr lang="en-US" sz="2401">
                <a:solidFill>
                  <a:srgbClr val="000000"/>
                </a:solidFill>
                <a:latin typeface="The Seasons"/>
                <a:ea typeface="The Seasons"/>
                <a:cs typeface="The Seasons"/>
                <a:sym typeface="The Seasons"/>
              </a:rPr>
              <a:t>Total final a pagar.</a:t>
            </a:r>
          </a:p>
        </p:txBody>
      </p:sp>
      <p:sp>
        <p:nvSpPr>
          <p:cNvPr name="TextBox 5" id="5"/>
          <p:cNvSpPr txBox="true"/>
          <p:nvPr/>
        </p:nvSpPr>
        <p:spPr>
          <a:xfrm rot="0">
            <a:off x="8985750" y="4365531"/>
            <a:ext cx="7792968" cy="3535789"/>
          </a:xfrm>
          <a:prstGeom prst="rect">
            <a:avLst/>
          </a:prstGeom>
        </p:spPr>
        <p:txBody>
          <a:bodyPr anchor="t" rtlCol="false" tIns="0" lIns="0" bIns="0" rIns="0">
            <a:spAutoFit/>
          </a:bodyPr>
          <a:lstStyle/>
          <a:p>
            <a:pPr algn="just">
              <a:lnSpc>
                <a:spcPts val="4032"/>
              </a:lnSpc>
            </a:pPr>
            <a:r>
              <a:rPr lang="en-US" b="true" sz="2400">
                <a:solidFill>
                  <a:srgbClr val="000000"/>
                </a:solidFill>
                <a:latin typeface="The Seasons Bold"/>
                <a:ea typeface="The Seasons Bold"/>
                <a:cs typeface="The Seasons Bold"/>
                <a:sym typeface="The Seasons Bold"/>
              </a:rPr>
              <a:t>Botones Funcionales</a:t>
            </a:r>
          </a:p>
          <a:p>
            <a:pPr algn="just" marL="518160" indent="-259080" lvl="1">
              <a:lnSpc>
                <a:spcPts val="4032"/>
              </a:lnSpc>
              <a:buFont typeface="Arial"/>
              <a:buChar char="•"/>
            </a:pPr>
            <a:r>
              <a:rPr lang="en-US" sz="2400">
                <a:solidFill>
                  <a:srgbClr val="000000"/>
                </a:solidFill>
                <a:latin typeface="The Seasons"/>
                <a:ea typeface="The Seasons"/>
                <a:cs typeface="The Seasons"/>
                <a:sym typeface="The Seasons"/>
              </a:rPr>
              <a:t>Calcular (Button1): realiza el cálculo de subtotal, descuentos y total.</a:t>
            </a:r>
          </a:p>
          <a:p>
            <a:pPr algn="just" marL="518160" indent="-259080" lvl="1">
              <a:lnSpc>
                <a:spcPts val="4032"/>
              </a:lnSpc>
              <a:buFont typeface="Arial"/>
              <a:buChar char="•"/>
            </a:pPr>
            <a:r>
              <a:rPr lang="en-US" sz="2400">
                <a:solidFill>
                  <a:srgbClr val="000000"/>
                </a:solidFill>
                <a:latin typeface="The Seasons"/>
                <a:ea typeface="The Seasons"/>
                <a:cs typeface="The Seasons"/>
                <a:sym typeface="The Seasons"/>
              </a:rPr>
              <a:t>Limpiar (Button2): reinicia el formulario, deselecciona opciones y limpia los resultados.</a:t>
            </a:r>
          </a:p>
          <a:p>
            <a:pPr algn="just" marL="518160" indent="-259080" lvl="1">
              <a:lnSpc>
                <a:spcPts val="4032"/>
              </a:lnSpc>
              <a:buFont typeface="Arial"/>
              <a:buChar char="•"/>
            </a:pPr>
            <a:r>
              <a:rPr lang="en-US" sz="2400">
                <a:solidFill>
                  <a:srgbClr val="000000"/>
                </a:solidFill>
                <a:latin typeface="The Seasons"/>
                <a:ea typeface="The Seasons"/>
                <a:cs typeface="The Seasons"/>
                <a:sym typeface="The Seasons"/>
              </a:rPr>
              <a:t>Salir (Button3): cierra la aplicación tras confirmar la intención del usuario.</a:t>
            </a:r>
          </a:p>
        </p:txBody>
      </p:sp>
      <p:sp>
        <p:nvSpPr>
          <p:cNvPr name="TextBox 6" id="6"/>
          <p:cNvSpPr txBox="true"/>
          <p:nvPr/>
        </p:nvSpPr>
        <p:spPr>
          <a:xfrm rot="0">
            <a:off x="1624333" y="7614848"/>
            <a:ext cx="10871683" cy="1516489"/>
          </a:xfrm>
          <a:prstGeom prst="rect">
            <a:avLst/>
          </a:prstGeom>
        </p:spPr>
        <p:txBody>
          <a:bodyPr anchor="t" rtlCol="false" tIns="0" lIns="0" bIns="0" rIns="0">
            <a:spAutoFit/>
          </a:bodyPr>
          <a:lstStyle/>
          <a:p>
            <a:pPr algn="l">
              <a:lnSpc>
                <a:spcPts val="4032"/>
              </a:lnSpc>
              <a:spcBef>
                <a:spcPct val="0"/>
              </a:spcBef>
            </a:pPr>
            <a:r>
              <a:rPr lang="en-US" b="true" sz="2400">
                <a:solidFill>
                  <a:srgbClr val="000000"/>
                </a:solidFill>
                <a:latin typeface="The Seasons Bold"/>
                <a:ea typeface="The Seasons Bold"/>
                <a:cs typeface="The Seasons Bold"/>
                <a:sym typeface="The Seasons Bold"/>
              </a:rPr>
              <a:t>Validaciones</a:t>
            </a:r>
          </a:p>
          <a:p>
            <a:pPr algn="l">
              <a:lnSpc>
                <a:spcPts val="4032"/>
              </a:lnSpc>
              <a:spcBef>
                <a:spcPct val="0"/>
              </a:spcBef>
            </a:pPr>
            <a:r>
              <a:rPr lang="en-US" sz="2400">
                <a:solidFill>
                  <a:srgbClr val="000000"/>
                </a:solidFill>
                <a:latin typeface="The Seasons"/>
                <a:ea typeface="The Seasons"/>
                <a:cs typeface="The Seasons"/>
                <a:sym typeface="The Seasons"/>
              </a:rPr>
              <a:t>Se debe mostrar una advertencia si el usuario no selecciona ningún producto.</a:t>
            </a:r>
          </a:p>
          <a:p>
            <a:pPr algn="l">
              <a:lnSpc>
                <a:spcPts val="4032"/>
              </a:lnSpc>
              <a:spcBef>
                <a:spcPct val="0"/>
              </a:spcBef>
            </a:pPr>
            <a:r>
              <a:rPr lang="en-US" sz="2400">
                <a:solidFill>
                  <a:srgbClr val="000000"/>
                </a:solidFill>
                <a:latin typeface="The Seasons"/>
                <a:ea typeface="The Seasons"/>
                <a:cs typeface="The Seasons"/>
                <a:sym typeface="The Seasons"/>
              </a:rPr>
              <a:t>Se debe mostrar un mensaje de error si no se selecciona un tipo de cliente válido</a:t>
            </a:r>
          </a:p>
        </p:txBody>
      </p:sp>
      <p:sp>
        <p:nvSpPr>
          <p:cNvPr name="AutoShape 7" id="7"/>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8" id="8"/>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07390" y="1000125"/>
            <a:ext cx="13503297" cy="1061999"/>
          </a:xfrm>
          <a:custGeom>
            <a:avLst/>
            <a:gdLst/>
            <a:ahLst/>
            <a:cxnLst/>
            <a:rect r="r" b="b" t="t" l="l"/>
            <a:pathLst>
              <a:path h="1061999" w="13503297">
                <a:moveTo>
                  <a:pt x="0" y="0"/>
                </a:moveTo>
                <a:lnTo>
                  <a:pt x="13503297" y="0"/>
                </a:lnTo>
                <a:lnTo>
                  <a:pt x="13503297" y="1061999"/>
                </a:lnTo>
                <a:lnTo>
                  <a:pt x="0" y="1061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27027" y="548519"/>
            <a:ext cx="14433947" cy="2396490"/>
          </a:xfrm>
          <a:prstGeom prst="rect">
            <a:avLst/>
          </a:prstGeom>
        </p:spPr>
        <p:txBody>
          <a:bodyPr anchor="t" rtlCol="false" tIns="0" lIns="0" bIns="0" rIns="0">
            <a:spAutoFit/>
          </a:bodyPr>
          <a:lstStyle/>
          <a:p>
            <a:pPr algn="ctr">
              <a:lnSpc>
                <a:spcPts val="9660"/>
              </a:lnSpc>
            </a:pPr>
            <a:r>
              <a:rPr lang="en-US" sz="6900">
                <a:solidFill>
                  <a:srgbClr val="131416"/>
                </a:solidFill>
                <a:latin typeface="Prata"/>
                <a:ea typeface="Prata"/>
                <a:cs typeface="Prata"/>
                <a:sym typeface="Prata"/>
              </a:rPr>
              <a:t>CONCEPTOS CLAVE APRENDIDOS </a:t>
            </a:r>
          </a:p>
        </p:txBody>
      </p:sp>
      <p:sp>
        <p:nvSpPr>
          <p:cNvPr name="TextBox 4" id="4"/>
          <p:cNvSpPr txBox="true"/>
          <p:nvPr/>
        </p:nvSpPr>
        <p:spPr>
          <a:xfrm rot="0">
            <a:off x="5803512" y="3039839"/>
            <a:ext cx="6742765" cy="5936437"/>
          </a:xfrm>
          <a:prstGeom prst="rect">
            <a:avLst/>
          </a:prstGeom>
        </p:spPr>
        <p:txBody>
          <a:bodyPr anchor="t" rtlCol="false" tIns="0" lIns="0" bIns="0" rIns="0">
            <a:spAutoFit/>
          </a:bodyPr>
          <a:lstStyle/>
          <a:p>
            <a:pPr algn="l" marL="1003666" indent="-501833" lvl="1">
              <a:lnSpc>
                <a:spcPts val="7809"/>
              </a:lnSpc>
              <a:buFont typeface="Arial"/>
              <a:buChar char="•"/>
            </a:pPr>
            <a:r>
              <a:rPr lang="en-US" sz="4648">
                <a:solidFill>
                  <a:srgbClr val="131416"/>
                </a:solidFill>
                <a:latin typeface="The Seasons"/>
                <a:ea typeface="The Seasons"/>
                <a:cs typeface="The Seasons"/>
                <a:sym typeface="The Seasons"/>
              </a:rPr>
              <a:t>Sentenc</a:t>
            </a:r>
            <a:r>
              <a:rPr lang="en-US" sz="4648">
                <a:solidFill>
                  <a:srgbClr val="131416"/>
                </a:solidFill>
                <a:latin typeface="The Seasons"/>
                <a:ea typeface="The Seasons"/>
                <a:cs typeface="The Seasons"/>
                <a:sym typeface="The Seasons"/>
              </a:rPr>
              <a:t>ias de control</a:t>
            </a:r>
          </a:p>
          <a:p>
            <a:pPr algn="l" marL="1003666" indent="-501833" lvl="1">
              <a:lnSpc>
                <a:spcPts val="7809"/>
              </a:lnSpc>
              <a:buFont typeface="Arial"/>
              <a:buChar char="•"/>
            </a:pPr>
            <a:r>
              <a:rPr lang="en-US" sz="4648">
                <a:solidFill>
                  <a:srgbClr val="131416"/>
                </a:solidFill>
                <a:latin typeface="The Seasons"/>
                <a:ea typeface="The Seasons"/>
                <a:cs typeface="The Seasons"/>
                <a:sym typeface="The Seasons"/>
              </a:rPr>
              <a:t>If simple</a:t>
            </a:r>
          </a:p>
          <a:p>
            <a:pPr algn="l" marL="1003666" indent="-501833" lvl="1">
              <a:lnSpc>
                <a:spcPts val="7809"/>
              </a:lnSpc>
              <a:buFont typeface="Arial"/>
              <a:buChar char="•"/>
            </a:pPr>
            <a:r>
              <a:rPr lang="en-US" sz="4648">
                <a:solidFill>
                  <a:srgbClr val="131416"/>
                </a:solidFill>
                <a:latin typeface="The Seasons"/>
                <a:ea typeface="The Seasons"/>
                <a:cs typeface="The Seasons"/>
                <a:sym typeface="The Seasons"/>
              </a:rPr>
              <a:t>If-else</a:t>
            </a:r>
          </a:p>
          <a:p>
            <a:pPr algn="l" marL="1003666" indent="-501833" lvl="1">
              <a:lnSpc>
                <a:spcPts val="7809"/>
              </a:lnSpc>
              <a:buFont typeface="Arial"/>
              <a:buChar char="•"/>
            </a:pPr>
            <a:r>
              <a:rPr lang="en-US" sz="4648">
                <a:solidFill>
                  <a:srgbClr val="131416"/>
                </a:solidFill>
                <a:latin typeface="The Seasons"/>
                <a:ea typeface="The Seasons"/>
                <a:cs typeface="The Seasons"/>
                <a:sym typeface="The Seasons"/>
              </a:rPr>
              <a:t>If-else-elseif</a:t>
            </a:r>
          </a:p>
          <a:p>
            <a:pPr algn="l" marL="1003666" indent="-501833" lvl="1">
              <a:lnSpc>
                <a:spcPts val="7809"/>
              </a:lnSpc>
              <a:buFont typeface="Arial"/>
              <a:buChar char="•"/>
            </a:pPr>
            <a:r>
              <a:rPr lang="en-US" sz="4648">
                <a:solidFill>
                  <a:srgbClr val="131416"/>
                </a:solidFill>
                <a:latin typeface="The Seasons"/>
                <a:ea typeface="The Seasons"/>
                <a:cs typeface="The Seasons"/>
                <a:sym typeface="The Seasons"/>
              </a:rPr>
              <a:t>case</a:t>
            </a:r>
          </a:p>
          <a:p>
            <a:pPr algn="l">
              <a:lnSpc>
                <a:spcPts val="7809"/>
              </a:lnSpc>
            </a:pPr>
          </a:p>
        </p:txBody>
      </p:sp>
      <p:sp>
        <p:nvSpPr>
          <p:cNvPr name="AutoShape 5" id="5"/>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
        <p:nvSpPr>
          <p:cNvPr name="AutoShape 6" id="6"/>
          <p:cNvSpPr/>
          <p:nvPr/>
        </p:nvSpPr>
        <p:spPr>
          <a:xfrm rot="0">
            <a:off x="0" y="9239250"/>
            <a:ext cx="18288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07390" y="1000125"/>
            <a:ext cx="13503297" cy="1061999"/>
          </a:xfrm>
          <a:custGeom>
            <a:avLst/>
            <a:gdLst/>
            <a:ahLst/>
            <a:cxnLst/>
            <a:rect r="r" b="b" t="t" l="l"/>
            <a:pathLst>
              <a:path h="1061999" w="13503297">
                <a:moveTo>
                  <a:pt x="0" y="0"/>
                </a:moveTo>
                <a:lnTo>
                  <a:pt x="13503297" y="0"/>
                </a:lnTo>
                <a:lnTo>
                  <a:pt x="13503297" y="1061999"/>
                </a:lnTo>
                <a:lnTo>
                  <a:pt x="0" y="1061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8934" y="8205206"/>
            <a:ext cx="6911397" cy="1164003"/>
          </a:xfrm>
          <a:custGeom>
            <a:avLst/>
            <a:gdLst/>
            <a:ahLst/>
            <a:cxnLst/>
            <a:rect r="r" b="b" t="t" l="l"/>
            <a:pathLst>
              <a:path h="1164003" w="6911397">
                <a:moveTo>
                  <a:pt x="0" y="0"/>
                </a:moveTo>
                <a:lnTo>
                  <a:pt x="6911397" y="0"/>
                </a:lnTo>
                <a:lnTo>
                  <a:pt x="6911397" y="1164003"/>
                </a:lnTo>
                <a:lnTo>
                  <a:pt x="0" y="11640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022311" y="2598239"/>
            <a:ext cx="8243378" cy="588226"/>
          </a:xfrm>
          <a:prstGeom prst="rect">
            <a:avLst/>
          </a:prstGeom>
        </p:spPr>
        <p:txBody>
          <a:bodyPr anchor="t" rtlCol="false" tIns="0" lIns="0" bIns="0" rIns="0">
            <a:spAutoFit/>
          </a:bodyPr>
          <a:lstStyle/>
          <a:p>
            <a:pPr algn="l">
              <a:lnSpc>
                <a:spcPts val="3498"/>
              </a:lnSpc>
            </a:pPr>
            <a:r>
              <a:rPr lang="en-US" sz="6900">
                <a:solidFill>
                  <a:srgbClr val="131416"/>
                </a:solidFill>
                <a:latin typeface="Prata"/>
                <a:ea typeface="Prata"/>
                <a:cs typeface="Prata"/>
                <a:sym typeface="Prata"/>
              </a:rPr>
              <a:t>Pensamiento lógico</a:t>
            </a:r>
          </a:p>
        </p:txBody>
      </p:sp>
      <p:sp>
        <p:nvSpPr>
          <p:cNvPr name="TextBox 5" id="5"/>
          <p:cNvSpPr txBox="true"/>
          <p:nvPr/>
        </p:nvSpPr>
        <p:spPr>
          <a:xfrm rot="0">
            <a:off x="7118042" y="2540927"/>
            <a:ext cx="113062" cy="881501"/>
          </a:xfrm>
          <a:prstGeom prst="rect">
            <a:avLst/>
          </a:prstGeom>
        </p:spPr>
        <p:txBody>
          <a:bodyPr anchor="t" rtlCol="false" tIns="0" lIns="0" bIns="0" rIns="0">
            <a:spAutoFit/>
          </a:bodyPr>
          <a:lstStyle/>
          <a:p>
            <a:pPr algn="l">
              <a:lnSpc>
                <a:spcPts val="7877"/>
              </a:lnSpc>
            </a:pPr>
            <a:r>
              <a:rPr lang="en-US" sz="3150">
                <a:solidFill>
                  <a:srgbClr val="131416"/>
                </a:solidFill>
                <a:latin typeface="Arial"/>
                <a:ea typeface="Arial"/>
                <a:cs typeface="Arial"/>
                <a:sym typeface="Arial"/>
              </a:rPr>
              <a:t> </a:t>
            </a:r>
          </a:p>
        </p:txBody>
      </p:sp>
      <p:sp>
        <p:nvSpPr>
          <p:cNvPr name="TextBox 6" id="6"/>
          <p:cNvSpPr txBox="true"/>
          <p:nvPr/>
        </p:nvSpPr>
        <p:spPr>
          <a:xfrm rot="0">
            <a:off x="2604685" y="3903655"/>
            <a:ext cx="13078630" cy="2164746"/>
          </a:xfrm>
          <a:prstGeom prst="rect">
            <a:avLst/>
          </a:prstGeom>
        </p:spPr>
        <p:txBody>
          <a:bodyPr anchor="t" rtlCol="false" tIns="0" lIns="0" bIns="0" rIns="0">
            <a:spAutoFit/>
          </a:bodyPr>
          <a:lstStyle/>
          <a:p>
            <a:pPr algn="ctr">
              <a:lnSpc>
                <a:spcPts val="8599"/>
              </a:lnSpc>
              <a:spcBef>
                <a:spcPct val="0"/>
              </a:spcBef>
            </a:pPr>
            <a:r>
              <a:rPr lang="en-US" sz="5118">
                <a:solidFill>
                  <a:srgbClr val="131416"/>
                </a:solidFill>
                <a:latin typeface="The Seasons"/>
                <a:ea typeface="The Seasons"/>
                <a:cs typeface="The Seasons"/>
                <a:sym typeface="The Seasons"/>
              </a:rPr>
              <a:t>Frase: </a:t>
            </a:r>
            <a:r>
              <a:rPr lang="en-US" sz="5118">
                <a:solidFill>
                  <a:srgbClr val="131416"/>
                </a:solidFill>
                <a:latin typeface="The Seasons"/>
                <a:ea typeface="The Seasons"/>
                <a:cs typeface="The Seasons"/>
                <a:sym typeface="The Seasons"/>
              </a:rPr>
              <a:t>Cada decisión en el código debe tener una razón clara detrás.</a:t>
            </a:r>
          </a:p>
        </p:txBody>
      </p:sp>
      <p:sp>
        <p:nvSpPr>
          <p:cNvPr name="AutoShape 7" id="7"/>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8" id="8"/>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43886" y="155429"/>
            <a:ext cx="15491555" cy="2649398"/>
          </a:xfrm>
          <a:custGeom>
            <a:avLst/>
            <a:gdLst/>
            <a:ahLst/>
            <a:cxnLst/>
            <a:rect r="r" b="b" t="t" l="l"/>
            <a:pathLst>
              <a:path h="2649398" w="15491555">
                <a:moveTo>
                  <a:pt x="0" y="0"/>
                </a:moveTo>
                <a:lnTo>
                  <a:pt x="15491556" y="0"/>
                </a:lnTo>
                <a:lnTo>
                  <a:pt x="15491556" y="2649398"/>
                </a:lnTo>
                <a:lnTo>
                  <a:pt x="0" y="26493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7000170" cy="4361450"/>
          </a:xfrm>
          <a:custGeom>
            <a:avLst/>
            <a:gdLst/>
            <a:ahLst/>
            <a:cxnLst/>
            <a:rect r="r" b="b" t="t" l="l"/>
            <a:pathLst>
              <a:path h="4361450" w="7000170">
                <a:moveTo>
                  <a:pt x="0" y="0"/>
                </a:moveTo>
                <a:lnTo>
                  <a:pt x="7000170" y="0"/>
                </a:lnTo>
                <a:lnTo>
                  <a:pt x="7000170" y="4361450"/>
                </a:lnTo>
                <a:lnTo>
                  <a:pt x="0" y="4361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59133" y="0"/>
            <a:ext cx="6006039" cy="3742058"/>
          </a:xfrm>
          <a:custGeom>
            <a:avLst/>
            <a:gdLst/>
            <a:ahLst/>
            <a:cxnLst/>
            <a:rect r="r" b="b" t="t" l="l"/>
            <a:pathLst>
              <a:path h="3742058" w="6006039">
                <a:moveTo>
                  <a:pt x="0" y="0"/>
                </a:moveTo>
                <a:lnTo>
                  <a:pt x="6006039" y="0"/>
                </a:lnTo>
                <a:lnTo>
                  <a:pt x="6006039" y="3742058"/>
                </a:lnTo>
                <a:lnTo>
                  <a:pt x="0" y="3742058"/>
                </a:lnTo>
                <a:lnTo>
                  <a:pt x="0" y="0"/>
                </a:lnTo>
                <a:close/>
              </a:path>
            </a:pathLst>
          </a:custGeom>
          <a:blipFill>
            <a:blip r:embed="rId6"/>
            <a:stretch>
              <a:fillRect l="0" t="0" r="0" b="0"/>
            </a:stretch>
          </a:blipFill>
        </p:spPr>
      </p:sp>
      <p:sp>
        <p:nvSpPr>
          <p:cNvPr name="TextBox 5" id="5"/>
          <p:cNvSpPr txBox="true"/>
          <p:nvPr/>
        </p:nvSpPr>
        <p:spPr>
          <a:xfrm rot="0">
            <a:off x="5706240" y="1215709"/>
            <a:ext cx="6875519" cy="1177290"/>
          </a:xfrm>
          <a:prstGeom prst="rect">
            <a:avLst/>
          </a:prstGeom>
        </p:spPr>
        <p:txBody>
          <a:bodyPr anchor="t" rtlCol="false" tIns="0" lIns="0" bIns="0" rIns="0">
            <a:spAutoFit/>
          </a:bodyPr>
          <a:lstStyle/>
          <a:p>
            <a:pPr algn="l">
              <a:lnSpc>
                <a:spcPts val="9660"/>
              </a:lnSpc>
            </a:pPr>
            <a:r>
              <a:rPr lang="en-US" sz="6900">
                <a:solidFill>
                  <a:srgbClr val="131416"/>
                </a:solidFill>
                <a:latin typeface="Prata"/>
                <a:ea typeface="Prata"/>
                <a:cs typeface="Prata"/>
                <a:sym typeface="Prata"/>
              </a:rPr>
              <a:t>REFERENCIAS </a:t>
            </a:r>
          </a:p>
        </p:txBody>
      </p:sp>
      <p:sp>
        <p:nvSpPr>
          <p:cNvPr name="TextBox 6" id="6"/>
          <p:cNvSpPr txBox="true"/>
          <p:nvPr/>
        </p:nvSpPr>
        <p:spPr>
          <a:xfrm rot="0">
            <a:off x="1888653" y="3285716"/>
            <a:ext cx="16399347" cy="5526914"/>
          </a:xfrm>
          <a:prstGeom prst="rect">
            <a:avLst/>
          </a:prstGeom>
        </p:spPr>
        <p:txBody>
          <a:bodyPr anchor="t" rtlCol="false" tIns="0" lIns="0" bIns="0" rIns="0">
            <a:spAutoFit/>
          </a:bodyPr>
          <a:lstStyle/>
          <a:p>
            <a:pPr algn="l">
              <a:lnSpc>
                <a:spcPts val="6233"/>
              </a:lnSpc>
              <a:spcBef>
                <a:spcPct val="0"/>
              </a:spcBef>
            </a:pPr>
            <a:r>
              <a:rPr lang="en-US" sz="3710">
                <a:solidFill>
                  <a:srgbClr val="131416"/>
                </a:solidFill>
                <a:latin typeface="The Seasons"/>
                <a:ea typeface="The Seasons"/>
                <a:cs typeface="The Seasons"/>
                <a:sym typeface="The Seasons"/>
              </a:rPr>
              <a:t>Uso de If then else : </a:t>
            </a:r>
          </a:p>
          <a:p>
            <a:pPr algn="l">
              <a:lnSpc>
                <a:spcPts val="6233"/>
              </a:lnSpc>
              <a:spcBef>
                <a:spcPct val="0"/>
              </a:spcBef>
            </a:pPr>
            <a:r>
              <a:rPr lang="en-US" sz="3710">
                <a:solidFill>
                  <a:srgbClr val="131416"/>
                </a:solidFill>
                <a:latin typeface="The Seasons"/>
                <a:ea typeface="The Seasons"/>
                <a:cs typeface="The Seasons"/>
                <a:sym typeface="The Seasons"/>
              </a:rPr>
              <a:t>https://learn.microsoft.com/en-us/dotnet/visual-basic/language-reference/directives/if-then-else-directives </a:t>
            </a:r>
          </a:p>
          <a:p>
            <a:pPr algn="l">
              <a:lnSpc>
                <a:spcPts val="6233"/>
              </a:lnSpc>
              <a:spcBef>
                <a:spcPct val="0"/>
              </a:spcBef>
            </a:pPr>
          </a:p>
          <a:p>
            <a:pPr algn="l">
              <a:lnSpc>
                <a:spcPts val="6233"/>
              </a:lnSpc>
              <a:spcBef>
                <a:spcPct val="0"/>
              </a:spcBef>
            </a:pPr>
            <a:r>
              <a:rPr lang="en-US" sz="3710">
                <a:solidFill>
                  <a:srgbClr val="131416"/>
                </a:solidFill>
                <a:latin typeface="The Seasons"/>
                <a:ea typeface="The Seasons"/>
                <a:cs typeface="The Seasons"/>
                <a:sym typeface="The Seasons"/>
              </a:rPr>
              <a:t>Select Case :</a:t>
            </a:r>
          </a:p>
          <a:p>
            <a:pPr algn="l">
              <a:lnSpc>
                <a:spcPts val="6233"/>
              </a:lnSpc>
              <a:spcBef>
                <a:spcPct val="0"/>
              </a:spcBef>
            </a:pPr>
            <a:r>
              <a:rPr lang="en-US" sz="3710">
                <a:solidFill>
                  <a:srgbClr val="131416"/>
                </a:solidFill>
                <a:latin typeface="The Seasons"/>
                <a:ea typeface="The Seasons"/>
                <a:cs typeface="The Seasons"/>
                <a:sym typeface="The Seasons"/>
              </a:rPr>
              <a:t>https://learn.microsoft.com/en-us/dotnet/visual-basic/language-reference/statements/select-case-statement</a:t>
            </a:r>
          </a:p>
        </p:txBody>
      </p:sp>
      <p:sp>
        <p:nvSpPr>
          <p:cNvPr name="AutoShape 7" id="7"/>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8" id="8"/>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8044" y="-10"/>
            <a:ext cx="16266538" cy="5143510"/>
          </a:xfrm>
          <a:custGeom>
            <a:avLst/>
            <a:gdLst/>
            <a:ahLst/>
            <a:cxnLst/>
            <a:rect r="r" b="b" t="t" l="l"/>
            <a:pathLst>
              <a:path h="5143510" w="16266538">
                <a:moveTo>
                  <a:pt x="0" y="0"/>
                </a:moveTo>
                <a:lnTo>
                  <a:pt x="16266538" y="0"/>
                </a:lnTo>
                <a:lnTo>
                  <a:pt x="16266538" y="5143510"/>
                </a:lnTo>
                <a:lnTo>
                  <a:pt x="0" y="5143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14070" y="3894562"/>
            <a:ext cx="6216317" cy="6216317"/>
          </a:xfrm>
          <a:custGeom>
            <a:avLst/>
            <a:gdLst/>
            <a:ahLst/>
            <a:cxnLst/>
            <a:rect r="r" b="b" t="t" l="l"/>
            <a:pathLst>
              <a:path h="6216317" w="6216317">
                <a:moveTo>
                  <a:pt x="0" y="0"/>
                </a:moveTo>
                <a:lnTo>
                  <a:pt x="6216317" y="0"/>
                </a:lnTo>
                <a:lnTo>
                  <a:pt x="6216317" y="6216316"/>
                </a:lnTo>
                <a:lnTo>
                  <a:pt x="0" y="6216316"/>
                </a:lnTo>
                <a:lnTo>
                  <a:pt x="0" y="0"/>
                </a:lnTo>
                <a:close/>
              </a:path>
            </a:pathLst>
          </a:custGeom>
          <a:blipFill>
            <a:blip r:embed="rId4"/>
            <a:stretch>
              <a:fillRect l="0" t="0" r="0" b="0"/>
            </a:stretch>
          </a:blipFill>
        </p:spPr>
      </p:sp>
      <p:sp>
        <p:nvSpPr>
          <p:cNvPr name="TextBox 4" id="4"/>
          <p:cNvSpPr txBox="true"/>
          <p:nvPr/>
        </p:nvSpPr>
        <p:spPr>
          <a:xfrm rot="0">
            <a:off x="4839110" y="3319544"/>
            <a:ext cx="10166238" cy="1035736"/>
          </a:xfrm>
          <a:prstGeom prst="rect">
            <a:avLst/>
          </a:prstGeom>
        </p:spPr>
        <p:txBody>
          <a:bodyPr anchor="t" rtlCol="false" tIns="0" lIns="0" bIns="0" rIns="0">
            <a:spAutoFit/>
          </a:bodyPr>
          <a:lstStyle/>
          <a:p>
            <a:pPr algn="l">
              <a:lnSpc>
                <a:spcPts val="8537"/>
              </a:lnSpc>
            </a:pPr>
            <a:r>
              <a:rPr lang="en-US" sz="6098">
                <a:solidFill>
                  <a:srgbClr val="131416"/>
                </a:solidFill>
                <a:latin typeface="Prata"/>
                <a:ea typeface="Prata"/>
                <a:cs typeface="Prata"/>
                <a:sym typeface="Prata"/>
              </a:rPr>
              <a:t>Practiquemos lo aprendido</a:t>
            </a:r>
          </a:p>
        </p:txBody>
      </p:sp>
      <p:sp>
        <p:nvSpPr>
          <p:cNvPr name="AutoShape 5" id="5"/>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6" id="6"/>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97" y="0"/>
            <a:ext cx="18254196" cy="10287000"/>
          </a:xfrm>
          <a:custGeom>
            <a:avLst/>
            <a:gdLst/>
            <a:ahLst/>
            <a:cxnLst/>
            <a:rect r="r" b="b" t="t" l="l"/>
            <a:pathLst>
              <a:path h="10287000" w="18254196">
                <a:moveTo>
                  <a:pt x="0" y="0"/>
                </a:moveTo>
                <a:lnTo>
                  <a:pt x="18254196" y="0"/>
                </a:lnTo>
                <a:lnTo>
                  <a:pt x="18254196"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897" y="0"/>
            <a:ext cx="18254196" cy="10287000"/>
          </a:xfrm>
          <a:custGeom>
            <a:avLst/>
            <a:gdLst/>
            <a:ahLst/>
            <a:cxnLst/>
            <a:rect r="r" b="b" t="t" l="l"/>
            <a:pathLst>
              <a:path h="10287000" w="18254196">
                <a:moveTo>
                  <a:pt x="0" y="0"/>
                </a:moveTo>
                <a:lnTo>
                  <a:pt x="18254196" y="0"/>
                </a:lnTo>
                <a:lnTo>
                  <a:pt x="18254196" y="10287000"/>
                </a:lnTo>
                <a:lnTo>
                  <a:pt x="0" y="10287000"/>
                </a:lnTo>
                <a:lnTo>
                  <a:pt x="0" y="0"/>
                </a:lnTo>
                <a:close/>
              </a:path>
            </a:pathLst>
          </a:custGeom>
          <a:blipFill>
            <a:blip r:embed="rId4"/>
            <a:stretch>
              <a:fillRect l="0" t="0" r="0" b="0"/>
            </a:stretch>
          </a:blipFill>
        </p:spPr>
      </p:sp>
      <p:sp>
        <p:nvSpPr>
          <p:cNvPr name="Freeform 4" id="4"/>
          <p:cNvSpPr/>
          <p:nvPr/>
        </p:nvSpPr>
        <p:spPr>
          <a:xfrm flipH="false" flipV="false" rot="0">
            <a:off x="-63503" y="1434227"/>
            <a:ext cx="18407624" cy="4333504"/>
          </a:xfrm>
          <a:custGeom>
            <a:avLst/>
            <a:gdLst/>
            <a:ahLst/>
            <a:cxnLst/>
            <a:rect r="r" b="b" t="t" l="l"/>
            <a:pathLst>
              <a:path h="4333504" w="18407624">
                <a:moveTo>
                  <a:pt x="0" y="0"/>
                </a:moveTo>
                <a:lnTo>
                  <a:pt x="18407624" y="0"/>
                </a:lnTo>
                <a:lnTo>
                  <a:pt x="18407624" y="4333503"/>
                </a:lnTo>
                <a:lnTo>
                  <a:pt x="0" y="43335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97872" y="1726416"/>
            <a:ext cx="5276736" cy="2466797"/>
          </a:xfrm>
          <a:prstGeom prst="rect">
            <a:avLst/>
          </a:prstGeom>
        </p:spPr>
        <p:txBody>
          <a:bodyPr anchor="t" rtlCol="false" tIns="0" lIns="0" bIns="0" rIns="0">
            <a:spAutoFit/>
          </a:bodyPr>
          <a:lstStyle/>
          <a:p>
            <a:pPr algn="l">
              <a:lnSpc>
                <a:spcPts val="3407"/>
              </a:lnSpc>
            </a:pPr>
            <a:r>
              <a:rPr lang="en-US" b="true" sz="2799">
                <a:solidFill>
                  <a:srgbClr val="000000"/>
                </a:solidFill>
                <a:latin typeface="Arial Bold"/>
                <a:ea typeface="Arial Bold"/>
                <a:cs typeface="Arial Bold"/>
                <a:sym typeface="Arial Bold"/>
              </a:rPr>
              <a:t>Nombre de la actividad:</a:t>
            </a:r>
          </a:p>
          <a:p>
            <a:pPr algn="l">
              <a:lnSpc>
                <a:spcPts val="3407"/>
              </a:lnSpc>
            </a:pPr>
          </a:p>
          <a:p>
            <a:pPr algn="l">
              <a:lnSpc>
                <a:spcPts val="2253"/>
              </a:lnSpc>
            </a:pPr>
            <a:r>
              <a:rPr lang="en-US" b="true" sz="2799">
                <a:solidFill>
                  <a:srgbClr val="000000"/>
                </a:solidFill>
                <a:latin typeface="Arial Bold"/>
                <a:ea typeface="Arial Bold"/>
                <a:cs typeface="Arial Bold"/>
                <a:sym typeface="Arial Bold"/>
              </a:rPr>
              <a:t>Cantidad de participantes:</a:t>
            </a:r>
          </a:p>
          <a:p>
            <a:pPr algn="l">
              <a:lnSpc>
                <a:spcPts val="2253"/>
              </a:lnSpc>
            </a:pPr>
          </a:p>
          <a:p>
            <a:pPr algn="l">
              <a:lnSpc>
                <a:spcPts val="2254"/>
              </a:lnSpc>
            </a:pPr>
          </a:p>
          <a:p>
            <a:pPr algn="l">
              <a:lnSpc>
                <a:spcPts val="1399"/>
              </a:lnSpc>
            </a:pPr>
            <a:r>
              <a:rPr lang="en-US" b="true" sz="2799">
                <a:solidFill>
                  <a:srgbClr val="000000"/>
                </a:solidFill>
                <a:latin typeface="Arial Bold"/>
                <a:ea typeface="Arial Bold"/>
                <a:cs typeface="Arial Bold"/>
                <a:sym typeface="Arial Bold"/>
              </a:rPr>
              <a:t>Doy fe que esta actividad está </a:t>
            </a:r>
          </a:p>
          <a:p>
            <a:pPr algn="l">
              <a:lnSpc>
                <a:spcPts val="5415"/>
              </a:lnSpc>
            </a:pPr>
            <a:r>
              <a:rPr lang="en-US" b="true" sz="2799">
                <a:solidFill>
                  <a:srgbClr val="000000"/>
                </a:solidFill>
                <a:latin typeface="Arial Bold"/>
                <a:ea typeface="Arial Bold"/>
                <a:cs typeface="Arial Bold"/>
                <a:sym typeface="Arial Bold"/>
              </a:rPr>
              <a:t>planificada en dtt (Sí/No):</a:t>
            </a:r>
          </a:p>
        </p:txBody>
      </p:sp>
      <p:sp>
        <p:nvSpPr>
          <p:cNvPr name="TextBox 6" id="6"/>
          <p:cNvSpPr txBox="true"/>
          <p:nvPr/>
        </p:nvSpPr>
        <p:spPr>
          <a:xfrm rot="0">
            <a:off x="10837374" y="2159213"/>
            <a:ext cx="2677535" cy="2009597"/>
          </a:xfrm>
          <a:prstGeom prst="rect">
            <a:avLst/>
          </a:prstGeom>
        </p:spPr>
        <p:txBody>
          <a:bodyPr anchor="t" rtlCol="false" tIns="0" lIns="0" bIns="0" rIns="0">
            <a:spAutoFit/>
          </a:bodyPr>
          <a:lstStyle/>
          <a:p>
            <a:pPr algn="l">
              <a:lnSpc>
                <a:spcPts val="3407"/>
              </a:lnSpc>
            </a:pPr>
            <a:r>
              <a:rPr lang="en-US" b="true" sz="2799">
                <a:solidFill>
                  <a:srgbClr val="000000"/>
                </a:solidFill>
                <a:latin typeface="Arial Bold"/>
                <a:ea typeface="Arial Bold"/>
                <a:cs typeface="Arial Bold"/>
                <a:sym typeface="Arial Bold"/>
              </a:rPr>
              <a:t>Hora de inicio:</a:t>
            </a:r>
          </a:p>
          <a:p>
            <a:pPr algn="l">
              <a:lnSpc>
                <a:spcPts val="3407"/>
              </a:lnSpc>
            </a:pPr>
          </a:p>
          <a:p>
            <a:pPr algn="l">
              <a:lnSpc>
                <a:spcPts val="4561"/>
              </a:lnSpc>
            </a:pPr>
            <a:r>
              <a:rPr lang="en-US" b="true" sz="2799">
                <a:solidFill>
                  <a:srgbClr val="000000"/>
                </a:solidFill>
                <a:latin typeface="Arial Bold"/>
                <a:ea typeface="Arial Bold"/>
                <a:cs typeface="Arial Bold"/>
                <a:sym typeface="Arial Bold"/>
              </a:rPr>
              <a:t>Hora de fin:</a:t>
            </a:r>
          </a:p>
          <a:p>
            <a:pPr algn="l">
              <a:lnSpc>
                <a:spcPts val="5415"/>
              </a:lnSpc>
            </a:pPr>
            <a:r>
              <a:rPr lang="en-US" b="true" sz="2799">
                <a:solidFill>
                  <a:srgbClr val="000000"/>
                </a:solidFill>
                <a:latin typeface="Arial Bold"/>
                <a:ea typeface="Arial Bold"/>
                <a:cs typeface="Arial Bold"/>
                <a:sym typeface="Arial Bold"/>
              </a:rPr>
              <a:t>Duración (min):</a:t>
            </a:r>
          </a:p>
        </p:txBody>
      </p:sp>
      <p:sp>
        <p:nvSpPr>
          <p:cNvPr name="TextBox 7" id="7"/>
          <p:cNvSpPr txBox="true"/>
          <p:nvPr/>
        </p:nvSpPr>
        <p:spPr>
          <a:xfrm rot="0">
            <a:off x="180975" y="4205792"/>
            <a:ext cx="15022439" cy="743207"/>
          </a:xfrm>
          <a:prstGeom prst="rect">
            <a:avLst/>
          </a:prstGeom>
        </p:spPr>
        <p:txBody>
          <a:bodyPr anchor="t" rtlCol="false" tIns="0" lIns="0" bIns="0" rIns="0">
            <a:spAutoFit/>
          </a:bodyPr>
          <a:lstStyle/>
          <a:p>
            <a:pPr algn="l">
              <a:lnSpc>
                <a:spcPts val="6507"/>
              </a:lnSpc>
            </a:pPr>
            <a:r>
              <a:rPr lang="en-US" b="true" sz="2799">
                <a:solidFill>
                  <a:srgbClr val="000000"/>
                </a:solidFill>
                <a:latin typeface="Arial Bold"/>
                <a:ea typeface="Arial Bold"/>
                <a:cs typeface="Arial Bold"/>
                <a:sym typeface="Arial Bold"/>
              </a:rPr>
              <a:t>Participantes: llenar las siguientes cajas de texto (tomar información del chat del meet)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76286" y="699973"/>
            <a:ext cx="9135428" cy="5691797"/>
          </a:xfrm>
          <a:custGeom>
            <a:avLst/>
            <a:gdLst/>
            <a:ahLst/>
            <a:cxnLst/>
            <a:rect r="r" b="b" t="t" l="l"/>
            <a:pathLst>
              <a:path h="5691797" w="9135428">
                <a:moveTo>
                  <a:pt x="0" y="0"/>
                </a:moveTo>
                <a:lnTo>
                  <a:pt x="9135428" y="0"/>
                </a:lnTo>
                <a:lnTo>
                  <a:pt x="9135428" y="5691797"/>
                </a:lnTo>
                <a:lnTo>
                  <a:pt x="0" y="56917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91486" y="6796954"/>
            <a:ext cx="6705000" cy="769496"/>
          </a:xfrm>
          <a:custGeom>
            <a:avLst/>
            <a:gdLst/>
            <a:ahLst/>
            <a:cxnLst/>
            <a:rect r="r" b="b" t="t" l="l"/>
            <a:pathLst>
              <a:path h="769496" w="6705000">
                <a:moveTo>
                  <a:pt x="0" y="0"/>
                </a:moveTo>
                <a:lnTo>
                  <a:pt x="6705000" y="0"/>
                </a:lnTo>
                <a:lnTo>
                  <a:pt x="6705000" y="769496"/>
                </a:lnTo>
                <a:lnTo>
                  <a:pt x="0" y="7694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576286" y="699973"/>
            <a:ext cx="9135428" cy="5691797"/>
          </a:xfrm>
          <a:custGeom>
            <a:avLst/>
            <a:gdLst/>
            <a:ahLst/>
            <a:cxnLst/>
            <a:rect r="r" b="b" t="t" l="l"/>
            <a:pathLst>
              <a:path h="5691797" w="9135428">
                <a:moveTo>
                  <a:pt x="0" y="0"/>
                </a:moveTo>
                <a:lnTo>
                  <a:pt x="9135428" y="0"/>
                </a:lnTo>
                <a:lnTo>
                  <a:pt x="9135428" y="5691797"/>
                </a:lnTo>
                <a:lnTo>
                  <a:pt x="0" y="5691797"/>
                </a:lnTo>
                <a:lnTo>
                  <a:pt x="0" y="0"/>
                </a:lnTo>
                <a:close/>
              </a:path>
            </a:pathLst>
          </a:custGeom>
          <a:blipFill>
            <a:blip r:embed="rId6"/>
            <a:stretch>
              <a:fillRect l="0" t="0" r="0" b="0"/>
            </a:stretch>
          </a:blipFill>
        </p:spPr>
      </p:sp>
      <p:sp>
        <p:nvSpPr>
          <p:cNvPr name="TextBox 5" id="5"/>
          <p:cNvSpPr txBox="true"/>
          <p:nvPr/>
        </p:nvSpPr>
        <p:spPr>
          <a:xfrm rot="0">
            <a:off x="7574099" y="6797431"/>
            <a:ext cx="3294119" cy="844550"/>
          </a:xfrm>
          <a:prstGeom prst="rect">
            <a:avLst/>
          </a:prstGeom>
        </p:spPr>
        <p:txBody>
          <a:bodyPr anchor="t" rtlCol="false" tIns="0" lIns="0" bIns="0" rIns="0">
            <a:spAutoFit/>
          </a:bodyPr>
          <a:lstStyle/>
          <a:p>
            <a:pPr algn="l">
              <a:lnSpc>
                <a:spcPts val="6999"/>
              </a:lnSpc>
            </a:pPr>
            <a:r>
              <a:rPr lang="en-US" sz="4999">
                <a:solidFill>
                  <a:srgbClr val="131416"/>
                </a:solidFill>
                <a:latin typeface="Prata"/>
                <a:ea typeface="Prata"/>
                <a:cs typeface="Prata"/>
                <a:sym typeface="Prata"/>
              </a:rPr>
              <a:t>DUDAS ¿?</a:t>
            </a:r>
          </a:p>
        </p:txBody>
      </p:sp>
      <p:sp>
        <p:nvSpPr>
          <p:cNvPr name="AutoShape 6" id="6"/>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7" id="7"/>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765361" y="596598"/>
            <a:ext cx="2757268" cy="3770967"/>
          </a:xfrm>
          <a:custGeom>
            <a:avLst/>
            <a:gdLst/>
            <a:ahLst/>
            <a:cxnLst/>
            <a:rect r="r" b="b" t="t" l="l"/>
            <a:pathLst>
              <a:path h="3770967" w="2757268">
                <a:moveTo>
                  <a:pt x="0" y="0"/>
                </a:moveTo>
                <a:lnTo>
                  <a:pt x="2757268" y="0"/>
                </a:lnTo>
                <a:lnTo>
                  <a:pt x="2757268" y="3770967"/>
                </a:lnTo>
                <a:lnTo>
                  <a:pt x="0" y="3770967"/>
                </a:lnTo>
                <a:lnTo>
                  <a:pt x="0" y="0"/>
                </a:lnTo>
                <a:close/>
              </a:path>
            </a:pathLst>
          </a:custGeom>
          <a:blipFill>
            <a:blip r:embed="rId2"/>
            <a:stretch>
              <a:fillRect l="0" t="0" r="0" b="0"/>
            </a:stretch>
          </a:blipFill>
        </p:spPr>
      </p:sp>
      <p:sp>
        <p:nvSpPr>
          <p:cNvPr name="Freeform 3" id="3"/>
          <p:cNvSpPr/>
          <p:nvPr/>
        </p:nvSpPr>
        <p:spPr>
          <a:xfrm flipH="false" flipV="false" rot="0">
            <a:off x="2411101" y="7899740"/>
            <a:ext cx="13465807" cy="719452"/>
          </a:xfrm>
          <a:custGeom>
            <a:avLst/>
            <a:gdLst/>
            <a:ahLst/>
            <a:cxnLst/>
            <a:rect r="r" b="b" t="t" l="l"/>
            <a:pathLst>
              <a:path h="719452" w="13465807">
                <a:moveTo>
                  <a:pt x="0" y="0"/>
                </a:moveTo>
                <a:lnTo>
                  <a:pt x="13465807" y="0"/>
                </a:lnTo>
                <a:lnTo>
                  <a:pt x="13465807" y="719452"/>
                </a:lnTo>
                <a:lnTo>
                  <a:pt x="0" y="7194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765361" y="596598"/>
            <a:ext cx="2757268" cy="3770967"/>
          </a:xfrm>
          <a:custGeom>
            <a:avLst/>
            <a:gdLst/>
            <a:ahLst/>
            <a:cxnLst/>
            <a:rect r="r" b="b" t="t" l="l"/>
            <a:pathLst>
              <a:path h="3770967" w="2757268">
                <a:moveTo>
                  <a:pt x="0" y="0"/>
                </a:moveTo>
                <a:lnTo>
                  <a:pt x="2757268" y="0"/>
                </a:lnTo>
                <a:lnTo>
                  <a:pt x="2757268" y="3770967"/>
                </a:lnTo>
                <a:lnTo>
                  <a:pt x="0" y="37709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124954" y="5384220"/>
            <a:ext cx="8433942" cy="2055882"/>
          </a:xfrm>
          <a:prstGeom prst="rect">
            <a:avLst/>
          </a:prstGeom>
        </p:spPr>
        <p:txBody>
          <a:bodyPr anchor="t" rtlCol="false" tIns="0" lIns="0" bIns="0" rIns="0">
            <a:spAutoFit/>
          </a:bodyPr>
          <a:lstStyle/>
          <a:p>
            <a:pPr algn="ctr">
              <a:lnSpc>
                <a:spcPts val="8110"/>
              </a:lnSpc>
            </a:pPr>
            <a:r>
              <a:rPr lang="en-US" sz="6498">
                <a:solidFill>
                  <a:srgbClr val="131416"/>
                </a:solidFill>
                <a:latin typeface="Prata"/>
                <a:ea typeface="Prata"/>
                <a:cs typeface="Prata"/>
                <a:sym typeface="Prata"/>
              </a:rPr>
              <a:t>¡GRACIAS POR SU ATENCIÓN!</a:t>
            </a:r>
          </a:p>
        </p:txBody>
      </p:sp>
      <p:sp>
        <p:nvSpPr>
          <p:cNvPr name="TextBox 6" id="6"/>
          <p:cNvSpPr txBox="true"/>
          <p:nvPr/>
        </p:nvSpPr>
        <p:spPr>
          <a:xfrm rot="0">
            <a:off x="4506497" y="7677045"/>
            <a:ext cx="71761" cy="556717"/>
          </a:xfrm>
          <a:prstGeom prst="rect">
            <a:avLst/>
          </a:prstGeom>
        </p:spPr>
        <p:txBody>
          <a:bodyPr anchor="t" rtlCol="false" tIns="0" lIns="0" bIns="0" rIns="0">
            <a:spAutoFit/>
          </a:bodyPr>
          <a:lstStyle/>
          <a:p>
            <a:pPr algn="l">
              <a:lnSpc>
                <a:spcPts val="5000"/>
              </a:lnSpc>
            </a:pPr>
            <a:r>
              <a:rPr lang="en-US" sz="2000">
                <a:solidFill>
                  <a:srgbClr val="131416"/>
                </a:solidFill>
                <a:latin typeface="Arial"/>
                <a:ea typeface="Arial"/>
                <a:cs typeface="Arial"/>
                <a:sym typeface="Arial"/>
              </a:rPr>
              <a:t> </a:t>
            </a:r>
          </a:p>
        </p:txBody>
      </p:sp>
      <p:sp>
        <p:nvSpPr>
          <p:cNvPr name="TextBox 7" id="7"/>
          <p:cNvSpPr txBox="true"/>
          <p:nvPr/>
        </p:nvSpPr>
        <p:spPr>
          <a:xfrm rot="0">
            <a:off x="2475767" y="7819920"/>
            <a:ext cx="13475069" cy="415671"/>
          </a:xfrm>
          <a:prstGeom prst="rect">
            <a:avLst/>
          </a:prstGeom>
        </p:spPr>
        <p:txBody>
          <a:bodyPr anchor="t" rtlCol="false" tIns="0" lIns="0" bIns="0" rIns="0">
            <a:spAutoFit/>
          </a:bodyPr>
          <a:lstStyle/>
          <a:p>
            <a:pPr algn="l">
              <a:lnSpc>
                <a:spcPts val="3552"/>
              </a:lnSpc>
            </a:pPr>
            <a:r>
              <a:rPr lang="en-US" sz="2000">
                <a:solidFill>
                  <a:srgbClr val="131416"/>
                </a:solidFill>
                <a:latin typeface="Arial"/>
                <a:ea typeface="Arial"/>
                <a:cs typeface="Arial"/>
                <a:sym typeface="Arial"/>
              </a:rPr>
              <a:t>RECUERDA QUE TENEMOS NUESTROFORO SEMANAL DONDE PUEDES CONSULTAR CUALQUIER DUDA QUE </a:t>
            </a:r>
          </a:p>
        </p:txBody>
      </p:sp>
      <p:sp>
        <p:nvSpPr>
          <p:cNvPr name="TextBox 8" id="8"/>
          <p:cNvSpPr txBox="true"/>
          <p:nvPr/>
        </p:nvSpPr>
        <p:spPr>
          <a:xfrm rot="0">
            <a:off x="7570765" y="8271024"/>
            <a:ext cx="3175057" cy="415671"/>
          </a:xfrm>
          <a:prstGeom prst="rect">
            <a:avLst/>
          </a:prstGeom>
        </p:spPr>
        <p:txBody>
          <a:bodyPr anchor="t" rtlCol="false" tIns="0" lIns="0" bIns="0" rIns="0">
            <a:spAutoFit/>
          </a:bodyPr>
          <a:lstStyle/>
          <a:p>
            <a:pPr algn="l">
              <a:lnSpc>
                <a:spcPts val="3552"/>
              </a:lnSpc>
            </a:pPr>
            <a:r>
              <a:rPr lang="en-US" sz="2000">
                <a:solidFill>
                  <a:srgbClr val="131416"/>
                </a:solidFill>
                <a:latin typeface="Arial"/>
                <a:ea typeface="Arial"/>
                <a:cs typeface="Arial"/>
                <a:sym typeface="Arial"/>
              </a:rPr>
              <a:t>TE SURJA EN LA SEMANA</a:t>
            </a:r>
          </a:p>
        </p:txBody>
      </p:sp>
      <p:sp>
        <p:nvSpPr>
          <p:cNvPr name="AutoShape 9" id="9"/>
          <p:cNvSpPr/>
          <p:nvPr/>
        </p:nvSpPr>
        <p:spPr>
          <a:xfrm rot="0">
            <a:off x="0" y="9239250"/>
            <a:ext cx="18288000" cy="0"/>
          </a:xfrm>
          <a:prstGeom prst="line">
            <a:avLst/>
          </a:prstGeom>
          <a:ln cap="flat" w="19050">
            <a:solidFill>
              <a:srgbClr val="000000"/>
            </a:solidFill>
            <a:prstDash val="solid"/>
            <a:headEnd type="none" len="sm" w="sm"/>
            <a:tailEnd type="none" len="sm" w="sm"/>
          </a:ln>
        </p:spPr>
      </p:sp>
      <p:sp>
        <p:nvSpPr>
          <p:cNvPr name="AutoShape 10" id="10"/>
          <p:cNvSpPr/>
          <p:nvPr/>
        </p:nvSpPr>
        <p:spPr>
          <a:xfrm rot="-5400000">
            <a:off x="-4124325" y="5133975"/>
            <a:ext cx="10287000" cy="0"/>
          </a:xfrm>
          <a:prstGeom prst="line">
            <a:avLst/>
          </a:prstGeom>
          <a:ln cap="flat" w="1905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DAG7aeHfcjw</dc:identifier>
  <dcterms:modified xsi:type="dcterms:W3CDTF">2011-08-01T06:04:30Z</dcterms:modified>
  <cp:revision>1</cp:revision>
  <dc:title>1s2026_Semana_3</dc:title>
</cp:coreProperties>
</file>