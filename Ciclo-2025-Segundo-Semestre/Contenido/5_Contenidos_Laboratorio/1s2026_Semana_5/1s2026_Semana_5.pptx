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Inter" charset="1" panose="020B0502030000000004"/>
      <p:regular r:id="rId29"/>
    </p:embeddedFont>
    <p:embeddedFont>
      <p:font typeface="Inter Bold" charset="1" panose="020B0802030000000004"/>
      <p:regular r:id="rId30"/>
    </p:embeddedFont>
    <p:embeddedFont>
      <p:font typeface="Fontuna Bold" charset="1" panose="00000000000000000000"/>
      <p:regular r:id="rId31"/>
    </p:embeddedFont>
    <p:embeddedFont>
      <p:font typeface="Signature" charset="1" panose="00000000000000000000"/>
      <p:regular r:id="rId32"/>
    </p:embeddedFont>
    <p:embeddedFont>
      <p:font typeface="Arial Bold" charset="1" panose="020B0704020202020204"/>
      <p:regular r:id="rId33"/>
    </p:embeddedFont>
    <p:embeddedFont>
      <p:font typeface="Arial" charset="1" panose="020B060402020202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54.png" Type="http://schemas.openxmlformats.org/officeDocument/2006/relationships/image"/><Relationship Id="rId6" Target="../media/image5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sp>
        <p:nvSpPr>
          <p:cNvPr name="Freeform 4" id="4"/>
          <p:cNvSpPr/>
          <p:nvPr/>
        </p:nvSpPr>
        <p:spPr>
          <a:xfrm flipH="false" flipV="false" rot="0">
            <a:off x="3022664" y="4712989"/>
            <a:ext cx="10278628" cy="861022"/>
          </a:xfrm>
          <a:custGeom>
            <a:avLst/>
            <a:gdLst/>
            <a:ahLst/>
            <a:cxnLst/>
            <a:rect r="r" b="b" t="t" l="l"/>
            <a:pathLst>
              <a:path h="861022" w="10278628">
                <a:moveTo>
                  <a:pt x="0" y="0"/>
                </a:moveTo>
                <a:lnTo>
                  <a:pt x="10278627" y="0"/>
                </a:lnTo>
                <a:lnTo>
                  <a:pt x="10278627" y="861022"/>
                </a:lnTo>
                <a:lnTo>
                  <a:pt x="0" y="8610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3529784" y="5920416"/>
            <a:ext cx="7501528" cy="861022"/>
          </a:xfrm>
          <a:custGeom>
            <a:avLst/>
            <a:gdLst/>
            <a:ahLst/>
            <a:cxnLst/>
            <a:rect r="r" b="b" t="t" l="l"/>
            <a:pathLst>
              <a:path h="861022" w="7501528">
                <a:moveTo>
                  <a:pt x="0" y="0"/>
                </a:moveTo>
                <a:lnTo>
                  <a:pt x="7501528" y="0"/>
                </a:lnTo>
                <a:lnTo>
                  <a:pt x="7501528" y="861022"/>
                </a:lnTo>
                <a:lnTo>
                  <a:pt x="0" y="8610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aphicFrame>
        <p:nvGraphicFramePr>
          <p:cNvPr name="Table 6" id="6"/>
          <p:cNvGraphicFramePr>
            <a:graphicFrameLocks noGrp="true"/>
          </p:cNvGraphicFramePr>
          <p:nvPr/>
        </p:nvGraphicFramePr>
        <p:xfrm>
          <a:off x="13699990" y="1908529"/>
          <a:ext cx="4375585" cy="1676400"/>
        </p:xfrm>
        <a:graphic>
          <a:graphicData uri="http://schemas.openxmlformats.org/drawingml/2006/table">
            <a:tbl>
              <a:tblPr/>
              <a:tblGrid>
                <a:gridCol w="4159886"/>
              </a:tblGrid>
              <a:tr h="838200">
                <a:tc>
                  <a:txBody>
                    <a:bodyPr anchor="t" rtlCol="false"/>
                    <a:lstStyle/>
                    <a:p>
                      <a:pPr algn="ctr">
                        <a:lnSpc>
                          <a:spcPts val="2622"/>
                        </a:lnSpc>
                        <a:defRPr/>
                      </a:pPr>
                      <a:r>
                        <a:rPr lang="en-US" sz="1872">
                          <a:solidFill>
                            <a:srgbClr val="000000"/>
                          </a:solidFill>
                          <a:latin typeface="Inter"/>
                          <a:ea typeface="Inter"/>
                          <a:cs typeface="Inter"/>
                          <a:sym typeface="Inter"/>
                        </a:rPr>
                        <a:t>03/03/2026</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EECE1"/>
                    </a:solidFill>
                  </a:tcPr>
                </a:tc>
              </a:tr>
              <a:tr h="838200">
                <a:tc>
                  <a:txBody>
                    <a:bodyPr anchor="t" rtlCol="false"/>
                    <a:lstStyle/>
                    <a:p>
                      <a:pPr algn="ctr">
                        <a:lnSpc>
                          <a:spcPts val="2622"/>
                        </a:lnSpc>
                        <a:defRPr/>
                      </a:pPr>
                      <a:r>
                        <a:rPr lang="en-US" sz="1872">
                          <a:solidFill>
                            <a:srgbClr val="000000"/>
                          </a:solidFill>
                          <a:latin typeface="Inter"/>
                          <a:ea typeface="Inter"/>
                          <a:cs typeface="Inter"/>
                          <a:sym typeface="Inter"/>
                        </a:rPr>
                        <a:t>12:25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EECE1"/>
                    </a:solidFill>
                  </a:tcPr>
                </a:tc>
              </a:tr>
            </a:tbl>
          </a:graphicData>
        </a:graphic>
      </p:graphicFrame>
      <p:sp>
        <p:nvSpPr>
          <p:cNvPr name="TextBox 7" id="7"/>
          <p:cNvSpPr txBox="true"/>
          <p:nvPr/>
        </p:nvSpPr>
        <p:spPr>
          <a:xfrm rot="0">
            <a:off x="4474202" y="6107722"/>
            <a:ext cx="5612692" cy="438785"/>
          </a:xfrm>
          <a:prstGeom prst="rect">
            <a:avLst/>
          </a:prstGeom>
        </p:spPr>
        <p:txBody>
          <a:bodyPr anchor="t" rtlCol="false" tIns="0" lIns="0" bIns="0" rIns="0">
            <a:spAutoFit/>
          </a:bodyPr>
          <a:lstStyle/>
          <a:p>
            <a:pPr algn="l">
              <a:lnSpc>
                <a:spcPts val="3640"/>
              </a:lnSpc>
            </a:pPr>
            <a:r>
              <a:rPr lang="en-US" b="true" sz="2600">
                <a:solidFill>
                  <a:srgbClr val="000000"/>
                </a:solidFill>
                <a:latin typeface="Inter Bold"/>
                <a:ea typeface="Inter Bold"/>
                <a:cs typeface="Inter Bold"/>
                <a:sym typeface="Inter Bold"/>
              </a:rPr>
              <a:t>Julio Alfredo Fernández Rodríguez</a:t>
            </a:r>
          </a:p>
        </p:txBody>
      </p:sp>
      <p:sp>
        <p:nvSpPr>
          <p:cNvPr name="TextBox 8" id="8"/>
          <p:cNvSpPr txBox="true"/>
          <p:nvPr/>
        </p:nvSpPr>
        <p:spPr>
          <a:xfrm rot="0">
            <a:off x="6217091" y="4802187"/>
            <a:ext cx="3889772" cy="606425"/>
          </a:xfrm>
          <a:prstGeom prst="rect">
            <a:avLst/>
          </a:prstGeom>
        </p:spPr>
        <p:txBody>
          <a:bodyPr anchor="t" rtlCol="false" tIns="0" lIns="0" bIns="0" rIns="0">
            <a:spAutoFit/>
          </a:bodyPr>
          <a:lstStyle/>
          <a:p>
            <a:pPr algn="l">
              <a:lnSpc>
                <a:spcPts val="4899"/>
              </a:lnSpc>
            </a:pPr>
            <a:r>
              <a:rPr lang="en-US" b="true" sz="3499">
                <a:solidFill>
                  <a:srgbClr val="000000"/>
                </a:solidFill>
                <a:latin typeface="Fontuna Bold"/>
                <a:ea typeface="Fontuna Bold"/>
                <a:cs typeface="Fontuna Bold"/>
                <a:sym typeface="Fontuna Bold"/>
              </a:rPr>
              <a:t>PROGRAMACIÓN DE COMPUTADORAS 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1212"/>
        </a:solidFill>
      </p:bgPr>
    </p:bg>
    <p:spTree>
      <p:nvGrpSpPr>
        <p:cNvPr id="1" name=""/>
        <p:cNvGrpSpPr/>
        <p:nvPr/>
      </p:nvGrpSpPr>
      <p:grpSpPr>
        <a:xfrm>
          <a:off x="0" y="0"/>
          <a:ext cx="0" cy="0"/>
          <a:chOff x="0" y="0"/>
          <a:chExt cx="0" cy="0"/>
        </a:xfrm>
      </p:grpSpPr>
      <p:sp>
        <p:nvSpPr>
          <p:cNvPr name="TextBox 2" id="2"/>
          <p:cNvSpPr txBox="true"/>
          <p:nvPr/>
        </p:nvSpPr>
        <p:spPr>
          <a:xfrm rot="0">
            <a:off x="1604596" y="2960657"/>
            <a:ext cx="15078808" cy="2881955"/>
          </a:xfrm>
          <a:prstGeom prst="rect">
            <a:avLst/>
          </a:prstGeom>
        </p:spPr>
        <p:txBody>
          <a:bodyPr anchor="t" rtlCol="false" tIns="0" lIns="0" bIns="0" rIns="0">
            <a:spAutoFit/>
          </a:bodyPr>
          <a:lstStyle/>
          <a:p>
            <a:pPr algn="ctr">
              <a:lnSpc>
                <a:spcPts val="21926"/>
              </a:lnSpc>
            </a:pPr>
            <a:r>
              <a:rPr lang="en-US" b="true" sz="20685">
                <a:solidFill>
                  <a:srgbClr val="FFFFFF"/>
                </a:solidFill>
                <a:latin typeface="Fontuna Bold"/>
                <a:ea typeface="Fontuna Bold"/>
                <a:cs typeface="Fontuna Bold"/>
                <a:sym typeface="Fontuna Bold"/>
              </a:rPr>
              <a:t>CONTROLES BÁSICOS</a:t>
            </a:r>
          </a:p>
        </p:txBody>
      </p:sp>
      <p:sp>
        <p:nvSpPr>
          <p:cNvPr name="AutoShape 3" id="3"/>
          <p:cNvSpPr/>
          <p:nvPr/>
        </p:nvSpPr>
        <p:spPr>
          <a:xfrm>
            <a:off x="-1414694" y="735461"/>
            <a:ext cx="18098098" cy="0"/>
          </a:xfrm>
          <a:prstGeom prst="line">
            <a:avLst/>
          </a:prstGeom>
          <a:ln cap="flat" w="19050">
            <a:solidFill>
              <a:srgbClr val="FFFFFF"/>
            </a:solidFill>
            <a:prstDash val="solid"/>
            <a:headEnd type="none" len="sm" w="sm"/>
            <a:tailEnd type="none" len="sm" w="sm"/>
          </a:ln>
        </p:spPr>
      </p:sp>
      <p:sp>
        <p:nvSpPr>
          <p:cNvPr name="AutoShape 4" id="4"/>
          <p:cNvSpPr/>
          <p:nvPr/>
        </p:nvSpPr>
        <p:spPr>
          <a:xfrm>
            <a:off x="1673453" y="9506079"/>
            <a:ext cx="18243397" cy="28129"/>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4273923" y="4789559"/>
            <a:ext cx="9740155" cy="2294914"/>
          </a:xfrm>
          <a:prstGeom prst="rect">
            <a:avLst/>
          </a:prstGeom>
        </p:spPr>
        <p:txBody>
          <a:bodyPr anchor="t" rtlCol="false" tIns="0" lIns="0" bIns="0" rIns="0">
            <a:spAutoFit/>
          </a:bodyPr>
          <a:lstStyle/>
          <a:p>
            <a:pPr algn="ctr">
              <a:lnSpc>
                <a:spcPts val="17303"/>
              </a:lnSpc>
            </a:pPr>
            <a:r>
              <a:rPr lang="en-US" sz="16324">
                <a:solidFill>
                  <a:srgbClr val="FFFFFF"/>
                </a:solidFill>
                <a:latin typeface="Signature"/>
                <a:ea typeface="Signature"/>
                <a:cs typeface="Signature"/>
                <a:sym typeface="Signature"/>
              </a:rPr>
              <a:t>Clase 5</a:t>
            </a:r>
          </a:p>
        </p:txBody>
      </p:sp>
      <p:sp>
        <p:nvSpPr>
          <p:cNvPr name="Freeform 6" id="6"/>
          <p:cNvSpPr/>
          <p:nvPr/>
        </p:nvSpPr>
        <p:spPr>
          <a:xfrm flipH="false" flipV="false" rot="0">
            <a:off x="16683404" y="447513"/>
            <a:ext cx="575896" cy="575896"/>
          </a:xfrm>
          <a:custGeom>
            <a:avLst/>
            <a:gdLst/>
            <a:ahLst/>
            <a:cxnLst/>
            <a:rect r="r" b="b" t="t" l="l"/>
            <a:pathLst>
              <a:path h="575896" w="575896">
                <a:moveTo>
                  <a:pt x="0" y="0"/>
                </a:moveTo>
                <a:lnTo>
                  <a:pt x="575896" y="0"/>
                </a:lnTo>
                <a:lnTo>
                  <a:pt x="575896" y="575896"/>
                </a:lnTo>
                <a:lnTo>
                  <a:pt x="0" y="5758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740752" y="9218131"/>
            <a:ext cx="575896" cy="575896"/>
          </a:xfrm>
          <a:custGeom>
            <a:avLst/>
            <a:gdLst/>
            <a:ahLst/>
            <a:cxnLst/>
            <a:rect r="r" b="b" t="t" l="l"/>
            <a:pathLst>
              <a:path h="575896" w="575896">
                <a:moveTo>
                  <a:pt x="0" y="0"/>
                </a:moveTo>
                <a:lnTo>
                  <a:pt x="575896" y="0"/>
                </a:lnTo>
                <a:lnTo>
                  <a:pt x="575896" y="575897"/>
                </a:lnTo>
                <a:lnTo>
                  <a:pt x="0" y="5758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0" y="735461"/>
            <a:ext cx="10243328" cy="1067010"/>
          </a:xfrm>
          <a:custGeom>
            <a:avLst/>
            <a:gdLst/>
            <a:ahLst/>
            <a:cxnLst/>
            <a:rect r="r" b="b" t="t" l="l"/>
            <a:pathLst>
              <a:path h="1067010" w="10243328">
                <a:moveTo>
                  <a:pt x="0" y="0"/>
                </a:moveTo>
                <a:lnTo>
                  <a:pt x="10243328" y="0"/>
                </a:lnTo>
                <a:lnTo>
                  <a:pt x="10243328" y="1067010"/>
                </a:lnTo>
                <a:lnTo>
                  <a:pt x="0" y="1067010"/>
                </a:lnTo>
                <a:lnTo>
                  <a:pt x="0" y="0"/>
                </a:lnTo>
                <a:close/>
              </a:path>
            </a:pathLst>
          </a:custGeom>
          <a:blipFill>
            <a:blip r:embed="rId4"/>
            <a:stretch>
              <a:fillRect l="0" t="0" r="0" b="0"/>
            </a:stretch>
          </a:blipFill>
        </p:spPr>
      </p:sp>
      <p:sp>
        <p:nvSpPr>
          <p:cNvPr name="TextBox 9" id="9"/>
          <p:cNvSpPr txBox="true"/>
          <p:nvPr/>
        </p:nvSpPr>
        <p:spPr>
          <a:xfrm rot="0">
            <a:off x="1244414" y="8149292"/>
            <a:ext cx="6737322" cy="439454"/>
          </a:xfrm>
          <a:prstGeom prst="rect">
            <a:avLst/>
          </a:prstGeom>
        </p:spPr>
        <p:txBody>
          <a:bodyPr anchor="t" rtlCol="false" tIns="0" lIns="0" bIns="0" rIns="0">
            <a:spAutoFit/>
          </a:bodyPr>
          <a:lstStyle/>
          <a:p>
            <a:pPr algn="l">
              <a:lnSpc>
                <a:spcPts val="3663"/>
              </a:lnSpc>
            </a:pPr>
            <a:r>
              <a:rPr lang="en-US" sz="2498">
                <a:solidFill>
                  <a:srgbClr val="FBFBF9"/>
                </a:solidFill>
                <a:latin typeface="Inter"/>
                <a:ea typeface="Inter"/>
                <a:cs typeface="Inter"/>
                <a:sym typeface="Inter"/>
              </a:rPr>
              <a:t>Escuela de Ingeniería de Ciencias y Sistemas</a:t>
            </a:r>
          </a:p>
        </p:txBody>
      </p:sp>
      <p:sp>
        <p:nvSpPr>
          <p:cNvPr name="TextBox 10" id="10"/>
          <p:cNvSpPr txBox="true"/>
          <p:nvPr/>
        </p:nvSpPr>
        <p:spPr>
          <a:xfrm rot="0">
            <a:off x="1244414" y="8560925"/>
            <a:ext cx="3322694" cy="439454"/>
          </a:xfrm>
          <a:prstGeom prst="rect">
            <a:avLst/>
          </a:prstGeom>
        </p:spPr>
        <p:txBody>
          <a:bodyPr anchor="t" rtlCol="false" tIns="0" lIns="0" bIns="0" rIns="0">
            <a:spAutoFit/>
          </a:bodyPr>
          <a:lstStyle/>
          <a:p>
            <a:pPr algn="l">
              <a:lnSpc>
                <a:spcPts val="3663"/>
              </a:lnSpc>
            </a:pPr>
            <a:r>
              <a:rPr lang="en-US" sz="2498">
                <a:solidFill>
                  <a:srgbClr val="FBFBF9"/>
                </a:solidFill>
                <a:latin typeface="Inter"/>
                <a:ea typeface="Inter"/>
                <a:cs typeface="Inter"/>
                <a:sym typeface="Inter"/>
              </a:rPr>
              <a:t>Facultad de Ingenieria</a:t>
            </a:r>
          </a:p>
        </p:txBody>
      </p:sp>
      <p:sp>
        <p:nvSpPr>
          <p:cNvPr name="TextBox 11" id="11"/>
          <p:cNvSpPr txBox="true"/>
          <p:nvPr/>
        </p:nvSpPr>
        <p:spPr>
          <a:xfrm rot="0">
            <a:off x="1244414" y="9087963"/>
            <a:ext cx="6140139" cy="310161"/>
          </a:xfrm>
          <a:prstGeom prst="rect">
            <a:avLst/>
          </a:prstGeom>
        </p:spPr>
        <p:txBody>
          <a:bodyPr anchor="t" rtlCol="false" tIns="0" lIns="0" bIns="0" rIns="0">
            <a:spAutoFit/>
          </a:bodyPr>
          <a:lstStyle/>
          <a:p>
            <a:pPr algn="l">
              <a:lnSpc>
                <a:spcPts val="2281"/>
              </a:lnSpc>
            </a:pPr>
            <a:r>
              <a:rPr lang="en-US" sz="2498">
                <a:solidFill>
                  <a:srgbClr val="FBFBF9"/>
                </a:solidFill>
                <a:latin typeface="Inter"/>
                <a:ea typeface="Inter"/>
                <a:cs typeface="Inter"/>
                <a:sym typeface="Inter"/>
              </a:rPr>
              <a:t>Universidad de San Carlos de Guatemala</a:t>
            </a:r>
          </a:p>
        </p:txBody>
      </p:sp>
      <p:sp>
        <p:nvSpPr>
          <p:cNvPr name="TextBox 12" id="12"/>
          <p:cNvSpPr txBox="true"/>
          <p:nvPr/>
        </p:nvSpPr>
        <p:spPr>
          <a:xfrm rot="0">
            <a:off x="1244414" y="7598823"/>
            <a:ext cx="9423372" cy="579044"/>
          </a:xfrm>
          <a:prstGeom prst="rect">
            <a:avLst/>
          </a:prstGeom>
        </p:spPr>
        <p:txBody>
          <a:bodyPr anchor="t" rtlCol="false" tIns="0" lIns="0" bIns="0" rIns="0">
            <a:spAutoFit/>
          </a:bodyPr>
          <a:lstStyle/>
          <a:p>
            <a:pPr algn="l">
              <a:lnSpc>
                <a:spcPts val="4395"/>
              </a:lnSpc>
            </a:pPr>
            <a:r>
              <a:rPr lang="en-US" b="true" sz="4400">
                <a:solidFill>
                  <a:srgbClr val="FBFBF9"/>
                </a:solidFill>
                <a:latin typeface="Inter Bold"/>
                <a:ea typeface="Inter Bold"/>
                <a:cs typeface="Inter Bold"/>
                <a:sym typeface="Inter Bold"/>
              </a:rPr>
              <a:t>Programacion de computadoras 2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270755" y="1623896"/>
            <a:ext cx="1063013" cy="1236067"/>
          </a:xfrm>
          <a:prstGeom prst="rect">
            <a:avLst/>
          </a:prstGeom>
        </p:spPr>
        <p:txBody>
          <a:bodyPr anchor="t" rtlCol="false" tIns="0" lIns="0" bIns="0" rIns="0">
            <a:spAutoFit/>
          </a:bodyPr>
          <a:lstStyle/>
          <a:p>
            <a:pPr algn="ctr">
              <a:lnSpc>
                <a:spcPts val="10095"/>
              </a:lnSpc>
            </a:pPr>
            <a:r>
              <a:rPr lang="en-US" b="true" sz="7210" spc="475">
                <a:solidFill>
                  <a:srgbClr val="121212"/>
                </a:solidFill>
                <a:latin typeface="Fontuna Bold"/>
                <a:ea typeface="Fontuna Bold"/>
                <a:cs typeface="Fontuna Bold"/>
                <a:sym typeface="Fontuna Bold"/>
              </a:rPr>
              <a:t>01</a:t>
            </a:r>
          </a:p>
        </p:txBody>
      </p:sp>
      <p:sp>
        <p:nvSpPr>
          <p:cNvPr name="TextBox 3" id="3"/>
          <p:cNvSpPr txBox="true"/>
          <p:nvPr/>
        </p:nvSpPr>
        <p:spPr>
          <a:xfrm rot="0">
            <a:off x="9270755" y="2756979"/>
            <a:ext cx="1063013" cy="1235279"/>
          </a:xfrm>
          <a:prstGeom prst="rect">
            <a:avLst/>
          </a:prstGeom>
        </p:spPr>
        <p:txBody>
          <a:bodyPr anchor="t" rtlCol="false" tIns="0" lIns="0" bIns="0" rIns="0">
            <a:spAutoFit/>
          </a:bodyPr>
          <a:lstStyle/>
          <a:p>
            <a:pPr algn="ctr">
              <a:lnSpc>
                <a:spcPts val="10095"/>
              </a:lnSpc>
            </a:pPr>
            <a:r>
              <a:rPr lang="en-US" b="true" sz="7210" spc="475">
                <a:solidFill>
                  <a:srgbClr val="121212"/>
                </a:solidFill>
                <a:latin typeface="Fontuna Bold"/>
                <a:ea typeface="Fontuna Bold"/>
                <a:cs typeface="Fontuna Bold"/>
                <a:sym typeface="Fontuna Bold"/>
              </a:rPr>
              <a:t>02</a:t>
            </a:r>
          </a:p>
        </p:txBody>
      </p:sp>
      <p:sp>
        <p:nvSpPr>
          <p:cNvPr name="TextBox 4" id="4"/>
          <p:cNvSpPr txBox="true"/>
          <p:nvPr/>
        </p:nvSpPr>
        <p:spPr>
          <a:xfrm rot="0">
            <a:off x="9270755" y="3892794"/>
            <a:ext cx="1063013" cy="1235279"/>
          </a:xfrm>
          <a:prstGeom prst="rect">
            <a:avLst/>
          </a:prstGeom>
        </p:spPr>
        <p:txBody>
          <a:bodyPr anchor="t" rtlCol="false" tIns="0" lIns="0" bIns="0" rIns="0">
            <a:spAutoFit/>
          </a:bodyPr>
          <a:lstStyle/>
          <a:p>
            <a:pPr algn="ctr">
              <a:lnSpc>
                <a:spcPts val="10095"/>
              </a:lnSpc>
            </a:pPr>
            <a:r>
              <a:rPr lang="en-US" b="true" sz="7210" spc="475">
                <a:solidFill>
                  <a:srgbClr val="121212"/>
                </a:solidFill>
                <a:latin typeface="Fontuna Bold"/>
                <a:ea typeface="Fontuna Bold"/>
                <a:cs typeface="Fontuna Bold"/>
                <a:sym typeface="Fontuna Bold"/>
              </a:rPr>
              <a:t>03</a:t>
            </a:r>
          </a:p>
        </p:txBody>
      </p:sp>
      <p:sp>
        <p:nvSpPr>
          <p:cNvPr name="TextBox 5" id="5"/>
          <p:cNvSpPr txBox="true"/>
          <p:nvPr/>
        </p:nvSpPr>
        <p:spPr>
          <a:xfrm rot="0">
            <a:off x="9270755" y="5035103"/>
            <a:ext cx="1063013" cy="1235279"/>
          </a:xfrm>
          <a:prstGeom prst="rect">
            <a:avLst/>
          </a:prstGeom>
        </p:spPr>
        <p:txBody>
          <a:bodyPr anchor="t" rtlCol="false" tIns="0" lIns="0" bIns="0" rIns="0">
            <a:spAutoFit/>
          </a:bodyPr>
          <a:lstStyle/>
          <a:p>
            <a:pPr algn="ctr">
              <a:lnSpc>
                <a:spcPts val="10095"/>
              </a:lnSpc>
            </a:pPr>
            <a:r>
              <a:rPr lang="en-US" b="true" sz="7210" spc="475">
                <a:solidFill>
                  <a:srgbClr val="121212"/>
                </a:solidFill>
                <a:latin typeface="Fontuna Bold"/>
                <a:ea typeface="Fontuna Bold"/>
                <a:cs typeface="Fontuna Bold"/>
                <a:sym typeface="Fontuna Bold"/>
              </a:rPr>
              <a:t>04</a:t>
            </a:r>
          </a:p>
        </p:txBody>
      </p:sp>
      <p:sp>
        <p:nvSpPr>
          <p:cNvPr name="TextBox 6" id="6"/>
          <p:cNvSpPr txBox="true"/>
          <p:nvPr/>
        </p:nvSpPr>
        <p:spPr>
          <a:xfrm rot="0">
            <a:off x="9270755" y="6168185"/>
            <a:ext cx="1063013" cy="1235279"/>
          </a:xfrm>
          <a:prstGeom prst="rect">
            <a:avLst/>
          </a:prstGeom>
        </p:spPr>
        <p:txBody>
          <a:bodyPr anchor="t" rtlCol="false" tIns="0" lIns="0" bIns="0" rIns="0">
            <a:spAutoFit/>
          </a:bodyPr>
          <a:lstStyle/>
          <a:p>
            <a:pPr algn="ctr">
              <a:lnSpc>
                <a:spcPts val="10095"/>
              </a:lnSpc>
            </a:pPr>
            <a:r>
              <a:rPr lang="en-US" b="true" sz="7210" spc="475">
                <a:solidFill>
                  <a:srgbClr val="121212"/>
                </a:solidFill>
                <a:latin typeface="Fontuna Bold"/>
                <a:ea typeface="Fontuna Bold"/>
                <a:cs typeface="Fontuna Bold"/>
                <a:sym typeface="Fontuna Bold"/>
              </a:rPr>
              <a:t>05</a:t>
            </a:r>
          </a:p>
        </p:txBody>
      </p:sp>
      <p:sp>
        <p:nvSpPr>
          <p:cNvPr name="AutoShape 7" id="7"/>
          <p:cNvSpPr/>
          <p:nvPr/>
        </p:nvSpPr>
        <p:spPr>
          <a:xfrm flipV="true">
            <a:off x="8972814" y="2850438"/>
            <a:ext cx="8132995" cy="0"/>
          </a:xfrm>
          <a:prstGeom prst="line">
            <a:avLst/>
          </a:prstGeom>
          <a:ln cap="flat" w="19050">
            <a:solidFill>
              <a:srgbClr val="121212"/>
            </a:solidFill>
            <a:prstDash val="solid"/>
            <a:headEnd type="none" len="sm" w="sm"/>
            <a:tailEnd type="none" len="sm" w="sm"/>
          </a:ln>
        </p:spPr>
      </p:sp>
      <p:sp>
        <p:nvSpPr>
          <p:cNvPr name="AutoShape 8" id="8"/>
          <p:cNvSpPr/>
          <p:nvPr/>
        </p:nvSpPr>
        <p:spPr>
          <a:xfrm flipV="true">
            <a:off x="8972814" y="3982733"/>
            <a:ext cx="8132995" cy="0"/>
          </a:xfrm>
          <a:prstGeom prst="line">
            <a:avLst/>
          </a:prstGeom>
          <a:ln cap="flat" w="19050">
            <a:solidFill>
              <a:srgbClr val="121212"/>
            </a:solidFill>
            <a:prstDash val="solid"/>
            <a:headEnd type="none" len="sm" w="sm"/>
            <a:tailEnd type="none" len="sm" w="sm"/>
          </a:ln>
        </p:spPr>
      </p:sp>
      <p:sp>
        <p:nvSpPr>
          <p:cNvPr name="AutoShape 9" id="9"/>
          <p:cNvSpPr/>
          <p:nvPr/>
        </p:nvSpPr>
        <p:spPr>
          <a:xfrm>
            <a:off x="8972814" y="5115027"/>
            <a:ext cx="8132995" cy="0"/>
          </a:xfrm>
          <a:prstGeom prst="line">
            <a:avLst/>
          </a:prstGeom>
          <a:ln cap="flat" w="19050">
            <a:solidFill>
              <a:srgbClr val="121212"/>
            </a:solidFill>
            <a:prstDash val="solid"/>
            <a:headEnd type="none" len="sm" w="sm"/>
            <a:tailEnd type="none" len="sm" w="sm"/>
          </a:ln>
        </p:spPr>
      </p:sp>
      <p:sp>
        <p:nvSpPr>
          <p:cNvPr name="AutoShape 10" id="10"/>
          <p:cNvSpPr/>
          <p:nvPr/>
        </p:nvSpPr>
        <p:spPr>
          <a:xfrm>
            <a:off x="8972814" y="6247321"/>
            <a:ext cx="8132995" cy="0"/>
          </a:xfrm>
          <a:prstGeom prst="line">
            <a:avLst/>
          </a:prstGeom>
          <a:ln cap="flat" w="19050">
            <a:solidFill>
              <a:srgbClr val="121212"/>
            </a:solidFill>
            <a:prstDash val="solid"/>
            <a:headEnd type="none" len="sm" w="sm"/>
            <a:tailEnd type="none" len="sm" w="sm"/>
          </a:ln>
        </p:spPr>
      </p:sp>
      <p:sp>
        <p:nvSpPr>
          <p:cNvPr name="AutoShape 11" id="11"/>
          <p:cNvSpPr/>
          <p:nvPr/>
        </p:nvSpPr>
        <p:spPr>
          <a:xfrm>
            <a:off x="8972814" y="7379615"/>
            <a:ext cx="8132995" cy="0"/>
          </a:xfrm>
          <a:prstGeom prst="line">
            <a:avLst/>
          </a:prstGeom>
          <a:ln cap="flat" w="19050">
            <a:solidFill>
              <a:srgbClr val="121212"/>
            </a:solidFill>
            <a:prstDash val="solid"/>
            <a:headEnd type="none" len="sm" w="sm"/>
            <a:tailEnd type="none" len="sm" w="sm"/>
          </a:ln>
        </p:spPr>
      </p:sp>
      <p:sp>
        <p:nvSpPr>
          <p:cNvPr name="AutoShape 12" id="12"/>
          <p:cNvSpPr/>
          <p:nvPr/>
        </p:nvSpPr>
        <p:spPr>
          <a:xfrm>
            <a:off x="8972814" y="1757246"/>
            <a:ext cx="8132995" cy="0"/>
          </a:xfrm>
          <a:prstGeom prst="line">
            <a:avLst/>
          </a:prstGeom>
          <a:ln cap="flat" w="19050">
            <a:solidFill>
              <a:srgbClr val="121212"/>
            </a:solidFill>
            <a:prstDash val="solid"/>
            <a:headEnd type="none" len="sm" w="sm"/>
            <a:tailEnd type="none" len="sm" w="sm"/>
          </a:ln>
        </p:spPr>
      </p:sp>
      <p:sp>
        <p:nvSpPr>
          <p:cNvPr name="Freeform 13" id="13"/>
          <p:cNvSpPr/>
          <p:nvPr/>
        </p:nvSpPr>
        <p:spPr>
          <a:xfrm flipH="false" flipV="false" rot="838835">
            <a:off x="2818726" y="6382989"/>
            <a:ext cx="3749562" cy="3183719"/>
          </a:xfrm>
          <a:custGeom>
            <a:avLst/>
            <a:gdLst/>
            <a:ahLst/>
            <a:cxnLst/>
            <a:rect r="r" b="b" t="t" l="l"/>
            <a:pathLst>
              <a:path h="3183719" w="3749562">
                <a:moveTo>
                  <a:pt x="0" y="0"/>
                </a:moveTo>
                <a:lnTo>
                  <a:pt x="3749562" y="0"/>
                </a:lnTo>
                <a:lnTo>
                  <a:pt x="3749562" y="3183718"/>
                </a:lnTo>
                <a:lnTo>
                  <a:pt x="0" y="31837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0521439" y="2137129"/>
            <a:ext cx="6396102" cy="314377"/>
          </a:xfrm>
          <a:prstGeom prst="rect">
            <a:avLst/>
          </a:prstGeom>
        </p:spPr>
        <p:txBody>
          <a:bodyPr anchor="t" rtlCol="false" tIns="0" lIns="0" bIns="0" rIns="0">
            <a:spAutoFit/>
          </a:bodyPr>
          <a:lstStyle/>
          <a:p>
            <a:pPr algn="l">
              <a:lnSpc>
                <a:spcPts val="2622"/>
              </a:lnSpc>
            </a:pPr>
            <a:r>
              <a:rPr lang="en-US" sz="1872">
                <a:solidFill>
                  <a:srgbClr val="121212"/>
                </a:solidFill>
                <a:latin typeface="Inter"/>
                <a:ea typeface="Inter"/>
                <a:cs typeface="Inter"/>
                <a:sym typeface="Inter"/>
              </a:rPr>
              <a:t>Dudas de clase o generales</a:t>
            </a:r>
          </a:p>
        </p:txBody>
      </p:sp>
      <p:sp>
        <p:nvSpPr>
          <p:cNvPr name="TextBox 15" id="15"/>
          <p:cNvSpPr txBox="true"/>
          <p:nvPr/>
        </p:nvSpPr>
        <p:spPr>
          <a:xfrm rot="0">
            <a:off x="10521439" y="3212388"/>
            <a:ext cx="6396102" cy="320567"/>
          </a:xfrm>
          <a:prstGeom prst="rect">
            <a:avLst/>
          </a:prstGeom>
        </p:spPr>
        <p:txBody>
          <a:bodyPr anchor="t" rtlCol="false" tIns="0" lIns="0" bIns="0" rIns="0">
            <a:spAutoFit/>
          </a:bodyPr>
          <a:lstStyle/>
          <a:p>
            <a:pPr algn="l">
              <a:lnSpc>
                <a:spcPts val="2622"/>
              </a:lnSpc>
            </a:pPr>
            <a:r>
              <a:rPr lang="en-US" sz="1872">
                <a:solidFill>
                  <a:srgbClr val="121212"/>
                </a:solidFill>
                <a:latin typeface="Inter"/>
                <a:ea typeface="Inter"/>
                <a:cs typeface="Inter"/>
                <a:sym typeface="Inter"/>
              </a:rPr>
              <a:t>Anuncios</a:t>
            </a:r>
          </a:p>
        </p:txBody>
      </p:sp>
      <p:sp>
        <p:nvSpPr>
          <p:cNvPr name="TextBox 16" id="16"/>
          <p:cNvSpPr txBox="true"/>
          <p:nvPr/>
        </p:nvSpPr>
        <p:spPr>
          <a:xfrm rot="0">
            <a:off x="10521439" y="4363733"/>
            <a:ext cx="6396102" cy="320567"/>
          </a:xfrm>
          <a:prstGeom prst="rect">
            <a:avLst/>
          </a:prstGeom>
        </p:spPr>
        <p:txBody>
          <a:bodyPr anchor="t" rtlCol="false" tIns="0" lIns="0" bIns="0" rIns="0">
            <a:spAutoFit/>
          </a:bodyPr>
          <a:lstStyle/>
          <a:p>
            <a:pPr algn="l">
              <a:lnSpc>
                <a:spcPts val="2622"/>
              </a:lnSpc>
            </a:pPr>
            <a:r>
              <a:rPr lang="en-US" sz="1872">
                <a:solidFill>
                  <a:srgbClr val="121212"/>
                </a:solidFill>
                <a:latin typeface="Inter"/>
                <a:ea typeface="Inter"/>
                <a:cs typeface="Inter"/>
                <a:sym typeface="Inter"/>
              </a:rPr>
              <a:t>Contenido Laboratorio</a:t>
            </a:r>
          </a:p>
        </p:txBody>
      </p:sp>
      <p:sp>
        <p:nvSpPr>
          <p:cNvPr name="TextBox 17" id="17"/>
          <p:cNvSpPr txBox="true"/>
          <p:nvPr/>
        </p:nvSpPr>
        <p:spPr>
          <a:xfrm rot="0">
            <a:off x="10521439" y="5524602"/>
            <a:ext cx="6396102" cy="320567"/>
          </a:xfrm>
          <a:prstGeom prst="rect">
            <a:avLst/>
          </a:prstGeom>
        </p:spPr>
        <p:txBody>
          <a:bodyPr anchor="t" rtlCol="false" tIns="0" lIns="0" bIns="0" rIns="0">
            <a:spAutoFit/>
          </a:bodyPr>
          <a:lstStyle/>
          <a:p>
            <a:pPr algn="l">
              <a:lnSpc>
                <a:spcPts val="2622"/>
              </a:lnSpc>
            </a:pPr>
            <a:r>
              <a:rPr lang="en-US" sz="1872">
                <a:solidFill>
                  <a:srgbClr val="121212"/>
                </a:solidFill>
                <a:latin typeface="Inter"/>
                <a:ea typeface="Inter"/>
                <a:cs typeface="Inter"/>
                <a:sym typeface="Inter"/>
              </a:rPr>
              <a:t>Ejemplo repaso</a:t>
            </a:r>
          </a:p>
        </p:txBody>
      </p:sp>
      <p:sp>
        <p:nvSpPr>
          <p:cNvPr name="TextBox 18" id="18"/>
          <p:cNvSpPr txBox="true"/>
          <p:nvPr/>
        </p:nvSpPr>
        <p:spPr>
          <a:xfrm rot="0">
            <a:off x="10521439" y="6634135"/>
            <a:ext cx="6396102" cy="320567"/>
          </a:xfrm>
          <a:prstGeom prst="rect">
            <a:avLst/>
          </a:prstGeom>
        </p:spPr>
        <p:txBody>
          <a:bodyPr anchor="t" rtlCol="false" tIns="0" lIns="0" bIns="0" rIns="0">
            <a:spAutoFit/>
          </a:bodyPr>
          <a:lstStyle/>
          <a:p>
            <a:pPr algn="l">
              <a:lnSpc>
                <a:spcPts val="2622"/>
              </a:lnSpc>
            </a:pPr>
            <a:r>
              <a:rPr lang="en-US" sz="1872">
                <a:solidFill>
                  <a:srgbClr val="121212"/>
                </a:solidFill>
                <a:latin typeface="Inter"/>
                <a:ea typeface="Inter"/>
                <a:cs typeface="Inter"/>
                <a:sym typeface="Inter"/>
              </a:rPr>
              <a:t>Dudas del tema</a:t>
            </a:r>
          </a:p>
        </p:txBody>
      </p:sp>
      <p:sp>
        <p:nvSpPr>
          <p:cNvPr name="TextBox 19" id="19"/>
          <p:cNvSpPr txBox="true"/>
          <p:nvPr/>
        </p:nvSpPr>
        <p:spPr>
          <a:xfrm rot="0">
            <a:off x="1028700" y="3363444"/>
            <a:ext cx="7329615" cy="3427704"/>
          </a:xfrm>
          <a:prstGeom prst="rect">
            <a:avLst/>
          </a:prstGeom>
        </p:spPr>
        <p:txBody>
          <a:bodyPr anchor="t" rtlCol="false" tIns="0" lIns="0" bIns="0" rIns="0">
            <a:spAutoFit/>
          </a:bodyPr>
          <a:lstStyle/>
          <a:p>
            <a:pPr algn="ctr">
              <a:lnSpc>
                <a:spcPts val="26044"/>
              </a:lnSpc>
            </a:pPr>
            <a:r>
              <a:rPr lang="en-US" b="true" sz="24569">
                <a:solidFill>
                  <a:srgbClr val="121212"/>
                </a:solidFill>
                <a:latin typeface="Fontuna Bold"/>
                <a:ea typeface="Fontuna Bold"/>
                <a:cs typeface="Fontuna Bold"/>
                <a:sym typeface="Fontuna Bold"/>
              </a:rPr>
              <a:t>AGENDA</a:t>
            </a:r>
          </a:p>
        </p:txBody>
      </p:sp>
      <p:sp>
        <p:nvSpPr>
          <p:cNvPr name="TextBox 20" id="20"/>
          <p:cNvSpPr txBox="true"/>
          <p:nvPr/>
        </p:nvSpPr>
        <p:spPr>
          <a:xfrm rot="0">
            <a:off x="-1752931" y="8665585"/>
            <a:ext cx="7329615" cy="1309282"/>
          </a:xfrm>
          <a:prstGeom prst="rect">
            <a:avLst/>
          </a:prstGeom>
        </p:spPr>
        <p:txBody>
          <a:bodyPr anchor="t" rtlCol="false" tIns="0" lIns="0" bIns="0" rIns="0">
            <a:spAutoFit/>
          </a:bodyPr>
          <a:lstStyle/>
          <a:p>
            <a:pPr algn="ctr">
              <a:lnSpc>
                <a:spcPts val="9913"/>
              </a:lnSpc>
            </a:pPr>
            <a:r>
              <a:rPr lang="en-US" sz="9352">
                <a:solidFill>
                  <a:srgbClr val="121212"/>
                </a:solidFill>
                <a:latin typeface="Signature"/>
                <a:ea typeface="Signature"/>
                <a:cs typeface="Signature"/>
                <a:sym typeface="Signature"/>
              </a:rPr>
              <a:t>Recursos</a:t>
            </a:r>
          </a:p>
        </p:txBody>
      </p:sp>
      <p:sp>
        <p:nvSpPr>
          <p:cNvPr name="TextBox 21" id="21"/>
          <p:cNvSpPr txBox="true"/>
          <p:nvPr/>
        </p:nvSpPr>
        <p:spPr>
          <a:xfrm rot="0">
            <a:off x="3110039" y="6955332"/>
            <a:ext cx="3166936" cy="1326995"/>
          </a:xfrm>
          <a:prstGeom prst="rect">
            <a:avLst/>
          </a:prstGeom>
        </p:spPr>
        <p:txBody>
          <a:bodyPr anchor="t" rtlCol="false" tIns="0" lIns="0" bIns="0" rIns="0">
            <a:spAutoFit/>
          </a:bodyPr>
          <a:lstStyle/>
          <a:p>
            <a:pPr algn="ctr">
              <a:lnSpc>
                <a:spcPts val="3569"/>
              </a:lnSpc>
              <a:spcBef>
                <a:spcPct val="0"/>
              </a:spcBef>
            </a:pPr>
            <a:r>
              <a:rPr lang="en-US" b="true" sz="2124">
                <a:solidFill>
                  <a:srgbClr val="000000"/>
                </a:solidFill>
                <a:latin typeface="Inter Bold"/>
                <a:ea typeface="Inter Bold"/>
                <a:cs typeface="Inter Bold"/>
                <a:sym typeface="Inter Bold"/>
              </a:rPr>
              <a:t>Ver en el apartado material de apoyo en Uedi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12385" y="1806413"/>
            <a:ext cx="5253144" cy="6674173"/>
            <a:chOff x="0" y="0"/>
            <a:chExt cx="7004192" cy="8898898"/>
          </a:xfrm>
        </p:grpSpPr>
        <p:grpSp>
          <p:nvGrpSpPr>
            <p:cNvPr name="Group 3" id="3"/>
            <p:cNvGrpSpPr/>
            <p:nvPr/>
          </p:nvGrpSpPr>
          <p:grpSpPr>
            <a:xfrm rot="5400000">
              <a:off x="0" y="3191192"/>
              <a:ext cx="5707706" cy="570770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1212"/>
              </a:solidFill>
            </p:spPr>
          </p:sp>
          <p:sp>
            <p:nvSpPr>
              <p:cNvPr name="TextBox 5" id="5"/>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5400000">
              <a:off x="1296486" y="0"/>
              <a:ext cx="5707706" cy="570770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21212"/>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sp>
        <p:nvSpPr>
          <p:cNvPr name="AutoShape 9" id="9"/>
          <p:cNvSpPr/>
          <p:nvPr/>
        </p:nvSpPr>
        <p:spPr>
          <a:xfrm flipV="true">
            <a:off x="715273" y="-256895"/>
            <a:ext cx="0" cy="12148372"/>
          </a:xfrm>
          <a:prstGeom prst="line">
            <a:avLst/>
          </a:prstGeom>
          <a:ln cap="flat" w="19050">
            <a:solidFill>
              <a:srgbClr val="121212"/>
            </a:solidFill>
            <a:prstDash val="solid"/>
            <a:headEnd type="none" len="sm" w="sm"/>
            <a:tailEnd type="none" len="sm" w="sm"/>
          </a:ln>
        </p:spPr>
      </p:sp>
      <p:sp>
        <p:nvSpPr>
          <p:cNvPr name="AutoShape 10" id="10"/>
          <p:cNvSpPr/>
          <p:nvPr/>
        </p:nvSpPr>
        <p:spPr>
          <a:xfrm flipV="true">
            <a:off x="17622538" y="-1024525"/>
            <a:ext cx="0" cy="12148372"/>
          </a:xfrm>
          <a:prstGeom prst="line">
            <a:avLst/>
          </a:prstGeom>
          <a:ln cap="flat" w="19050">
            <a:solidFill>
              <a:srgbClr val="121212"/>
            </a:solidFill>
            <a:prstDash val="solid"/>
            <a:headEnd type="none" len="sm" w="sm"/>
            <a:tailEnd type="none" len="sm" w="sm"/>
          </a:ln>
        </p:spPr>
      </p:sp>
      <p:sp>
        <p:nvSpPr>
          <p:cNvPr name="AutoShape 11" id="11"/>
          <p:cNvSpPr/>
          <p:nvPr/>
        </p:nvSpPr>
        <p:spPr>
          <a:xfrm flipH="true">
            <a:off x="-921821" y="9390728"/>
            <a:ext cx="20077204" cy="0"/>
          </a:xfrm>
          <a:prstGeom prst="line">
            <a:avLst/>
          </a:prstGeom>
          <a:ln cap="flat" w="19050">
            <a:solidFill>
              <a:srgbClr val="121212"/>
            </a:solidFill>
            <a:prstDash val="solid"/>
            <a:headEnd type="none" len="sm" w="sm"/>
            <a:tailEnd type="none" len="sm" w="sm"/>
          </a:ln>
        </p:spPr>
      </p:sp>
      <p:sp>
        <p:nvSpPr>
          <p:cNvPr name="AutoShape 12" id="12"/>
          <p:cNvSpPr/>
          <p:nvPr/>
        </p:nvSpPr>
        <p:spPr>
          <a:xfrm flipH="true">
            <a:off x="-867383" y="805684"/>
            <a:ext cx="20077204" cy="0"/>
          </a:xfrm>
          <a:prstGeom prst="line">
            <a:avLst/>
          </a:prstGeom>
          <a:ln cap="flat" w="19050">
            <a:solidFill>
              <a:srgbClr val="121212"/>
            </a:solidFill>
            <a:prstDash val="solid"/>
            <a:headEnd type="none" len="sm" w="sm"/>
            <a:tailEnd type="none" len="sm" w="sm"/>
          </a:ln>
        </p:spPr>
      </p:sp>
      <p:sp>
        <p:nvSpPr>
          <p:cNvPr name="Freeform 13" id="13"/>
          <p:cNvSpPr/>
          <p:nvPr/>
        </p:nvSpPr>
        <p:spPr>
          <a:xfrm flipH="false" flipV="false" rot="0">
            <a:off x="405132" y="9100448"/>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7312396" y="9080586"/>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7312396" y="505473"/>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0">
            <a:off x="424993" y="505473"/>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0813818" y="3520997"/>
            <a:ext cx="5450278" cy="4786335"/>
          </a:xfrm>
          <a:custGeom>
            <a:avLst/>
            <a:gdLst/>
            <a:ahLst/>
            <a:cxnLst/>
            <a:rect r="r" b="b" t="t" l="l"/>
            <a:pathLst>
              <a:path h="4786335" w="5450278">
                <a:moveTo>
                  <a:pt x="0" y="0"/>
                </a:moveTo>
                <a:lnTo>
                  <a:pt x="5450278" y="0"/>
                </a:lnTo>
                <a:lnTo>
                  <a:pt x="5450278" y="4786335"/>
                </a:lnTo>
                <a:lnTo>
                  <a:pt x="0" y="47863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8" id="18"/>
          <p:cNvSpPr txBox="true"/>
          <p:nvPr/>
        </p:nvSpPr>
        <p:spPr>
          <a:xfrm rot="0">
            <a:off x="-485004" y="1182095"/>
            <a:ext cx="13166377" cy="2838447"/>
          </a:xfrm>
          <a:prstGeom prst="rect">
            <a:avLst/>
          </a:prstGeom>
        </p:spPr>
        <p:txBody>
          <a:bodyPr anchor="t" rtlCol="false" tIns="0" lIns="0" bIns="0" rIns="0">
            <a:spAutoFit/>
          </a:bodyPr>
          <a:lstStyle/>
          <a:p>
            <a:pPr algn="ctr">
              <a:lnSpc>
                <a:spcPts val="11099"/>
              </a:lnSpc>
            </a:pPr>
            <a:r>
              <a:rPr lang="en-US" b="true" sz="9999" spc="659">
                <a:solidFill>
                  <a:srgbClr val="121212"/>
                </a:solidFill>
                <a:latin typeface="Fontuna Bold"/>
                <a:ea typeface="Fontuna Bold"/>
                <a:cs typeface="Fontuna Bold"/>
                <a:sym typeface="Fontuna Bold"/>
              </a:rPr>
              <a:t>COMPETENCIA(S) QUE DESARROLLAREMOS</a:t>
            </a:r>
          </a:p>
        </p:txBody>
      </p:sp>
      <p:sp>
        <p:nvSpPr>
          <p:cNvPr name="TextBox 19" id="19"/>
          <p:cNvSpPr txBox="true"/>
          <p:nvPr/>
        </p:nvSpPr>
        <p:spPr>
          <a:xfrm rot="0">
            <a:off x="1134489" y="4258667"/>
            <a:ext cx="9368205" cy="3253845"/>
          </a:xfrm>
          <a:prstGeom prst="rect">
            <a:avLst/>
          </a:prstGeom>
        </p:spPr>
        <p:txBody>
          <a:bodyPr anchor="t" rtlCol="false" tIns="0" lIns="0" bIns="0" rIns="0">
            <a:spAutoFit/>
          </a:bodyPr>
          <a:lstStyle/>
          <a:p>
            <a:pPr algn="just" marL="576592" indent="-288296" lvl="1">
              <a:lnSpc>
                <a:spcPts val="3738"/>
              </a:lnSpc>
              <a:buAutoNum type="arabicPeriod" startAt="1"/>
            </a:pPr>
            <a:r>
              <a:rPr lang="en-US" sz="2670">
                <a:solidFill>
                  <a:srgbClr val="121212"/>
                </a:solidFill>
                <a:latin typeface="Inter"/>
                <a:ea typeface="Inter"/>
                <a:cs typeface="Inter"/>
                <a:sym typeface="Inter"/>
              </a:rPr>
              <a:t>Implementa Estructuras de Control procedimientos en VB.NET mediante variables condicionales ciclos para desarrollar soluciones informaticas que automaticen procesos de gestión de datos.</a:t>
            </a:r>
          </a:p>
          <a:p>
            <a:pPr algn="just" marL="576592" indent="-288296" lvl="1">
              <a:lnSpc>
                <a:spcPts val="3738"/>
              </a:lnSpc>
              <a:buAutoNum type="arabicPeriod" startAt="1"/>
            </a:pPr>
            <a:r>
              <a:rPr lang="en-US" sz="2670">
                <a:solidFill>
                  <a:srgbClr val="121212"/>
                </a:solidFill>
                <a:latin typeface="Inter"/>
                <a:ea typeface="Inter"/>
                <a:cs typeface="Inter"/>
                <a:sym typeface="Inter"/>
              </a:rPr>
              <a:t>Desarolla Interfaces gráficas funcionales haciendo uso de controles básicos, como textbox, label, combobox capturar mostrar los datos de forma eficiente.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7229" y="1596354"/>
            <a:ext cx="19062458" cy="1946466"/>
          </a:xfrm>
          <a:prstGeom prst="rect">
            <a:avLst/>
          </a:prstGeom>
        </p:spPr>
        <p:txBody>
          <a:bodyPr anchor="t" rtlCol="false" tIns="0" lIns="0" bIns="0" rIns="0">
            <a:spAutoFit/>
          </a:bodyPr>
          <a:lstStyle/>
          <a:p>
            <a:pPr algn="ctr">
              <a:lnSpc>
                <a:spcPts val="15056"/>
              </a:lnSpc>
            </a:pPr>
            <a:r>
              <a:rPr lang="en-US" b="true" sz="13564">
                <a:solidFill>
                  <a:srgbClr val="121212"/>
                </a:solidFill>
                <a:latin typeface="Fontuna Bold"/>
                <a:ea typeface="Fontuna Bold"/>
                <a:cs typeface="Fontuna Bold"/>
                <a:sym typeface="Fontuna Bold"/>
              </a:rPr>
              <a:t>REPASO FUNCIONES Y PROCEDIMIENTOS</a:t>
            </a:r>
          </a:p>
        </p:txBody>
      </p:sp>
      <p:sp>
        <p:nvSpPr>
          <p:cNvPr name="AutoShape 3" id="3"/>
          <p:cNvSpPr/>
          <p:nvPr/>
        </p:nvSpPr>
        <p:spPr>
          <a:xfrm flipV="true">
            <a:off x="715273" y="-256895"/>
            <a:ext cx="0" cy="12148372"/>
          </a:xfrm>
          <a:prstGeom prst="line">
            <a:avLst/>
          </a:prstGeom>
          <a:ln cap="flat" w="19050">
            <a:solidFill>
              <a:srgbClr val="121212"/>
            </a:solidFill>
            <a:prstDash val="solid"/>
            <a:headEnd type="none" len="sm" w="sm"/>
            <a:tailEnd type="none" len="sm" w="sm"/>
          </a:ln>
        </p:spPr>
      </p:sp>
      <p:sp>
        <p:nvSpPr>
          <p:cNvPr name="AutoShape 4" id="4"/>
          <p:cNvSpPr/>
          <p:nvPr/>
        </p:nvSpPr>
        <p:spPr>
          <a:xfrm flipV="true">
            <a:off x="17622538" y="-1024525"/>
            <a:ext cx="0" cy="12148372"/>
          </a:xfrm>
          <a:prstGeom prst="line">
            <a:avLst/>
          </a:prstGeom>
          <a:ln cap="flat" w="19050">
            <a:solidFill>
              <a:srgbClr val="121212"/>
            </a:solidFill>
            <a:prstDash val="solid"/>
            <a:headEnd type="none" len="sm" w="sm"/>
            <a:tailEnd type="none" len="sm" w="sm"/>
          </a:ln>
        </p:spPr>
      </p:sp>
      <p:sp>
        <p:nvSpPr>
          <p:cNvPr name="AutoShape 5" id="5"/>
          <p:cNvSpPr/>
          <p:nvPr/>
        </p:nvSpPr>
        <p:spPr>
          <a:xfrm flipH="true">
            <a:off x="-921821" y="9390728"/>
            <a:ext cx="20077204" cy="0"/>
          </a:xfrm>
          <a:prstGeom prst="line">
            <a:avLst/>
          </a:prstGeom>
          <a:ln cap="flat" w="19050">
            <a:solidFill>
              <a:srgbClr val="121212"/>
            </a:solidFill>
            <a:prstDash val="solid"/>
            <a:headEnd type="none" len="sm" w="sm"/>
            <a:tailEnd type="none" len="sm" w="sm"/>
          </a:ln>
        </p:spPr>
      </p:sp>
      <p:sp>
        <p:nvSpPr>
          <p:cNvPr name="AutoShape 6" id="6"/>
          <p:cNvSpPr/>
          <p:nvPr/>
        </p:nvSpPr>
        <p:spPr>
          <a:xfrm flipH="true">
            <a:off x="-867383" y="805684"/>
            <a:ext cx="20077204" cy="0"/>
          </a:xfrm>
          <a:prstGeom prst="line">
            <a:avLst/>
          </a:prstGeom>
          <a:ln cap="flat" w="19050">
            <a:solidFill>
              <a:srgbClr val="121212"/>
            </a:solidFill>
            <a:prstDash val="solid"/>
            <a:headEnd type="none" len="sm" w="sm"/>
            <a:tailEnd type="none" len="sm" w="sm"/>
          </a:ln>
        </p:spPr>
      </p:sp>
      <p:sp>
        <p:nvSpPr>
          <p:cNvPr name="Freeform 7" id="7"/>
          <p:cNvSpPr/>
          <p:nvPr/>
        </p:nvSpPr>
        <p:spPr>
          <a:xfrm flipH="false" flipV="false" rot="0">
            <a:off x="405132" y="9100448"/>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312396" y="9080586"/>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12396" y="505473"/>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424993" y="505473"/>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103353" y="3542820"/>
            <a:ext cx="14081294" cy="4629225"/>
          </a:xfrm>
          <a:custGeom>
            <a:avLst/>
            <a:gdLst/>
            <a:ahLst/>
            <a:cxnLst/>
            <a:rect r="r" b="b" t="t" l="l"/>
            <a:pathLst>
              <a:path h="4629225" w="14081294">
                <a:moveTo>
                  <a:pt x="0" y="0"/>
                </a:moveTo>
                <a:lnTo>
                  <a:pt x="14081294" y="0"/>
                </a:lnTo>
                <a:lnTo>
                  <a:pt x="14081294" y="4629225"/>
                </a:lnTo>
                <a:lnTo>
                  <a:pt x="0" y="4629225"/>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7229" y="806702"/>
            <a:ext cx="19062458" cy="1946466"/>
          </a:xfrm>
          <a:prstGeom prst="rect">
            <a:avLst/>
          </a:prstGeom>
        </p:spPr>
        <p:txBody>
          <a:bodyPr anchor="t" rtlCol="false" tIns="0" lIns="0" bIns="0" rIns="0">
            <a:spAutoFit/>
          </a:bodyPr>
          <a:lstStyle/>
          <a:p>
            <a:pPr algn="ctr">
              <a:lnSpc>
                <a:spcPts val="15056"/>
              </a:lnSpc>
            </a:pPr>
            <a:r>
              <a:rPr lang="en-US" b="true" sz="13564">
                <a:solidFill>
                  <a:srgbClr val="121212"/>
                </a:solidFill>
                <a:latin typeface="Fontuna Bold"/>
                <a:ea typeface="Fontuna Bold"/>
                <a:cs typeface="Fontuna Bold"/>
                <a:sym typeface="Fontuna Bold"/>
              </a:rPr>
              <a:t>CONTROLES BASICOS</a:t>
            </a:r>
          </a:p>
        </p:txBody>
      </p:sp>
      <p:sp>
        <p:nvSpPr>
          <p:cNvPr name="AutoShape 3" id="3"/>
          <p:cNvSpPr/>
          <p:nvPr/>
        </p:nvSpPr>
        <p:spPr>
          <a:xfrm flipV="true">
            <a:off x="715273" y="-256895"/>
            <a:ext cx="0" cy="12148372"/>
          </a:xfrm>
          <a:prstGeom prst="line">
            <a:avLst/>
          </a:prstGeom>
          <a:ln cap="flat" w="19050">
            <a:solidFill>
              <a:srgbClr val="121212"/>
            </a:solidFill>
            <a:prstDash val="solid"/>
            <a:headEnd type="none" len="sm" w="sm"/>
            <a:tailEnd type="none" len="sm" w="sm"/>
          </a:ln>
        </p:spPr>
      </p:sp>
      <p:sp>
        <p:nvSpPr>
          <p:cNvPr name="AutoShape 4" id="4"/>
          <p:cNvSpPr/>
          <p:nvPr/>
        </p:nvSpPr>
        <p:spPr>
          <a:xfrm flipV="true">
            <a:off x="17622538" y="-1024525"/>
            <a:ext cx="0" cy="12148372"/>
          </a:xfrm>
          <a:prstGeom prst="line">
            <a:avLst/>
          </a:prstGeom>
          <a:ln cap="flat" w="19050">
            <a:solidFill>
              <a:srgbClr val="121212"/>
            </a:solidFill>
            <a:prstDash val="solid"/>
            <a:headEnd type="none" len="sm" w="sm"/>
            <a:tailEnd type="none" len="sm" w="sm"/>
          </a:ln>
        </p:spPr>
      </p:sp>
      <p:sp>
        <p:nvSpPr>
          <p:cNvPr name="AutoShape 5" id="5"/>
          <p:cNvSpPr/>
          <p:nvPr/>
        </p:nvSpPr>
        <p:spPr>
          <a:xfrm flipH="true">
            <a:off x="-921821" y="9390728"/>
            <a:ext cx="20077204" cy="0"/>
          </a:xfrm>
          <a:prstGeom prst="line">
            <a:avLst/>
          </a:prstGeom>
          <a:ln cap="flat" w="19050">
            <a:solidFill>
              <a:srgbClr val="121212"/>
            </a:solidFill>
            <a:prstDash val="solid"/>
            <a:headEnd type="none" len="sm" w="sm"/>
            <a:tailEnd type="none" len="sm" w="sm"/>
          </a:ln>
        </p:spPr>
      </p:sp>
      <p:sp>
        <p:nvSpPr>
          <p:cNvPr name="AutoShape 6" id="6"/>
          <p:cNvSpPr/>
          <p:nvPr/>
        </p:nvSpPr>
        <p:spPr>
          <a:xfrm flipH="true">
            <a:off x="-867383" y="805684"/>
            <a:ext cx="20077204" cy="0"/>
          </a:xfrm>
          <a:prstGeom prst="line">
            <a:avLst/>
          </a:prstGeom>
          <a:ln cap="flat" w="19050">
            <a:solidFill>
              <a:srgbClr val="121212"/>
            </a:solidFill>
            <a:prstDash val="solid"/>
            <a:headEnd type="none" len="sm" w="sm"/>
            <a:tailEnd type="none" len="sm" w="sm"/>
          </a:ln>
        </p:spPr>
      </p:sp>
      <p:sp>
        <p:nvSpPr>
          <p:cNvPr name="Freeform 7" id="7"/>
          <p:cNvSpPr/>
          <p:nvPr/>
        </p:nvSpPr>
        <p:spPr>
          <a:xfrm flipH="false" flipV="false" rot="0">
            <a:off x="405132" y="9100448"/>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7312396" y="9080586"/>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12396" y="505473"/>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424993" y="505473"/>
            <a:ext cx="600422" cy="600422"/>
          </a:xfrm>
          <a:custGeom>
            <a:avLst/>
            <a:gdLst/>
            <a:ahLst/>
            <a:cxnLst/>
            <a:rect r="r" b="b" t="t" l="l"/>
            <a:pathLst>
              <a:path h="600422" w="600422">
                <a:moveTo>
                  <a:pt x="0" y="0"/>
                </a:moveTo>
                <a:lnTo>
                  <a:pt x="600422" y="0"/>
                </a:lnTo>
                <a:lnTo>
                  <a:pt x="600422" y="600422"/>
                </a:lnTo>
                <a:lnTo>
                  <a:pt x="0" y="6004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99875" y="3019867"/>
            <a:ext cx="6092302" cy="6092302"/>
          </a:xfrm>
          <a:custGeom>
            <a:avLst/>
            <a:gdLst/>
            <a:ahLst/>
            <a:cxnLst/>
            <a:rect r="r" b="b" t="t" l="l"/>
            <a:pathLst>
              <a:path h="6092302" w="6092302">
                <a:moveTo>
                  <a:pt x="0" y="0"/>
                </a:moveTo>
                <a:lnTo>
                  <a:pt x="6092302" y="0"/>
                </a:lnTo>
                <a:lnTo>
                  <a:pt x="6092302" y="6092302"/>
                </a:lnTo>
                <a:lnTo>
                  <a:pt x="0" y="60923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0998245" y="3019867"/>
            <a:ext cx="6092302" cy="6092302"/>
          </a:xfrm>
          <a:custGeom>
            <a:avLst/>
            <a:gdLst/>
            <a:ahLst/>
            <a:cxnLst/>
            <a:rect r="r" b="b" t="t" l="l"/>
            <a:pathLst>
              <a:path h="6092302" w="6092302">
                <a:moveTo>
                  <a:pt x="0" y="0"/>
                </a:moveTo>
                <a:lnTo>
                  <a:pt x="6092302" y="0"/>
                </a:lnTo>
                <a:lnTo>
                  <a:pt x="6092302" y="6092302"/>
                </a:lnTo>
                <a:lnTo>
                  <a:pt x="0" y="60923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765641" y="4786938"/>
            <a:ext cx="4960770" cy="2489149"/>
          </a:xfrm>
          <a:prstGeom prst="rect">
            <a:avLst/>
          </a:prstGeom>
        </p:spPr>
        <p:txBody>
          <a:bodyPr anchor="t" rtlCol="false" tIns="0" lIns="0" bIns="0" rIns="0">
            <a:spAutoFit/>
          </a:bodyPr>
          <a:lstStyle/>
          <a:p>
            <a:pPr algn="ctr">
              <a:lnSpc>
                <a:spcPts val="3326"/>
              </a:lnSpc>
              <a:spcBef>
                <a:spcPct val="0"/>
              </a:spcBef>
            </a:pPr>
            <a:r>
              <a:rPr lang="en-US" b="true" sz="1979">
                <a:solidFill>
                  <a:srgbClr val="FFFFFF"/>
                </a:solidFill>
                <a:latin typeface="Inter Bold"/>
                <a:ea typeface="Inter Bold"/>
                <a:cs typeface="Inter Bold"/>
                <a:sym typeface="Inter Bold"/>
              </a:rPr>
              <a:t>Cuando un procedimiento no se califica explicitamente con las palabras reservadas “PUBLIC” o “PRIVATE” es, por omisión, publico en todos los modulos.</a:t>
            </a:r>
          </a:p>
          <a:p>
            <a:pPr algn="ctr">
              <a:lnSpc>
                <a:spcPts val="3326"/>
              </a:lnSpc>
              <a:spcBef>
                <a:spcPct val="0"/>
              </a:spcBef>
            </a:pPr>
          </a:p>
        </p:txBody>
      </p:sp>
      <p:sp>
        <p:nvSpPr>
          <p:cNvPr name="TextBox 14" id="14"/>
          <p:cNvSpPr txBox="true"/>
          <p:nvPr/>
        </p:nvSpPr>
        <p:spPr>
          <a:xfrm rot="0">
            <a:off x="12192146" y="3541210"/>
            <a:ext cx="3738164" cy="4980606"/>
          </a:xfrm>
          <a:prstGeom prst="rect">
            <a:avLst/>
          </a:prstGeom>
        </p:spPr>
        <p:txBody>
          <a:bodyPr anchor="t" rtlCol="false" tIns="0" lIns="0" bIns="0" rIns="0">
            <a:spAutoFit/>
          </a:bodyPr>
          <a:lstStyle/>
          <a:p>
            <a:pPr algn="ctr">
              <a:lnSpc>
                <a:spcPts val="3324"/>
              </a:lnSpc>
              <a:spcBef>
                <a:spcPct val="0"/>
              </a:spcBef>
            </a:pPr>
            <a:r>
              <a:rPr lang="en-US" b="true" sz="1978">
                <a:solidFill>
                  <a:srgbClr val="FFFFFF"/>
                </a:solidFill>
                <a:latin typeface="Inter Bold"/>
                <a:ea typeface="Inter Bold"/>
                <a:cs typeface="Inter Bold"/>
                <a:sym typeface="Inter Bold"/>
              </a:rPr>
              <a:t>Logicamente el caracter publico de un procedimiento puede ser cambiado a privado, modificando asi su accesibilidad. Por ejemplo, el siguiente procedimiento escrito en cualquier modulo es publico:</a:t>
            </a:r>
          </a:p>
          <a:p>
            <a:pPr algn="ctr">
              <a:lnSpc>
                <a:spcPts val="3324"/>
              </a:lnSpc>
              <a:spcBef>
                <a:spcPct val="0"/>
              </a:spcBef>
            </a:pPr>
            <a:r>
              <a:rPr lang="en-US" b="true" sz="1978">
                <a:solidFill>
                  <a:srgbClr val="FFFFFF"/>
                </a:solidFill>
                <a:latin typeface="Inter Bold"/>
                <a:ea typeface="Inter Bold"/>
                <a:cs typeface="Inter Bold"/>
                <a:sym typeface="Inter Bold"/>
              </a:rPr>
              <a:t>Sub MiProc()</a:t>
            </a:r>
          </a:p>
          <a:p>
            <a:pPr algn="ctr">
              <a:lnSpc>
                <a:spcPts val="3324"/>
              </a:lnSpc>
              <a:spcBef>
                <a:spcPct val="0"/>
              </a:spcBef>
            </a:pPr>
            <a:r>
              <a:rPr lang="en-US" b="true" sz="1978">
                <a:solidFill>
                  <a:srgbClr val="FFFFFF"/>
                </a:solidFill>
                <a:latin typeface="Inter Bold"/>
                <a:ea typeface="Inter Bold"/>
                <a:cs typeface="Inter Bold"/>
                <a:sym typeface="Inter Bold"/>
              </a:rPr>
              <a:t>‘Declaraciones y sentencias</a:t>
            </a:r>
          </a:p>
          <a:p>
            <a:pPr algn="ctr">
              <a:lnSpc>
                <a:spcPts val="3324"/>
              </a:lnSpc>
              <a:spcBef>
                <a:spcPct val="0"/>
              </a:spcBef>
            </a:pPr>
            <a:r>
              <a:rPr lang="en-US" b="true" sz="1978">
                <a:solidFill>
                  <a:srgbClr val="FFFFFF"/>
                </a:solidFill>
                <a:latin typeface="Inter Bold"/>
                <a:ea typeface="Inter Bold"/>
                <a:cs typeface="Inter Bold"/>
                <a:sym typeface="Inter Bold"/>
              </a:rPr>
              <a:t>End Sub</a:t>
            </a:r>
          </a:p>
          <a:p>
            <a:pPr algn="ctr">
              <a:lnSpc>
                <a:spcPts val="3324"/>
              </a:lnSpc>
              <a:spcBef>
                <a:spcPct val="0"/>
              </a:spcBef>
            </a:pPr>
          </a:p>
        </p:txBody>
      </p:sp>
      <p:sp>
        <p:nvSpPr>
          <p:cNvPr name="Freeform 15" id="15"/>
          <p:cNvSpPr/>
          <p:nvPr/>
        </p:nvSpPr>
        <p:spPr>
          <a:xfrm flipH="false" flipV="false" rot="5400000">
            <a:off x="8097264" y="4363442"/>
            <a:ext cx="2563669" cy="2260690"/>
          </a:xfrm>
          <a:custGeom>
            <a:avLst/>
            <a:gdLst/>
            <a:ahLst/>
            <a:cxnLst/>
            <a:rect r="r" b="b" t="t" l="l"/>
            <a:pathLst>
              <a:path h="2260690" w="2563669">
                <a:moveTo>
                  <a:pt x="0" y="0"/>
                </a:moveTo>
                <a:lnTo>
                  <a:pt x="2563668" y="0"/>
                </a:lnTo>
                <a:lnTo>
                  <a:pt x="2563668" y="2260689"/>
                </a:lnTo>
                <a:lnTo>
                  <a:pt x="0" y="22606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p:cSld>
    <p:bg>
      <p:bgPr>
        <a:solidFill>
          <a:srgbClr val="121212"/>
        </a:solidFill>
      </p:bgPr>
    </p:bg>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FFFFFF"/>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FFFFFF"/>
            </a:solidFill>
            <a:prstDash val="solid"/>
            <a:headEnd type="none" len="sm" w="sm"/>
            <a:tailEnd type="none" len="sm" w="sm"/>
          </a:ln>
        </p:spPr>
      </p:sp>
      <p:sp>
        <p:nvSpPr>
          <p:cNvPr name="TextBox 4" id="4"/>
          <p:cNvSpPr txBox="true"/>
          <p:nvPr/>
        </p:nvSpPr>
        <p:spPr>
          <a:xfrm rot="0">
            <a:off x="682030" y="2420590"/>
            <a:ext cx="8137225" cy="5573476"/>
          </a:xfrm>
          <a:prstGeom prst="rect">
            <a:avLst/>
          </a:prstGeom>
        </p:spPr>
        <p:txBody>
          <a:bodyPr anchor="t" rtlCol="false" tIns="0" lIns="0" bIns="0" rIns="0">
            <a:spAutoFit/>
          </a:bodyPr>
          <a:lstStyle/>
          <a:p>
            <a:pPr algn="ctr">
              <a:lnSpc>
                <a:spcPts val="21596"/>
              </a:lnSpc>
            </a:pPr>
            <a:r>
              <a:rPr lang="en-US" b="true" sz="20373">
                <a:solidFill>
                  <a:srgbClr val="FFFFFF"/>
                </a:solidFill>
                <a:latin typeface="Fontuna Bold"/>
                <a:ea typeface="Fontuna Bold"/>
                <a:cs typeface="Fontuna Bold"/>
                <a:sym typeface="Fontuna Bold"/>
              </a:rPr>
              <a:t>CONTROLES BASICOS</a:t>
            </a:r>
          </a:p>
        </p:txBody>
      </p:sp>
      <p:sp>
        <p:nvSpPr>
          <p:cNvPr name="TextBox 5" id="5"/>
          <p:cNvSpPr txBox="true"/>
          <p:nvPr/>
        </p:nvSpPr>
        <p:spPr>
          <a:xfrm rot="0">
            <a:off x="9998261" y="2030065"/>
            <a:ext cx="6785670" cy="3612099"/>
          </a:xfrm>
          <a:prstGeom prst="rect">
            <a:avLst/>
          </a:prstGeom>
        </p:spPr>
        <p:txBody>
          <a:bodyPr anchor="t" rtlCol="false" tIns="0" lIns="0" bIns="0" rIns="0">
            <a:spAutoFit/>
          </a:bodyPr>
          <a:lstStyle/>
          <a:p>
            <a:pPr algn="just">
              <a:lnSpc>
                <a:spcPts val="4116"/>
              </a:lnSpc>
              <a:spcBef>
                <a:spcPct val="0"/>
              </a:spcBef>
            </a:pPr>
            <a:r>
              <a:rPr lang="en-US" sz="2450">
                <a:solidFill>
                  <a:srgbClr val="FFFFFF"/>
                </a:solidFill>
                <a:latin typeface="Inter"/>
                <a:ea typeface="Inter"/>
                <a:cs typeface="Inter"/>
                <a:sym typeface="Inter"/>
              </a:rPr>
              <a:t>Consecuentemente, un procedimiento publico (Public) puede invocarse desde cualquier parte de la aplicacion, pero un procedimiento  privado (Private) solo pude ser llamado desde otros procedimientos que esten en el mismo módulo.</a:t>
            </a:r>
          </a:p>
          <a:p>
            <a:pPr algn="just">
              <a:lnSpc>
                <a:spcPts val="4116"/>
              </a:lnSpc>
              <a:spcBef>
                <a:spcPct val="0"/>
              </a:spcBef>
            </a:pPr>
          </a:p>
        </p:txBody>
      </p:sp>
      <p:sp>
        <p:nvSpPr>
          <p:cNvPr name="TextBox 6" id="6"/>
          <p:cNvSpPr txBox="true"/>
          <p:nvPr/>
        </p:nvSpPr>
        <p:spPr>
          <a:xfrm rot="0">
            <a:off x="9998261" y="5207893"/>
            <a:ext cx="6785670" cy="3574923"/>
          </a:xfrm>
          <a:prstGeom prst="rect">
            <a:avLst/>
          </a:prstGeom>
        </p:spPr>
        <p:txBody>
          <a:bodyPr anchor="t" rtlCol="false" tIns="0" lIns="0" bIns="0" rIns="0">
            <a:spAutoFit/>
          </a:bodyPr>
          <a:lstStyle/>
          <a:p>
            <a:pPr algn="just">
              <a:lnSpc>
                <a:spcPts val="4116"/>
              </a:lnSpc>
              <a:spcBef>
                <a:spcPct val="0"/>
              </a:spcBef>
            </a:pPr>
            <a:r>
              <a:rPr lang="en-US" sz="2450">
                <a:solidFill>
                  <a:srgbClr val="FFFFFF"/>
                </a:solidFill>
                <a:latin typeface="Inter"/>
                <a:ea typeface="Inter"/>
                <a:cs typeface="Inter"/>
                <a:sym typeface="Inter"/>
              </a:rPr>
              <a:t>Cuando un procedimiento es llamado para su ejecucion, Visual Basic busca ese procedimiento en el modulo donde nos encontremos. Si no lo encuentra, entonces continua la busqueda en el resto de los modulos de la aplicacion</a:t>
            </a:r>
          </a:p>
          <a:p>
            <a:pPr algn="just">
              <a:lnSpc>
                <a:spcPts val="411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121212"/>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121212"/>
            </a:solidFill>
            <a:prstDash val="solid"/>
            <a:headEnd type="none" len="sm" w="sm"/>
            <a:tailEnd type="none" len="sm" w="sm"/>
          </a:ln>
        </p:spPr>
      </p:sp>
      <p:sp>
        <p:nvSpPr>
          <p:cNvPr name="TextBox 4" id="4"/>
          <p:cNvSpPr txBox="true"/>
          <p:nvPr/>
        </p:nvSpPr>
        <p:spPr>
          <a:xfrm rot="0">
            <a:off x="-603107" y="857311"/>
            <a:ext cx="19494214" cy="2299398"/>
          </a:xfrm>
          <a:prstGeom prst="rect">
            <a:avLst/>
          </a:prstGeom>
        </p:spPr>
        <p:txBody>
          <a:bodyPr anchor="t" rtlCol="false" tIns="0" lIns="0" bIns="0" rIns="0">
            <a:spAutoFit/>
          </a:bodyPr>
          <a:lstStyle/>
          <a:p>
            <a:pPr algn="ctr">
              <a:lnSpc>
                <a:spcPts val="17405"/>
              </a:lnSpc>
            </a:pPr>
            <a:r>
              <a:rPr lang="en-US" b="true" sz="16420">
                <a:solidFill>
                  <a:srgbClr val="121212"/>
                </a:solidFill>
                <a:latin typeface="Fontuna Bold"/>
                <a:ea typeface="Fontuna Bold"/>
                <a:cs typeface="Fontuna Bold"/>
                <a:sym typeface="Fontuna Bold"/>
              </a:rPr>
              <a:t>VARIABLES, DEFINICIÓN Y ENTORNO</a:t>
            </a:r>
          </a:p>
        </p:txBody>
      </p:sp>
      <p:sp>
        <p:nvSpPr>
          <p:cNvPr name="TextBox 5" id="5"/>
          <p:cNvSpPr txBox="true"/>
          <p:nvPr/>
        </p:nvSpPr>
        <p:spPr>
          <a:xfrm rot="0">
            <a:off x="1152525" y="3533745"/>
            <a:ext cx="6854048" cy="5724586"/>
          </a:xfrm>
          <a:prstGeom prst="rect">
            <a:avLst/>
          </a:prstGeom>
        </p:spPr>
        <p:txBody>
          <a:bodyPr anchor="t" rtlCol="false" tIns="0" lIns="0" bIns="0" rIns="0">
            <a:spAutoFit/>
          </a:bodyPr>
          <a:lstStyle/>
          <a:p>
            <a:pPr algn="just">
              <a:lnSpc>
                <a:spcPts val="4198"/>
              </a:lnSpc>
              <a:spcBef>
                <a:spcPct val="0"/>
              </a:spcBef>
            </a:pPr>
            <a:r>
              <a:rPr lang="en-US" sz="2499">
                <a:solidFill>
                  <a:srgbClr val="000000"/>
                </a:solidFill>
                <a:latin typeface="Inter"/>
                <a:ea typeface="Inter"/>
                <a:cs typeface="Inter"/>
                <a:sym typeface="Inter"/>
              </a:rPr>
              <a:t>Los tipos de variables dependen del lenguaje de programación cada lenguaje tiene sus propios tipos de datos y forma de definir variables.</a:t>
            </a:r>
          </a:p>
          <a:p>
            <a:pPr algn="just">
              <a:lnSpc>
                <a:spcPts val="4198"/>
              </a:lnSpc>
              <a:spcBef>
                <a:spcPct val="0"/>
              </a:spcBef>
            </a:pPr>
          </a:p>
          <a:p>
            <a:pPr algn="just">
              <a:lnSpc>
                <a:spcPts val="4198"/>
              </a:lnSpc>
              <a:spcBef>
                <a:spcPct val="0"/>
              </a:spcBef>
            </a:pPr>
            <a:r>
              <a:rPr lang="en-US" sz="2499">
                <a:solidFill>
                  <a:srgbClr val="000000"/>
                </a:solidFill>
                <a:latin typeface="Inter"/>
                <a:ea typeface="Inter"/>
                <a:cs typeface="Inter"/>
                <a:sym typeface="Inter"/>
              </a:rPr>
              <a:t>El tipado puede ser estático, cuando los tipos de variables se establecen al momento que se declaren o dinámico cuando el tipo se determina y se asigna durante la ejecución del programa.</a:t>
            </a:r>
          </a:p>
          <a:p>
            <a:pPr algn="just">
              <a:lnSpc>
                <a:spcPts val="4198"/>
              </a:lnSpc>
              <a:spcBef>
                <a:spcPct val="0"/>
              </a:spcBef>
            </a:pPr>
          </a:p>
        </p:txBody>
      </p:sp>
      <p:sp>
        <p:nvSpPr>
          <p:cNvPr name="TextBox 6" id="6"/>
          <p:cNvSpPr txBox="true"/>
          <p:nvPr/>
        </p:nvSpPr>
        <p:spPr>
          <a:xfrm rot="0">
            <a:off x="9193560" y="3533745"/>
            <a:ext cx="8710612" cy="3629086"/>
          </a:xfrm>
          <a:prstGeom prst="rect">
            <a:avLst/>
          </a:prstGeom>
        </p:spPr>
        <p:txBody>
          <a:bodyPr anchor="t" rtlCol="false" tIns="0" lIns="0" bIns="0" rIns="0">
            <a:spAutoFit/>
          </a:bodyPr>
          <a:lstStyle/>
          <a:p>
            <a:pPr algn="just">
              <a:lnSpc>
                <a:spcPts val="4198"/>
              </a:lnSpc>
              <a:spcBef>
                <a:spcPct val="0"/>
              </a:spcBef>
            </a:pPr>
            <a:r>
              <a:rPr lang="en-US" sz="2499">
                <a:solidFill>
                  <a:srgbClr val="000000"/>
                </a:solidFill>
                <a:latin typeface="Inter"/>
                <a:ea typeface="Inter"/>
                <a:cs typeface="Inter"/>
                <a:sym typeface="Inter"/>
              </a:rPr>
              <a:t>Algunos tipos de variables más comunes son:</a:t>
            </a:r>
          </a:p>
          <a:p>
            <a:pPr algn="just" marL="539534" indent="-269767" lvl="1">
              <a:lnSpc>
                <a:spcPts val="4198"/>
              </a:lnSpc>
              <a:buFont typeface="Arial"/>
              <a:buChar char="•"/>
            </a:pPr>
            <a:r>
              <a:rPr lang="en-US" sz="2499">
                <a:solidFill>
                  <a:srgbClr val="000000"/>
                </a:solidFill>
                <a:latin typeface="Inter"/>
                <a:ea typeface="Inter"/>
                <a:cs typeface="Inter"/>
                <a:sym typeface="Inter"/>
              </a:rPr>
              <a:t>Variables numéricas (Números Enteros)</a:t>
            </a:r>
          </a:p>
          <a:p>
            <a:pPr algn="just" marL="539534" indent="-269767" lvl="1">
              <a:lnSpc>
                <a:spcPts val="4198"/>
              </a:lnSpc>
              <a:buFont typeface="Arial"/>
              <a:buChar char="•"/>
            </a:pPr>
            <a:r>
              <a:rPr lang="en-US" sz="2499">
                <a:solidFill>
                  <a:srgbClr val="000000"/>
                </a:solidFill>
                <a:latin typeface="Inter"/>
                <a:ea typeface="Inter"/>
                <a:cs typeface="Inter"/>
                <a:sym typeface="Inter"/>
              </a:rPr>
              <a:t>Variables de punto flotante (Números Decimales)</a:t>
            </a:r>
          </a:p>
          <a:p>
            <a:pPr algn="just" marL="539534" indent="-269767" lvl="1">
              <a:lnSpc>
                <a:spcPts val="4198"/>
              </a:lnSpc>
              <a:buFont typeface="Arial"/>
              <a:buChar char="•"/>
            </a:pPr>
            <a:r>
              <a:rPr lang="en-US" sz="2499">
                <a:solidFill>
                  <a:srgbClr val="000000"/>
                </a:solidFill>
                <a:latin typeface="Inter"/>
                <a:ea typeface="Inter"/>
                <a:cs typeface="Inter"/>
                <a:sym typeface="Inter"/>
              </a:rPr>
              <a:t>Variables de caracteres (Símbolos o Caracteres)</a:t>
            </a:r>
          </a:p>
          <a:p>
            <a:pPr algn="just" marL="539534" indent="-269767" lvl="1">
              <a:lnSpc>
                <a:spcPts val="4198"/>
              </a:lnSpc>
              <a:buFont typeface="Arial"/>
              <a:buChar char="•"/>
            </a:pPr>
            <a:r>
              <a:rPr lang="en-US" sz="2499">
                <a:solidFill>
                  <a:srgbClr val="000000"/>
                </a:solidFill>
                <a:latin typeface="Inter"/>
                <a:ea typeface="Inter"/>
                <a:cs typeface="Inter"/>
                <a:sym typeface="Inter"/>
              </a:rPr>
              <a:t>Variables de cadena de caracteres (Palabras y Textos)</a:t>
            </a:r>
          </a:p>
          <a:p>
            <a:pPr algn="just" marL="539534" indent="-269767" lvl="1">
              <a:lnSpc>
                <a:spcPts val="4198"/>
              </a:lnSpc>
              <a:buFont typeface="Arial"/>
              <a:buChar char="•"/>
            </a:pPr>
            <a:r>
              <a:rPr lang="en-US" sz="2499">
                <a:solidFill>
                  <a:srgbClr val="000000"/>
                </a:solidFill>
                <a:latin typeface="Inter"/>
                <a:ea typeface="Inter"/>
                <a:cs typeface="Inter"/>
                <a:sym typeface="Inter"/>
              </a:rPr>
              <a:t>Variables lógicas o booleanas (Verdadero o Falso)</a:t>
            </a:r>
          </a:p>
          <a:p>
            <a:pPr algn="just">
              <a:lnSpc>
                <a:spcPts val="419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121212"/>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121212"/>
            </a:solidFill>
            <a:prstDash val="solid"/>
            <a:headEnd type="none" len="sm" w="sm"/>
            <a:tailEnd type="none" len="sm" w="sm"/>
          </a:ln>
        </p:spPr>
      </p:sp>
      <p:sp>
        <p:nvSpPr>
          <p:cNvPr name="TextBox 4" id="4"/>
          <p:cNvSpPr txBox="true"/>
          <p:nvPr/>
        </p:nvSpPr>
        <p:spPr>
          <a:xfrm rot="0">
            <a:off x="189857" y="958980"/>
            <a:ext cx="17908285" cy="2096060"/>
          </a:xfrm>
          <a:prstGeom prst="rect">
            <a:avLst/>
          </a:prstGeom>
        </p:spPr>
        <p:txBody>
          <a:bodyPr anchor="t" rtlCol="false" tIns="0" lIns="0" bIns="0" rIns="0">
            <a:spAutoFit/>
          </a:bodyPr>
          <a:lstStyle/>
          <a:p>
            <a:pPr algn="ctr">
              <a:lnSpc>
                <a:spcPts val="15989"/>
              </a:lnSpc>
            </a:pPr>
            <a:r>
              <a:rPr lang="en-US" b="true" sz="15084">
                <a:solidFill>
                  <a:srgbClr val="121212"/>
                </a:solidFill>
                <a:latin typeface="Fontuna Bold"/>
                <a:ea typeface="Fontuna Bold"/>
                <a:cs typeface="Fontuna Bold"/>
                <a:sym typeface="Fontuna Bold"/>
              </a:rPr>
              <a:t>REPASO CONDICIONES Y SELECT CASE</a:t>
            </a:r>
          </a:p>
        </p:txBody>
      </p:sp>
      <p:sp>
        <p:nvSpPr>
          <p:cNvPr name="TextBox 5" id="5"/>
          <p:cNvSpPr txBox="true"/>
          <p:nvPr/>
        </p:nvSpPr>
        <p:spPr>
          <a:xfrm rot="0">
            <a:off x="1192102" y="3102285"/>
            <a:ext cx="7267460" cy="6156015"/>
          </a:xfrm>
          <a:prstGeom prst="rect">
            <a:avLst/>
          </a:prstGeom>
        </p:spPr>
        <p:txBody>
          <a:bodyPr anchor="t" rtlCol="false" tIns="0" lIns="0" bIns="0" rIns="0">
            <a:spAutoFit/>
          </a:bodyPr>
          <a:lstStyle/>
          <a:p>
            <a:pPr algn="just">
              <a:lnSpc>
                <a:spcPts val="4908"/>
              </a:lnSpc>
              <a:spcBef>
                <a:spcPct val="0"/>
              </a:spcBef>
            </a:pPr>
            <a:r>
              <a:rPr lang="en-US" sz="2921">
                <a:solidFill>
                  <a:srgbClr val="000000"/>
                </a:solidFill>
                <a:latin typeface="Inter"/>
                <a:ea typeface="Inter"/>
                <a:cs typeface="Inter"/>
                <a:sym typeface="Inter"/>
              </a:rPr>
              <a:t>Las estructuras condicionales nos permiten ejecutar una serie de instrucciones si cumple una determinada condición que nosotros le indiquemos.</a:t>
            </a:r>
          </a:p>
          <a:p>
            <a:pPr algn="just">
              <a:lnSpc>
                <a:spcPts val="4908"/>
              </a:lnSpc>
              <a:spcBef>
                <a:spcPct val="0"/>
              </a:spcBef>
            </a:pPr>
          </a:p>
          <a:p>
            <a:pPr algn="just">
              <a:lnSpc>
                <a:spcPts val="4908"/>
              </a:lnSpc>
              <a:spcBef>
                <a:spcPct val="0"/>
              </a:spcBef>
            </a:pPr>
            <a:r>
              <a:rPr lang="en-US" sz="2921">
                <a:solidFill>
                  <a:srgbClr val="000000"/>
                </a:solidFill>
                <a:latin typeface="Inter"/>
                <a:ea typeface="Inter"/>
                <a:cs typeface="Inter"/>
                <a:sym typeface="Inter"/>
              </a:rPr>
              <a:t>Es importante recordar que la condición debe dar un resultado booleano, por lo que lo mas normal es usar operadores relacionales y condicionales.</a:t>
            </a:r>
          </a:p>
          <a:p>
            <a:pPr algn="just">
              <a:lnSpc>
                <a:spcPts val="4908"/>
              </a:lnSpc>
              <a:spcBef>
                <a:spcPct val="0"/>
              </a:spcBef>
            </a:pPr>
          </a:p>
        </p:txBody>
      </p:sp>
      <p:sp>
        <p:nvSpPr>
          <p:cNvPr name="TextBox 6" id="6"/>
          <p:cNvSpPr txBox="true"/>
          <p:nvPr/>
        </p:nvSpPr>
        <p:spPr>
          <a:xfrm rot="0">
            <a:off x="9727351" y="3102285"/>
            <a:ext cx="7012025" cy="4555577"/>
          </a:xfrm>
          <a:prstGeom prst="rect">
            <a:avLst/>
          </a:prstGeom>
        </p:spPr>
        <p:txBody>
          <a:bodyPr anchor="t" rtlCol="false" tIns="0" lIns="0" bIns="0" rIns="0">
            <a:spAutoFit/>
          </a:bodyPr>
          <a:lstStyle/>
          <a:p>
            <a:pPr algn="just">
              <a:lnSpc>
                <a:spcPts val="5177"/>
              </a:lnSpc>
              <a:spcBef>
                <a:spcPct val="0"/>
              </a:spcBef>
            </a:pPr>
            <a:r>
              <a:rPr lang="en-US" sz="3081">
                <a:solidFill>
                  <a:srgbClr val="000000"/>
                </a:solidFill>
                <a:latin typeface="Inter"/>
                <a:ea typeface="Inter"/>
                <a:cs typeface="Inter"/>
                <a:sym typeface="Inter"/>
              </a:rPr>
              <a:t>Existen varios tipos de estructuras condicionales:</a:t>
            </a:r>
          </a:p>
          <a:p>
            <a:pPr algn="just" marL="665384" indent="-332692" lvl="1">
              <a:lnSpc>
                <a:spcPts val="5177"/>
              </a:lnSpc>
              <a:buFont typeface="Arial"/>
              <a:buChar char="•"/>
            </a:pPr>
            <a:r>
              <a:rPr lang="en-US" sz="3081">
                <a:solidFill>
                  <a:srgbClr val="000000"/>
                </a:solidFill>
                <a:latin typeface="Inter"/>
                <a:ea typeface="Inter"/>
                <a:cs typeface="Inter"/>
                <a:sym typeface="Inter"/>
              </a:rPr>
              <a:t>IF</a:t>
            </a:r>
          </a:p>
          <a:p>
            <a:pPr algn="just" marL="665384" indent="-332692" lvl="1">
              <a:lnSpc>
                <a:spcPts val="5177"/>
              </a:lnSpc>
              <a:buFont typeface="Arial"/>
              <a:buChar char="•"/>
            </a:pPr>
            <a:r>
              <a:rPr lang="en-US" sz="3081">
                <a:solidFill>
                  <a:srgbClr val="000000"/>
                </a:solidFill>
                <a:latin typeface="Inter"/>
                <a:ea typeface="Inter"/>
                <a:cs typeface="Inter"/>
                <a:sym typeface="Inter"/>
              </a:rPr>
              <a:t>IF-ELSE</a:t>
            </a:r>
          </a:p>
          <a:p>
            <a:pPr algn="just" marL="665384" indent="-332692" lvl="1">
              <a:lnSpc>
                <a:spcPts val="5177"/>
              </a:lnSpc>
              <a:buFont typeface="Arial"/>
              <a:buChar char="•"/>
            </a:pPr>
            <a:r>
              <a:rPr lang="en-US" sz="3081">
                <a:solidFill>
                  <a:srgbClr val="000000"/>
                </a:solidFill>
                <a:latin typeface="Inter"/>
                <a:ea typeface="Inter"/>
                <a:cs typeface="Inter"/>
                <a:sym typeface="Inter"/>
              </a:rPr>
              <a:t>IF-ELSEIF</a:t>
            </a:r>
          </a:p>
          <a:p>
            <a:pPr algn="just" marL="665384" indent="-332692" lvl="1">
              <a:lnSpc>
                <a:spcPts val="5177"/>
              </a:lnSpc>
              <a:buFont typeface="Arial"/>
              <a:buChar char="•"/>
            </a:pPr>
            <a:r>
              <a:rPr lang="en-US" sz="3081">
                <a:solidFill>
                  <a:srgbClr val="000000"/>
                </a:solidFill>
                <a:latin typeface="Inter"/>
                <a:ea typeface="Inter"/>
                <a:cs typeface="Inter"/>
                <a:sym typeface="Inter"/>
              </a:rPr>
              <a:t>SELECT</a:t>
            </a:r>
          </a:p>
          <a:p>
            <a:pPr algn="just">
              <a:lnSpc>
                <a:spcPts val="517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121212"/>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121212"/>
            </a:solidFill>
            <a:prstDash val="solid"/>
            <a:headEnd type="none" len="sm" w="sm"/>
            <a:tailEnd type="none" len="sm" w="sm"/>
          </a:ln>
        </p:spPr>
      </p:sp>
      <p:sp>
        <p:nvSpPr>
          <p:cNvPr name="TextBox 4" id="4"/>
          <p:cNvSpPr txBox="true"/>
          <p:nvPr/>
        </p:nvSpPr>
        <p:spPr>
          <a:xfrm rot="0">
            <a:off x="189857" y="958980"/>
            <a:ext cx="17908285" cy="2096060"/>
          </a:xfrm>
          <a:prstGeom prst="rect">
            <a:avLst/>
          </a:prstGeom>
        </p:spPr>
        <p:txBody>
          <a:bodyPr anchor="t" rtlCol="false" tIns="0" lIns="0" bIns="0" rIns="0">
            <a:spAutoFit/>
          </a:bodyPr>
          <a:lstStyle/>
          <a:p>
            <a:pPr algn="ctr">
              <a:lnSpc>
                <a:spcPts val="15989"/>
              </a:lnSpc>
            </a:pPr>
            <a:r>
              <a:rPr lang="en-US" b="true" sz="15084">
                <a:solidFill>
                  <a:srgbClr val="121212"/>
                </a:solidFill>
                <a:latin typeface="Fontuna Bold"/>
                <a:ea typeface="Fontuna Bold"/>
                <a:cs typeface="Fontuna Bold"/>
                <a:sym typeface="Fontuna Bold"/>
              </a:rPr>
              <a:t>REPASO CONDICIONES Y SELECT CASE</a:t>
            </a:r>
          </a:p>
        </p:txBody>
      </p:sp>
      <p:sp>
        <p:nvSpPr>
          <p:cNvPr name="TextBox 5" id="5"/>
          <p:cNvSpPr txBox="true"/>
          <p:nvPr/>
        </p:nvSpPr>
        <p:spPr>
          <a:xfrm rot="0">
            <a:off x="1028700" y="3442036"/>
            <a:ext cx="6550302" cy="4563999"/>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Inter"/>
                <a:ea typeface="Inter"/>
                <a:cs typeface="Inter"/>
                <a:sym typeface="Inter"/>
              </a:rPr>
              <a:t>If, indicamos una condición si esta es verdadera se ejecuta el código interno, sino “No” se ejecuta las instrucciones de dentro.</a:t>
            </a:r>
          </a:p>
          <a:p>
            <a:pPr algn="just">
              <a:lnSpc>
                <a:spcPts val="5207"/>
              </a:lnSpc>
              <a:spcBef>
                <a:spcPct val="0"/>
              </a:spcBef>
            </a:pPr>
          </a:p>
          <a:p>
            <a:pPr algn="just">
              <a:lnSpc>
                <a:spcPts val="5207"/>
              </a:lnSpc>
              <a:spcBef>
                <a:spcPct val="0"/>
              </a:spcBef>
            </a:pPr>
            <a:r>
              <a:rPr lang="en-US" sz="3099">
                <a:solidFill>
                  <a:srgbClr val="000000"/>
                </a:solidFill>
                <a:latin typeface="Inter"/>
                <a:ea typeface="Inter"/>
                <a:cs typeface="Inter"/>
                <a:sym typeface="Inter"/>
              </a:rPr>
              <a:t>Se suele leer como &lt;&lt; Si se cumple esta condición haz esto &gt;&gt;</a:t>
            </a:r>
          </a:p>
        </p:txBody>
      </p:sp>
      <p:sp>
        <p:nvSpPr>
          <p:cNvPr name="Freeform 6" id="6"/>
          <p:cNvSpPr/>
          <p:nvPr/>
        </p:nvSpPr>
        <p:spPr>
          <a:xfrm flipH="false" flipV="false" rot="0">
            <a:off x="8302361" y="4052061"/>
            <a:ext cx="8956939" cy="3496349"/>
          </a:xfrm>
          <a:custGeom>
            <a:avLst/>
            <a:gdLst/>
            <a:ahLst/>
            <a:cxnLst/>
            <a:rect r="r" b="b" t="t" l="l"/>
            <a:pathLst>
              <a:path h="3496349" w="8956939">
                <a:moveTo>
                  <a:pt x="0" y="0"/>
                </a:moveTo>
                <a:lnTo>
                  <a:pt x="8956939" y="0"/>
                </a:lnTo>
                <a:lnTo>
                  <a:pt x="8956939" y="3496349"/>
                </a:lnTo>
                <a:lnTo>
                  <a:pt x="0" y="3496349"/>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121212"/>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121212"/>
            </a:solidFill>
            <a:prstDash val="solid"/>
            <a:headEnd type="none" len="sm" w="sm"/>
            <a:tailEnd type="none" len="sm" w="sm"/>
          </a:ln>
        </p:spPr>
      </p:sp>
      <p:sp>
        <p:nvSpPr>
          <p:cNvPr name="TextBox 4" id="4"/>
          <p:cNvSpPr txBox="true"/>
          <p:nvPr/>
        </p:nvSpPr>
        <p:spPr>
          <a:xfrm rot="0">
            <a:off x="189857" y="958980"/>
            <a:ext cx="17908285" cy="2096060"/>
          </a:xfrm>
          <a:prstGeom prst="rect">
            <a:avLst/>
          </a:prstGeom>
        </p:spPr>
        <p:txBody>
          <a:bodyPr anchor="t" rtlCol="false" tIns="0" lIns="0" bIns="0" rIns="0">
            <a:spAutoFit/>
          </a:bodyPr>
          <a:lstStyle/>
          <a:p>
            <a:pPr algn="ctr">
              <a:lnSpc>
                <a:spcPts val="15989"/>
              </a:lnSpc>
            </a:pPr>
            <a:r>
              <a:rPr lang="en-US" b="true" sz="15084">
                <a:solidFill>
                  <a:srgbClr val="121212"/>
                </a:solidFill>
                <a:latin typeface="Fontuna Bold"/>
                <a:ea typeface="Fontuna Bold"/>
                <a:cs typeface="Fontuna Bold"/>
                <a:sym typeface="Fontuna Bold"/>
              </a:rPr>
              <a:t>REPASO CONDICIONES Y SELECT CASE</a:t>
            </a:r>
          </a:p>
        </p:txBody>
      </p:sp>
      <p:sp>
        <p:nvSpPr>
          <p:cNvPr name="TextBox 5" id="5"/>
          <p:cNvSpPr txBox="true"/>
          <p:nvPr/>
        </p:nvSpPr>
        <p:spPr>
          <a:xfrm rot="0">
            <a:off x="802615" y="3267137"/>
            <a:ext cx="7653355" cy="5221224"/>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Inter"/>
                <a:ea typeface="Inter"/>
                <a:cs typeface="Inter"/>
                <a:sym typeface="Inter"/>
              </a:rPr>
              <a:t>If-Else, esto sirve para que la condición del if no es verdadera, ejecute otras instrucciones que estarán dentro del else.</a:t>
            </a:r>
          </a:p>
          <a:p>
            <a:pPr algn="just">
              <a:lnSpc>
                <a:spcPts val="5207"/>
              </a:lnSpc>
              <a:spcBef>
                <a:spcPct val="0"/>
              </a:spcBef>
            </a:pPr>
          </a:p>
          <a:p>
            <a:pPr algn="just">
              <a:lnSpc>
                <a:spcPts val="5207"/>
              </a:lnSpc>
              <a:spcBef>
                <a:spcPct val="0"/>
              </a:spcBef>
            </a:pPr>
            <a:r>
              <a:rPr lang="en-US" sz="3099">
                <a:solidFill>
                  <a:srgbClr val="000000"/>
                </a:solidFill>
                <a:latin typeface="Inter"/>
                <a:ea typeface="Inter"/>
                <a:cs typeface="Inter"/>
                <a:sym typeface="Inter"/>
              </a:rPr>
              <a:t>Se suele leer como &lt;&lt; Si se cumple esta condición haz esto y sino haz esto &gt;&gt;</a:t>
            </a:r>
          </a:p>
          <a:p>
            <a:pPr algn="just">
              <a:lnSpc>
                <a:spcPts val="5207"/>
              </a:lnSpc>
              <a:spcBef>
                <a:spcPct val="0"/>
              </a:spcBef>
            </a:pPr>
          </a:p>
        </p:txBody>
      </p:sp>
      <p:sp>
        <p:nvSpPr>
          <p:cNvPr name="Freeform 6" id="6"/>
          <p:cNvSpPr/>
          <p:nvPr/>
        </p:nvSpPr>
        <p:spPr>
          <a:xfrm flipH="false" flipV="false" rot="0">
            <a:off x="9372672" y="3419537"/>
            <a:ext cx="8137841" cy="3892011"/>
          </a:xfrm>
          <a:custGeom>
            <a:avLst/>
            <a:gdLst/>
            <a:ahLst/>
            <a:cxnLst/>
            <a:rect r="r" b="b" t="t" l="l"/>
            <a:pathLst>
              <a:path h="3892011" w="8137841">
                <a:moveTo>
                  <a:pt x="0" y="0"/>
                </a:moveTo>
                <a:lnTo>
                  <a:pt x="8137841" y="0"/>
                </a:lnTo>
                <a:lnTo>
                  <a:pt x="8137841" y="3892011"/>
                </a:lnTo>
                <a:lnTo>
                  <a:pt x="0" y="3892011"/>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121212"/>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121212"/>
            </a:solidFill>
            <a:prstDash val="solid"/>
            <a:headEnd type="none" len="sm" w="sm"/>
            <a:tailEnd type="none" len="sm" w="sm"/>
          </a:ln>
        </p:spPr>
      </p:sp>
      <p:sp>
        <p:nvSpPr>
          <p:cNvPr name="TextBox 4" id="4"/>
          <p:cNvSpPr txBox="true"/>
          <p:nvPr/>
        </p:nvSpPr>
        <p:spPr>
          <a:xfrm rot="0">
            <a:off x="189857" y="958980"/>
            <a:ext cx="17908285" cy="2096060"/>
          </a:xfrm>
          <a:prstGeom prst="rect">
            <a:avLst/>
          </a:prstGeom>
        </p:spPr>
        <p:txBody>
          <a:bodyPr anchor="t" rtlCol="false" tIns="0" lIns="0" bIns="0" rIns="0">
            <a:spAutoFit/>
          </a:bodyPr>
          <a:lstStyle/>
          <a:p>
            <a:pPr algn="ctr">
              <a:lnSpc>
                <a:spcPts val="15989"/>
              </a:lnSpc>
            </a:pPr>
            <a:r>
              <a:rPr lang="en-US" b="true" sz="15084">
                <a:solidFill>
                  <a:srgbClr val="121212"/>
                </a:solidFill>
                <a:latin typeface="Fontuna Bold"/>
                <a:ea typeface="Fontuna Bold"/>
                <a:cs typeface="Fontuna Bold"/>
                <a:sym typeface="Fontuna Bold"/>
              </a:rPr>
              <a:t>REPASO CONDICIONES Y SELECT CASE</a:t>
            </a:r>
          </a:p>
        </p:txBody>
      </p:sp>
      <p:sp>
        <p:nvSpPr>
          <p:cNvPr name="Freeform 5" id="5"/>
          <p:cNvSpPr/>
          <p:nvPr/>
        </p:nvSpPr>
        <p:spPr>
          <a:xfrm flipH="false" flipV="false" rot="0">
            <a:off x="8076388" y="3708199"/>
            <a:ext cx="9497079" cy="3955881"/>
          </a:xfrm>
          <a:custGeom>
            <a:avLst/>
            <a:gdLst/>
            <a:ahLst/>
            <a:cxnLst/>
            <a:rect r="r" b="b" t="t" l="l"/>
            <a:pathLst>
              <a:path h="3955881" w="9497079">
                <a:moveTo>
                  <a:pt x="0" y="0"/>
                </a:moveTo>
                <a:lnTo>
                  <a:pt x="9497078" y="0"/>
                </a:lnTo>
                <a:lnTo>
                  <a:pt x="9497078" y="3955882"/>
                </a:lnTo>
                <a:lnTo>
                  <a:pt x="0" y="3955882"/>
                </a:lnTo>
                <a:lnTo>
                  <a:pt x="0" y="0"/>
                </a:lnTo>
                <a:close/>
              </a:path>
            </a:pathLst>
          </a:custGeom>
          <a:blipFill>
            <a:blip r:embed="rId2"/>
            <a:stretch>
              <a:fillRect l="0" t="0" r="0" b="0"/>
            </a:stretch>
          </a:blipFill>
        </p:spPr>
      </p:sp>
      <p:sp>
        <p:nvSpPr>
          <p:cNvPr name="TextBox 6" id="6"/>
          <p:cNvSpPr txBox="true"/>
          <p:nvPr/>
        </p:nvSpPr>
        <p:spPr>
          <a:xfrm rot="0">
            <a:off x="664629" y="2999328"/>
            <a:ext cx="6981843" cy="5221224"/>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Inter"/>
                <a:ea typeface="Inter"/>
                <a:cs typeface="Inter"/>
                <a:sym typeface="Inter"/>
              </a:rPr>
              <a:t>I</a:t>
            </a:r>
            <a:r>
              <a:rPr lang="en-US" sz="3099">
                <a:solidFill>
                  <a:srgbClr val="000000"/>
                </a:solidFill>
                <a:latin typeface="Inter"/>
                <a:ea typeface="Inter"/>
                <a:cs typeface="Inter"/>
                <a:sym typeface="Inter"/>
              </a:rPr>
              <a:t>f-ElseIF, esta instrucción nos permite, que si no se cumple la condición podamos indicar otra condición para hacerlo aún mas especifico.</a:t>
            </a:r>
          </a:p>
          <a:p>
            <a:pPr algn="just">
              <a:lnSpc>
                <a:spcPts val="5207"/>
              </a:lnSpc>
            </a:pPr>
            <a:r>
              <a:rPr lang="en-US" sz="3099">
                <a:solidFill>
                  <a:srgbClr val="000000"/>
                </a:solidFill>
                <a:latin typeface="Inter"/>
                <a:ea typeface="Inter"/>
                <a:cs typeface="Inter"/>
                <a:sym typeface="Inter"/>
              </a:rPr>
              <a:t>Se suele leer como &lt;&lt; Si se cumple esta condición haz esto y sino si cumple </a:t>
            </a:r>
            <a:r>
              <a:rPr lang="en-US" sz="3099">
                <a:solidFill>
                  <a:srgbClr val="000000"/>
                </a:solidFill>
                <a:latin typeface="Inter"/>
                <a:ea typeface="Inter"/>
                <a:cs typeface="Inter"/>
                <a:sym typeface="Inter"/>
              </a:rPr>
              <a:t>esta condición haz esto &gt;&gt;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414694" y="735461"/>
            <a:ext cx="20162241" cy="0"/>
          </a:xfrm>
          <a:prstGeom prst="line">
            <a:avLst/>
          </a:prstGeom>
          <a:ln cap="flat" w="19050">
            <a:solidFill>
              <a:srgbClr val="121212"/>
            </a:solidFill>
            <a:prstDash val="solid"/>
            <a:headEnd type="none" len="sm" w="sm"/>
            <a:tailEnd type="none" len="sm" w="sm"/>
          </a:ln>
        </p:spPr>
      </p:sp>
      <p:sp>
        <p:nvSpPr>
          <p:cNvPr name="AutoShape 3" id="3"/>
          <p:cNvSpPr/>
          <p:nvPr/>
        </p:nvSpPr>
        <p:spPr>
          <a:xfrm>
            <a:off x="-749971" y="9534209"/>
            <a:ext cx="20666822" cy="0"/>
          </a:xfrm>
          <a:prstGeom prst="line">
            <a:avLst/>
          </a:prstGeom>
          <a:ln cap="flat" w="19050">
            <a:solidFill>
              <a:srgbClr val="121212"/>
            </a:solidFill>
            <a:prstDash val="solid"/>
            <a:headEnd type="none" len="sm" w="sm"/>
            <a:tailEnd type="none" len="sm" w="sm"/>
          </a:ln>
        </p:spPr>
      </p:sp>
      <p:sp>
        <p:nvSpPr>
          <p:cNvPr name="TextBox 4" id="4"/>
          <p:cNvSpPr txBox="true"/>
          <p:nvPr/>
        </p:nvSpPr>
        <p:spPr>
          <a:xfrm rot="0">
            <a:off x="189857" y="958980"/>
            <a:ext cx="17908285" cy="2096060"/>
          </a:xfrm>
          <a:prstGeom prst="rect">
            <a:avLst/>
          </a:prstGeom>
        </p:spPr>
        <p:txBody>
          <a:bodyPr anchor="t" rtlCol="false" tIns="0" lIns="0" bIns="0" rIns="0">
            <a:spAutoFit/>
          </a:bodyPr>
          <a:lstStyle/>
          <a:p>
            <a:pPr algn="ctr">
              <a:lnSpc>
                <a:spcPts val="15989"/>
              </a:lnSpc>
            </a:pPr>
            <a:r>
              <a:rPr lang="en-US" b="true" sz="15084">
                <a:solidFill>
                  <a:srgbClr val="121212"/>
                </a:solidFill>
                <a:latin typeface="Fontuna Bold"/>
                <a:ea typeface="Fontuna Bold"/>
                <a:cs typeface="Fontuna Bold"/>
                <a:sym typeface="Fontuna Bold"/>
              </a:rPr>
              <a:t>REPASO CONDICIONES Y SELECT CASE</a:t>
            </a:r>
          </a:p>
        </p:txBody>
      </p:sp>
      <p:sp>
        <p:nvSpPr>
          <p:cNvPr name="Freeform 5" id="5"/>
          <p:cNvSpPr/>
          <p:nvPr/>
        </p:nvSpPr>
        <p:spPr>
          <a:xfrm flipH="false" flipV="false" rot="0">
            <a:off x="8328979" y="3751928"/>
            <a:ext cx="9257142" cy="3619225"/>
          </a:xfrm>
          <a:custGeom>
            <a:avLst/>
            <a:gdLst/>
            <a:ahLst/>
            <a:cxnLst/>
            <a:rect r="r" b="b" t="t" l="l"/>
            <a:pathLst>
              <a:path h="3619225" w="9257142">
                <a:moveTo>
                  <a:pt x="0" y="0"/>
                </a:moveTo>
                <a:lnTo>
                  <a:pt x="9257142" y="0"/>
                </a:lnTo>
                <a:lnTo>
                  <a:pt x="9257142" y="3619225"/>
                </a:lnTo>
                <a:lnTo>
                  <a:pt x="0" y="3619225"/>
                </a:lnTo>
                <a:lnTo>
                  <a:pt x="0" y="0"/>
                </a:lnTo>
                <a:close/>
              </a:path>
            </a:pathLst>
          </a:custGeom>
          <a:blipFill>
            <a:blip r:embed="rId2"/>
            <a:stretch>
              <a:fillRect l="0" t="0" r="0" b="0"/>
            </a:stretch>
          </a:blipFill>
        </p:spPr>
      </p:sp>
      <p:sp>
        <p:nvSpPr>
          <p:cNvPr name="TextBox 6" id="6"/>
          <p:cNvSpPr txBox="true"/>
          <p:nvPr/>
        </p:nvSpPr>
        <p:spPr>
          <a:xfrm rot="0">
            <a:off x="726623" y="2722625"/>
            <a:ext cx="7155314" cy="6535675"/>
          </a:xfrm>
          <a:prstGeom prst="rect">
            <a:avLst/>
          </a:prstGeom>
        </p:spPr>
        <p:txBody>
          <a:bodyPr anchor="t" rtlCol="false" tIns="0" lIns="0" bIns="0" rIns="0">
            <a:spAutoFit/>
          </a:bodyPr>
          <a:lstStyle/>
          <a:p>
            <a:pPr algn="just">
              <a:lnSpc>
                <a:spcPts val="5207"/>
              </a:lnSpc>
              <a:spcBef>
                <a:spcPct val="0"/>
              </a:spcBef>
            </a:pPr>
            <a:r>
              <a:rPr lang="en-US" sz="3099">
                <a:solidFill>
                  <a:srgbClr val="000000"/>
                </a:solidFill>
                <a:latin typeface="Inter"/>
                <a:ea typeface="Inter"/>
                <a:cs typeface="Inter"/>
                <a:sym typeface="Inter"/>
              </a:rPr>
              <a:t>Select, esta estructura condicional de selección múltiple, le damos un valor (puede ser una variable) y una lista de casos y si cumple alguno de los casos ejecuta las instrucciones asociadas a ella, en caso de que ninguna sea podemos indicarle que hace por defecto, normalmente se usa para indicar de u error con un mensaje.</a:t>
            </a:r>
          </a:p>
          <a:p>
            <a:pPr algn="just">
              <a:lnSpc>
                <a:spcPts val="5207"/>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8527" y="1489119"/>
            <a:ext cx="17255746" cy="1880146"/>
          </a:xfrm>
          <a:prstGeom prst="rect">
            <a:avLst/>
          </a:prstGeom>
        </p:spPr>
        <p:txBody>
          <a:bodyPr anchor="t" rtlCol="false" tIns="0" lIns="0" bIns="0" rIns="0">
            <a:spAutoFit/>
          </a:bodyPr>
          <a:lstStyle/>
          <a:p>
            <a:pPr algn="ctr">
              <a:lnSpc>
                <a:spcPts val="14361"/>
              </a:lnSpc>
            </a:pPr>
            <a:r>
              <a:rPr lang="en-US" b="true" sz="13548">
                <a:solidFill>
                  <a:srgbClr val="121212"/>
                </a:solidFill>
                <a:latin typeface="Fontuna Bold"/>
                <a:ea typeface="Fontuna Bold"/>
                <a:cs typeface="Fontuna Bold"/>
                <a:sym typeface="Fontuna Bold"/>
              </a:rPr>
              <a:t>REPASO CONDICIONES Y SELECT CASE</a:t>
            </a:r>
          </a:p>
        </p:txBody>
      </p:sp>
      <p:sp>
        <p:nvSpPr>
          <p:cNvPr name="AutoShape 3" id="3"/>
          <p:cNvSpPr/>
          <p:nvPr/>
        </p:nvSpPr>
        <p:spPr>
          <a:xfrm>
            <a:off x="-1460917" y="555069"/>
            <a:ext cx="20162241" cy="0"/>
          </a:xfrm>
          <a:prstGeom prst="line">
            <a:avLst/>
          </a:prstGeom>
          <a:ln cap="flat" w="19050">
            <a:solidFill>
              <a:srgbClr val="121212"/>
            </a:solidFill>
            <a:prstDash val="solid"/>
            <a:headEnd type="none" len="sm" w="sm"/>
            <a:tailEnd type="none" len="sm" w="sm"/>
          </a:ln>
        </p:spPr>
      </p:sp>
      <p:sp>
        <p:nvSpPr>
          <p:cNvPr name="AutoShape 4" id="4"/>
          <p:cNvSpPr/>
          <p:nvPr/>
        </p:nvSpPr>
        <p:spPr>
          <a:xfrm>
            <a:off x="-983343" y="9731931"/>
            <a:ext cx="20162241" cy="0"/>
          </a:xfrm>
          <a:prstGeom prst="line">
            <a:avLst/>
          </a:prstGeom>
          <a:ln cap="flat" w="19050">
            <a:solidFill>
              <a:srgbClr val="121212"/>
            </a:solidFill>
            <a:prstDash val="solid"/>
            <a:headEnd type="none" len="sm" w="sm"/>
            <a:tailEnd type="none" len="sm" w="sm"/>
          </a:ln>
        </p:spPr>
      </p:sp>
      <p:sp>
        <p:nvSpPr>
          <p:cNvPr name="Freeform 5" id="5"/>
          <p:cNvSpPr/>
          <p:nvPr/>
        </p:nvSpPr>
        <p:spPr>
          <a:xfrm flipH="false" flipV="false" rot="0">
            <a:off x="460559" y="3740797"/>
            <a:ext cx="8165770" cy="5012651"/>
          </a:xfrm>
          <a:custGeom>
            <a:avLst/>
            <a:gdLst/>
            <a:ahLst/>
            <a:cxnLst/>
            <a:rect r="r" b="b" t="t" l="l"/>
            <a:pathLst>
              <a:path h="5012651" w="8165770">
                <a:moveTo>
                  <a:pt x="0" y="0"/>
                </a:moveTo>
                <a:lnTo>
                  <a:pt x="8165770" y="0"/>
                </a:lnTo>
                <a:lnTo>
                  <a:pt x="8165770" y="5012651"/>
                </a:lnTo>
                <a:lnTo>
                  <a:pt x="0" y="5012651"/>
                </a:lnTo>
                <a:lnTo>
                  <a:pt x="0" y="0"/>
                </a:lnTo>
                <a:close/>
              </a:path>
            </a:pathLst>
          </a:custGeom>
          <a:blipFill>
            <a:blip r:embed="rId2"/>
            <a:stretch>
              <a:fillRect l="0" t="0" r="0" b="0"/>
            </a:stretch>
          </a:blipFill>
        </p:spPr>
      </p:sp>
      <p:sp>
        <p:nvSpPr>
          <p:cNvPr name="Freeform 6" id="6"/>
          <p:cNvSpPr/>
          <p:nvPr/>
        </p:nvSpPr>
        <p:spPr>
          <a:xfrm flipH="false" flipV="false" rot="0">
            <a:off x="9144000" y="3752072"/>
            <a:ext cx="8695986" cy="4990102"/>
          </a:xfrm>
          <a:custGeom>
            <a:avLst/>
            <a:gdLst/>
            <a:ahLst/>
            <a:cxnLst/>
            <a:rect r="r" b="b" t="t" l="l"/>
            <a:pathLst>
              <a:path h="4990102" w="8695986">
                <a:moveTo>
                  <a:pt x="0" y="0"/>
                </a:moveTo>
                <a:lnTo>
                  <a:pt x="8695986" y="0"/>
                </a:lnTo>
                <a:lnTo>
                  <a:pt x="8695986" y="4990102"/>
                </a:lnTo>
                <a:lnTo>
                  <a:pt x="0" y="4990102"/>
                </a:lnTo>
                <a:lnTo>
                  <a:pt x="0" y="0"/>
                </a:lnTo>
                <a:close/>
              </a:path>
            </a:pathLst>
          </a:custGeom>
          <a:blipFill>
            <a:blip r:embed="rId3"/>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8527" y="1489119"/>
            <a:ext cx="17255746" cy="1880146"/>
          </a:xfrm>
          <a:prstGeom prst="rect">
            <a:avLst/>
          </a:prstGeom>
        </p:spPr>
        <p:txBody>
          <a:bodyPr anchor="t" rtlCol="false" tIns="0" lIns="0" bIns="0" rIns="0">
            <a:spAutoFit/>
          </a:bodyPr>
          <a:lstStyle/>
          <a:p>
            <a:pPr algn="ctr">
              <a:lnSpc>
                <a:spcPts val="14361"/>
              </a:lnSpc>
            </a:pPr>
            <a:r>
              <a:rPr lang="en-US" b="true" sz="13548">
                <a:solidFill>
                  <a:srgbClr val="121212"/>
                </a:solidFill>
                <a:latin typeface="Fontuna Bold"/>
                <a:ea typeface="Fontuna Bold"/>
                <a:cs typeface="Fontuna Bold"/>
                <a:sym typeface="Fontuna Bold"/>
              </a:rPr>
              <a:t>REPASO CONDICIONES Y SELECT CASE</a:t>
            </a:r>
          </a:p>
        </p:txBody>
      </p:sp>
      <p:sp>
        <p:nvSpPr>
          <p:cNvPr name="AutoShape 3" id="3"/>
          <p:cNvSpPr/>
          <p:nvPr/>
        </p:nvSpPr>
        <p:spPr>
          <a:xfrm>
            <a:off x="-1460917" y="555069"/>
            <a:ext cx="20162241" cy="0"/>
          </a:xfrm>
          <a:prstGeom prst="line">
            <a:avLst/>
          </a:prstGeom>
          <a:ln cap="flat" w="19050">
            <a:solidFill>
              <a:srgbClr val="121212"/>
            </a:solidFill>
            <a:prstDash val="solid"/>
            <a:headEnd type="none" len="sm" w="sm"/>
            <a:tailEnd type="none" len="sm" w="sm"/>
          </a:ln>
        </p:spPr>
      </p:sp>
      <p:sp>
        <p:nvSpPr>
          <p:cNvPr name="AutoShape 4" id="4"/>
          <p:cNvSpPr/>
          <p:nvPr/>
        </p:nvSpPr>
        <p:spPr>
          <a:xfrm>
            <a:off x="-983343" y="9731931"/>
            <a:ext cx="20162241" cy="0"/>
          </a:xfrm>
          <a:prstGeom prst="line">
            <a:avLst/>
          </a:prstGeom>
          <a:ln cap="flat" w="19050">
            <a:solidFill>
              <a:srgbClr val="121212"/>
            </a:solidFill>
            <a:prstDash val="solid"/>
            <a:headEnd type="none" len="sm" w="sm"/>
            <a:tailEnd type="none" len="sm" w="sm"/>
          </a:ln>
        </p:spPr>
      </p:sp>
      <p:sp>
        <p:nvSpPr>
          <p:cNvPr name="Freeform 5" id="5"/>
          <p:cNvSpPr/>
          <p:nvPr/>
        </p:nvSpPr>
        <p:spPr>
          <a:xfrm flipH="false" flipV="false" rot="0">
            <a:off x="356373" y="4112215"/>
            <a:ext cx="9234731" cy="3952068"/>
          </a:xfrm>
          <a:custGeom>
            <a:avLst/>
            <a:gdLst/>
            <a:ahLst/>
            <a:cxnLst/>
            <a:rect r="r" b="b" t="t" l="l"/>
            <a:pathLst>
              <a:path h="3952068" w="9234731">
                <a:moveTo>
                  <a:pt x="0" y="0"/>
                </a:moveTo>
                <a:lnTo>
                  <a:pt x="9234732" y="0"/>
                </a:lnTo>
                <a:lnTo>
                  <a:pt x="9234732" y="3952068"/>
                </a:lnTo>
                <a:lnTo>
                  <a:pt x="0" y="3952068"/>
                </a:lnTo>
                <a:lnTo>
                  <a:pt x="0" y="0"/>
                </a:lnTo>
                <a:close/>
              </a:path>
            </a:pathLst>
          </a:custGeom>
          <a:blipFill>
            <a:blip r:embed="rId2"/>
            <a:stretch>
              <a:fillRect l="0" t="0" r="0" b="0"/>
            </a:stretch>
          </a:blipFill>
        </p:spPr>
      </p:sp>
      <p:sp>
        <p:nvSpPr>
          <p:cNvPr name="Freeform 6" id="6"/>
          <p:cNvSpPr/>
          <p:nvPr/>
        </p:nvSpPr>
        <p:spPr>
          <a:xfrm flipH="false" flipV="false" rot="0">
            <a:off x="10036743" y="4112215"/>
            <a:ext cx="7887530" cy="3952068"/>
          </a:xfrm>
          <a:custGeom>
            <a:avLst/>
            <a:gdLst/>
            <a:ahLst/>
            <a:cxnLst/>
            <a:rect r="r" b="b" t="t" l="l"/>
            <a:pathLst>
              <a:path h="3952068" w="7887530">
                <a:moveTo>
                  <a:pt x="0" y="0"/>
                </a:moveTo>
                <a:lnTo>
                  <a:pt x="7887530" y="0"/>
                </a:lnTo>
                <a:lnTo>
                  <a:pt x="7887530" y="3952068"/>
                </a:lnTo>
                <a:lnTo>
                  <a:pt x="0" y="3952068"/>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3027817"/>
            <a:ext cx="12625502" cy="783441"/>
          </a:xfrm>
          <a:custGeom>
            <a:avLst/>
            <a:gdLst/>
            <a:ahLst/>
            <a:cxnLst/>
            <a:rect r="r" b="b" t="t" l="l"/>
            <a:pathLst>
              <a:path h="783441" w="12625502">
                <a:moveTo>
                  <a:pt x="0" y="0"/>
                </a:moveTo>
                <a:lnTo>
                  <a:pt x="12625502" y="0"/>
                </a:lnTo>
                <a:lnTo>
                  <a:pt x="12625502" y="783440"/>
                </a:lnTo>
                <a:lnTo>
                  <a:pt x="0" y="7834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2352" y="-182092"/>
            <a:ext cx="17383296" cy="2682240"/>
          </a:xfrm>
          <a:prstGeom prst="rect">
            <a:avLst/>
          </a:prstGeom>
        </p:spPr>
        <p:txBody>
          <a:bodyPr anchor="t" rtlCol="false" tIns="0" lIns="0" bIns="0" rIns="0">
            <a:spAutoFit/>
          </a:bodyPr>
          <a:lstStyle/>
          <a:p>
            <a:pPr algn="ctr">
              <a:lnSpc>
                <a:spcPts val="22680"/>
              </a:lnSpc>
              <a:spcBef>
                <a:spcPct val="0"/>
              </a:spcBef>
            </a:pPr>
            <a:r>
              <a:rPr lang="en-US" b="true" sz="13500">
                <a:solidFill>
                  <a:srgbClr val="000000"/>
                </a:solidFill>
                <a:latin typeface="Fontuna Bold"/>
                <a:ea typeface="Fontuna Bold"/>
                <a:cs typeface="Fontuna Bold"/>
                <a:sym typeface="Fontuna Bold"/>
              </a:rPr>
              <a:t>CONT</a:t>
            </a:r>
            <a:r>
              <a:rPr lang="en-US" b="true" sz="13500">
                <a:solidFill>
                  <a:srgbClr val="000000"/>
                </a:solidFill>
                <a:latin typeface="Fontuna Bold"/>
                <a:ea typeface="Fontuna Bold"/>
                <a:cs typeface="Fontuna Bold"/>
                <a:sym typeface="Fontuna Bold"/>
              </a:rPr>
              <a:t>ROLES BASICOS DE VISUAL BASIC .NET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905610" y="6534436"/>
            <a:ext cx="6528983" cy="4067877"/>
          </a:xfrm>
          <a:custGeom>
            <a:avLst/>
            <a:gdLst/>
            <a:ahLst/>
            <a:cxnLst/>
            <a:rect r="r" b="b" t="t" l="l"/>
            <a:pathLst>
              <a:path h="4067877" w="6528983">
                <a:moveTo>
                  <a:pt x="0" y="0"/>
                </a:moveTo>
                <a:lnTo>
                  <a:pt x="6528983" y="0"/>
                </a:lnTo>
                <a:lnTo>
                  <a:pt x="6528983" y="4067877"/>
                </a:lnTo>
                <a:lnTo>
                  <a:pt x="0" y="4067877"/>
                </a:lnTo>
                <a:lnTo>
                  <a:pt x="0" y="0"/>
                </a:lnTo>
                <a:close/>
              </a:path>
            </a:pathLst>
          </a:custGeom>
          <a:blipFill>
            <a:blip r:embed="rId2"/>
            <a:stretch>
              <a:fillRect l="0" t="0" r="0" b="0"/>
            </a:stretch>
          </a:blipFill>
        </p:spPr>
      </p:sp>
      <p:sp>
        <p:nvSpPr>
          <p:cNvPr name="TextBox 3" id="3"/>
          <p:cNvSpPr txBox="true"/>
          <p:nvPr/>
        </p:nvSpPr>
        <p:spPr>
          <a:xfrm rot="0">
            <a:off x="5382390" y="-329569"/>
            <a:ext cx="7523219" cy="2682240"/>
          </a:xfrm>
          <a:prstGeom prst="rect">
            <a:avLst/>
          </a:prstGeom>
        </p:spPr>
        <p:txBody>
          <a:bodyPr anchor="t" rtlCol="false" tIns="0" lIns="0" bIns="0" rIns="0">
            <a:spAutoFit/>
          </a:bodyPr>
          <a:lstStyle/>
          <a:p>
            <a:pPr algn="ctr">
              <a:lnSpc>
                <a:spcPts val="22680"/>
              </a:lnSpc>
              <a:spcBef>
                <a:spcPct val="0"/>
              </a:spcBef>
            </a:pPr>
            <a:r>
              <a:rPr lang="en-US" b="true" sz="13500">
                <a:solidFill>
                  <a:srgbClr val="000000"/>
                </a:solidFill>
                <a:latin typeface="Fontuna Bold"/>
                <a:ea typeface="Fontuna Bold"/>
                <a:cs typeface="Fontuna Bold"/>
                <a:sym typeface="Fontuna Bold"/>
              </a:rPr>
              <a:t>EJEMPlO PRÁCTICO</a:t>
            </a:r>
          </a:p>
        </p:txBody>
      </p:sp>
      <p:sp>
        <p:nvSpPr>
          <p:cNvPr name="TextBox 4" id="4"/>
          <p:cNvSpPr txBox="true"/>
          <p:nvPr/>
        </p:nvSpPr>
        <p:spPr>
          <a:xfrm rot="0">
            <a:off x="1028700" y="1974102"/>
            <a:ext cx="13353450" cy="7284198"/>
          </a:xfrm>
          <a:prstGeom prst="rect">
            <a:avLst/>
          </a:prstGeom>
        </p:spPr>
        <p:txBody>
          <a:bodyPr anchor="t" rtlCol="false" tIns="0" lIns="0" bIns="0" rIns="0">
            <a:spAutoFit/>
          </a:bodyPr>
          <a:lstStyle/>
          <a:p>
            <a:pPr algn="just">
              <a:lnSpc>
                <a:spcPts val="3870"/>
              </a:lnSpc>
              <a:spcBef>
                <a:spcPct val="0"/>
              </a:spcBef>
            </a:pPr>
            <a:r>
              <a:rPr lang="en-US" sz="2304">
                <a:solidFill>
                  <a:srgbClr val="000000"/>
                </a:solidFill>
                <a:latin typeface="Inter"/>
                <a:ea typeface="Inter"/>
                <a:cs typeface="Inter"/>
                <a:sym typeface="Inter"/>
              </a:rPr>
              <a:t>Una compañía de seguros para autos ofrece dos tipos de póliza:</a:t>
            </a:r>
          </a:p>
          <a:p>
            <a:pPr algn="just" marL="497459" indent="-248729" lvl="1">
              <a:lnSpc>
                <a:spcPts val="3870"/>
              </a:lnSpc>
              <a:buFont typeface="Arial"/>
              <a:buChar char="•"/>
            </a:pPr>
            <a:r>
              <a:rPr lang="en-US" sz="2304">
                <a:solidFill>
                  <a:srgbClr val="000000"/>
                </a:solidFill>
                <a:latin typeface="Inter"/>
                <a:ea typeface="Inter"/>
                <a:cs typeface="Inter"/>
                <a:sym typeface="Inter"/>
              </a:rPr>
              <a:t>Cobertura Amplica (A).</a:t>
            </a:r>
          </a:p>
          <a:p>
            <a:pPr algn="just" marL="497459" indent="-248729" lvl="1">
              <a:lnSpc>
                <a:spcPts val="3870"/>
              </a:lnSpc>
              <a:buFont typeface="Arial"/>
              <a:buChar char="•"/>
            </a:pPr>
            <a:r>
              <a:rPr lang="en-US" sz="2304">
                <a:solidFill>
                  <a:srgbClr val="000000"/>
                </a:solidFill>
                <a:latin typeface="Inter"/>
                <a:ea typeface="Inter"/>
                <a:cs typeface="Inter"/>
                <a:sym typeface="Inter"/>
              </a:rPr>
              <a:t>Daños a terceros (B).</a:t>
            </a:r>
          </a:p>
          <a:p>
            <a:pPr algn="just">
              <a:lnSpc>
                <a:spcPts val="3870"/>
              </a:lnSpc>
              <a:spcBef>
                <a:spcPct val="0"/>
              </a:spcBef>
            </a:pPr>
          </a:p>
          <a:p>
            <a:pPr algn="just">
              <a:lnSpc>
                <a:spcPts val="3870"/>
              </a:lnSpc>
              <a:spcBef>
                <a:spcPct val="0"/>
              </a:spcBef>
            </a:pPr>
            <a:r>
              <a:rPr lang="en-US" sz="2304">
                <a:solidFill>
                  <a:srgbClr val="000000"/>
                </a:solidFill>
                <a:latin typeface="Inter"/>
                <a:ea typeface="Inter"/>
                <a:cs typeface="Inter"/>
                <a:sym typeface="Inter"/>
              </a:rPr>
              <a:t>Para le plan A la cuota base es de $ 500.00 y para el plan B de $ 250.00</a:t>
            </a:r>
          </a:p>
          <a:p>
            <a:pPr algn="just">
              <a:lnSpc>
                <a:spcPts val="3870"/>
              </a:lnSpc>
              <a:spcBef>
                <a:spcPct val="0"/>
              </a:spcBef>
            </a:pPr>
          </a:p>
          <a:p>
            <a:pPr algn="just">
              <a:lnSpc>
                <a:spcPts val="3870"/>
              </a:lnSpc>
              <a:spcBef>
                <a:spcPct val="0"/>
              </a:spcBef>
            </a:pPr>
            <a:r>
              <a:rPr lang="en-US" sz="2304">
                <a:solidFill>
                  <a:srgbClr val="000000"/>
                </a:solidFill>
                <a:latin typeface="Inter"/>
                <a:ea typeface="Inter"/>
                <a:cs typeface="Inter"/>
                <a:sym typeface="Inter"/>
              </a:rPr>
              <a:t>Ambos planes se les carga 10% del costo</a:t>
            </a:r>
          </a:p>
          <a:p>
            <a:pPr algn="just" marL="497459" indent="-248729" lvl="1">
              <a:lnSpc>
                <a:spcPts val="3870"/>
              </a:lnSpc>
              <a:buFont typeface="Arial"/>
              <a:buChar char="•"/>
            </a:pPr>
            <a:r>
              <a:rPr lang="en-US" sz="2304">
                <a:solidFill>
                  <a:srgbClr val="000000"/>
                </a:solidFill>
                <a:latin typeface="Inter"/>
                <a:ea typeface="Inter"/>
                <a:cs typeface="Inter"/>
                <a:sym typeface="Inter"/>
              </a:rPr>
              <a:t>Si la persona que conduce bebe alcohol</a:t>
            </a:r>
          </a:p>
          <a:p>
            <a:pPr algn="just" marL="497459" indent="-248729" lvl="1">
              <a:lnSpc>
                <a:spcPts val="3870"/>
              </a:lnSpc>
              <a:buFont typeface="Arial"/>
              <a:buChar char="•"/>
            </a:pPr>
            <a:r>
              <a:rPr lang="en-US" sz="2304">
                <a:solidFill>
                  <a:srgbClr val="000000"/>
                </a:solidFill>
                <a:latin typeface="Inter"/>
                <a:ea typeface="Inter"/>
                <a:cs typeface="Inter"/>
                <a:sym typeface="Inter"/>
              </a:rPr>
              <a:t>5% si utiliza lentes</a:t>
            </a:r>
          </a:p>
          <a:p>
            <a:pPr algn="just" marL="497459" indent="-248729" lvl="1">
              <a:lnSpc>
                <a:spcPts val="3870"/>
              </a:lnSpc>
              <a:buFont typeface="Arial"/>
              <a:buChar char="•"/>
            </a:pPr>
            <a:r>
              <a:rPr lang="en-US" sz="2304">
                <a:solidFill>
                  <a:srgbClr val="000000"/>
                </a:solidFill>
                <a:latin typeface="Inter"/>
                <a:ea typeface="Inter"/>
                <a:cs typeface="Inter"/>
                <a:sym typeface="Inter"/>
              </a:rPr>
              <a:t>5% si padece alguna enfermedad</a:t>
            </a:r>
          </a:p>
          <a:p>
            <a:pPr algn="just" marL="497459" indent="-248729" lvl="1">
              <a:lnSpc>
                <a:spcPts val="3870"/>
              </a:lnSpc>
              <a:buFont typeface="Arial"/>
              <a:buChar char="•"/>
            </a:pPr>
            <a:r>
              <a:rPr lang="en-US" sz="2304">
                <a:solidFill>
                  <a:srgbClr val="000000"/>
                </a:solidFill>
                <a:latin typeface="Inter"/>
                <a:ea typeface="Inter"/>
                <a:cs typeface="Inter"/>
                <a:sym typeface="Inter"/>
              </a:rPr>
              <a:t>Si tiene más de 40 años se le carga 20% de lo contrario sólo 10%</a:t>
            </a:r>
          </a:p>
          <a:p>
            <a:pPr algn="just">
              <a:lnSpc>
                <a:spcPts val="3870"/>
              </a:lnSpc>
              <a:spcBef>
                <a:spcPct val="0"/>
              </a:spcBef>
            </a:pPr>
          </a:p>
          <a:p>
            <a:pPr algn="just">
              <a:lnSpc>
                <a:spcPts val="3870"/>
              </a:lnSpc>
              <a:spcBef>
                <a:spcPct val="0"/>
              </a:spcBef>
            </a:pPr>
            <a:r>
              <a:rPr lang="en-US" sz="2304">
                <a:solidFill>
                  <a:srgbClr val="000000"/>
                </a:solidFill>
                <a:latin typeface="Inter"/>
                <a:ea typeface="Inter"/>
                <a:cs typeface="Inter"/>
                <a:sym typeface="Inter"/>
              </a:rPr>
              <a:t>El programa se le solicita que ingrese los datos del cliente siendo estos: Nombre, tipo de licencia, DPI, No. Licencia y género.</a:t>
            </a:r>
          </a:p>
          <a:p>
            <a:pPr algn="just">
              <a:lnSpc>
                <a:spcPts val="3870"/>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86" y="3027817"/>
            <a:ext cx="12625502" cy="783441"/>
          </a:xfrm>
          <a:custGeom>
            <a:avLst/>
            <a:gdLst/>
            <a:ahLst/>
            <a:cxnLst/>
            <a:rect r="r" b="b" t="t" l="l"/>
            <a:pathLst>
              <a:path h="783441" w="12625502">
                <a:moveTo>
                  <a:pt x="0" y="0"/>
                </a:moveTo>
                <a:lnTo>
                  <a:pt x="12625502" y="0"/>
                </a:lnTo>
                <a:lnTo>
                  <a:pt x="12625502" y="783440"/>
                </a:lnTo>
                <a:lnTo>
                  <a:pt x="0" y="7834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96344" y="5761148"/>
            <a:ext cx="4695311" cy="4114800"/>
          </a:xfrm>
          <a:custGeom>
            <a:avLst/>
            <a:gdLst/>
            <a:ahLst/>
            <a:cxnLst/>
            <a:rect r="r" b="b" t="t" l="l"/>
            <a:pathLst>
              <a:path h="4114800" w="4695311">
                <a:moveTo>
                  <a:pt x="0" y="0"/>
                </a:moveTo>
                <a:lnTo>
                  <a:pt x="4695312" y="0"/>
                </a:lnTo>
                <a:lnTo>
                  <a:pt x="469531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384894" y="400050"/>
            <a:ext cx="3518212" cy="2682240"/>
          </a:xfrm>
          <a:prstGeom prst="rect">
            <a:avLst/>
          </a:prstGeom>
        </p:spPr>
        <p:txBody>
          <a:bodyPr anchor="t" rtlCol="false" tIns="0" lIns="0" bIns="0" rIns="0">
            <a:spAutoFit/>
          </a:bodyPr>
          <a:lstStyle/>
          <a:p>
            <a:pPr algn="ctr">
              <a:lnSpc>
                <a:spcPts val="22680"/>
              </a:lnSpc>
              <a:spcBef>
                <a:spcPct val="0"/>
              </a:spcBef>
            </a:pPr>
            <a:r>
              <a:rPr lang="en-US" b="true" sz="13500">
                <a:solidFill>
                  <a:srgbClr val="000000"/>
                </a:solidFill>
                <a:latin typeface="Fontuna Bold"/>
                <a:ea typeface="Fontuna Bold"/>
                <a:cs typeface="Fontuna Bold"/>
                <a:sym typeface="Fontuna Bold"/>
              </a:rPr>
              <a:t>RESUMEN</a:t>
            </a:r>
          </a:p>
        </p:txBody>
      </p:sp>
      <p:sp>
        <p:nvSpPr>
          <p:cNvPr name="TextBox 5" id="5"/>
          <p:cNvSpPr txBox="true"/>
          <p:nvPr/>
        </p:nvSpPr>
        <p:spPr>
          <a:xfrm rot="0">
            <a:off x="2836323" y="3200462"/>
            <a:ext cx="12615353" cy="1882448"/>
          </a:xfrm>
          <a:prstGeom prst="rect">
            <a:avLst/>
          </a:prstGeom>
        </p:spPr>
        <p:txBody>
          <a:bodyPr anchor="t" rtlCol="false" tIns="0" lIns="0" bIns="0" rIns="0">
            <a:spAutoFit/>
          </a:bodyPr>
          <a:lstStyle/>
          <a:p>
            <a:pPr algn="l" marL="990699" indent="-495350" lvl="1">
              <a:lnSpc>
                <a:spcPts val="7709"/>
              </a:lnSpc>
              <a:buFont typeface="Arial"/>
              <a:buChar char="•"/>
            </a:pPr>
            <a:r>
              <a:rPr lang="en-US" sz="4588">
                <a:solidFill>
                  <a:srgbClr val="000000"/>
                </a:solidFill>
                <a:latin typeface="Inter"/>
                <a:ea typeface="Inter"/>
                <a:cs typeface="Inter"/>
                <a:sym typeface="Inter"/>
              </a:rPr>
              <a:t>USO DE FUN</a:t>
            </a:r>
            <a:r>
              <a:rPr lang="en-US" sz="4588">
                <a:solidFill>
                  <a:srgbClr val="000000"/>
                </a:solidFill>
                <a:latin typeface="Inter"/>
                <a:ea typeface="Inter"/>
                <a:cs typeface="Inter"/>
                <a:sym typeface="Inter"/>
              </a:rPr>
              <a:t>CIONES Y PROCEDIMIENTOS</a:t>
            </a:r>
          </a:p>
          <a:p>
            <a:pPr algn="l" marL="990699" indent="-495350" lvl="1">
              <a:lnSpc>
                <a:spcPts val="7709"/>
              </a:lnSpc>
              <a:buFont typeface="Arial"/>
              <a:buChar char="•"/>
            </a:pPr>
            <a:r>
              <a:rPr lang="en-US" sz="4588">
                <a:solidFill>
                  <a:srgbClr val="000000"/>
                </a:solidFill>
                <a:latin typeface="Inter"/>
                <a:ea typeface="Inter"/>
                <a:cs typeface="Inter"/>
                <a:sym typeface="Inter"/>
              </a:rPr>
              <a:t>USO DE CONDICIONES Y SELECT CASE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507390" y="1000125"/>
            <a:ext cx="13503297" cy="1061999"/>
          </a:xfrm>
          <a:custGeom>
            <a:avLst/>
            <a:gdLst/>
            <a:ahLst/>
            <a:cxnLst/>
            <a:rect r="r" b="b" t="t" l="l"/>
            <a:pathLst>
              <a:path h="1061999" w="13503297">
                <a:moveTo>
                  <a:pt x="0" y="0"/>
                </a:moveTo>
                <a:lnTo>
                  <a:pt x="13503297" y="0"/>
                </a:lnTo>
                <a:lnTo>
                  <a:pt x="13503297" y="1061999"/>
                </a:lnTo>
                <a:lnTo>
                  <a:pt x="0" y="10619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85452" y="61722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497403" y="1905000"/>
            <a:ext cx="4269156" cy="1178624"/>
          </a:xfrm>
          <a:prstGeom prst="rect">
            <a:avLst/>
          </a:prstGeom>
        </p:spPr>
        <p:txBody>
          <a:bodyPr anchor="t" rtlCol="false" tIns="0" lIns="0" bIns="0" rIns="0">
            <a:spAutoFit/>
          </a:bodyPr>
          <a:lstStyle/>
          <a:p>
            <a:pPr algn="l">
              <a:lnSpc>
                <a:spcPts val="6844"/>
              </a:lnSpc>
            </a:pPr>
            <a:r>
              <a:rPr lang="en-US" b="true" sz="13500">
                <a:solidFill>
                  <a:srgbClr val="131416"/>
                </a:solidFill>
                <a:latin typeface="Fontuna Bold"/>
                <a:ea typeface="Fontuna Bold"/>
                <a:cs typeface="Fontuna Bold"/>
                <a:sym typeface="Fontuna Bold"/>
              </a:rPr>
              <a:t>DISCIPLINA</a:t>
            </a:r>
          </a:p>
        </p:txBody>
      </p:sp>
      <p:sp>
        <p:nvSpPr>
          <p:cNvPr name="TextBox 5" id="5"/>
          <p:cNvSpPr txBox="true"/>
          <p:nvPr/>
        </p:nvSpPr>
        <p:spPr>
          <a:xfrm rot="0">
            <a:off x="2246312" y="3925325"/>
            <a:ext cx="14025452" cy="1785035"/>
          </a:xfrm>
          <a:prstGeom prst="rect">
            <a:avLst/>
          </a:prstGeom>
        </p:spPr>
        <p:txBody>
          <a:bodyPr anchor="t" rtlCol="false" tIns="0" lIns="0" bIns="0" rIns="0">
            <a:spAutoFit/>
          </a:bodyPr>
          <a:lstStyle/>
          <a:p>
            <a:pPr algn="ctr">
              <a:lnSpc>
                <a:spcPts val="7137"/>
              </a:lnSpc>
              <a:spcBef>
                <a:spcPct val="0"/>
              </a:spcBef>
            </a:pPr>
            <a:r>
              <a:rPr lang="en-US" sz="5098">
                <a:solidFill>
                  <a:srgbClr val="131416"/>
                </a:solidFill>
                <a:latin typeface="Inter"/>
                <a:ea typeface="Inter"/>
                <a:cs typeface="Inter"/>
                <a:sym typeface="Inter"/>
              </a:rPr>
              <a:t>Frase: El repaso constante fortalece lo aprendido y forma caracter.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503" y="-63503"/>
            <a:ext cx="16266538" cy="5143510"/>
          </a:xfrm>
          <a:custGeom>
            <a:avLst/>
            <a:gdLst/>
            <a:ahLst/>
            <a:cxnLst/>
            <a:rect r="r" b="b" t="t" l="l"/>
            <a:pathLst>
              <a:path h="5143510" w="16266538">
                <a:moveTo>
                  <a:pt x="0" y="0"/>
                </a:moveTo>
                <a:lnTo>
                  <a:pt x="16266538" y="0"/>
                </a:lnTo>
                <a:lnTo>
                  <a:pt x="16266538" y="5143509"/>
                </a:lnTo>
                <a:lnTo>
                  <a:pt x="0" y="5143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450984" y="4069765"/>
            <a:ext cx="11386033" cy="2324100"/>
          </a:xfrm>
          <a:prstGeom prst="rect">
            <a:avLst/>
          </a:prstGeom>
        </p:spPr>
        <p:txBody>
          <a:bodyPr anchor="t" rtlCol="false" tIns="0" lIns="0" bIns="0" rIns="0">
            <a:spAutoFit/>
          </a:bodyPr>
          <a:lstStyle/>
          <a:p>
            <a:pPr algn="l">
              <a:lnSpc>
                <a:spcPts val="18900"/>
              </a:lnSpc>
            </a:pPr>
            <a:r>
              <a:rPr lang="en-US" b="true" sz="13500">
                <a:solidFill>
                  <a:srgbClr val="131416"/>
                </a:solidFill>
                <a:latin typeface="Fontuna Bold"/>
                <a:ea typeface="Fontuna Bold"/>
                <a:cs typeface="Fontuna Bold"/>
                <a:sym typeface="Fontuna Bold"/>
              </a:rPr>
              <a:t>Practiquemos lo aprendido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97" y="0"/>
            <a:ext cx="18254196" cy="10287000"/>
          </a:xfrm>
          <a:custGeom>
            <a:avLst/>
            <a:gdLst/>
            <a:ahLst/>
            <a:cxnLst/>
            <a:rect r="r" b="b" t="t" l="l"/>
            <a:pathLst>
              <a:path h="10287000" w="18254196">
                <a:moveTo>
                  <a:pt x="0" y="0"/>
                </a:moveTo>
                <a:lnTo>
                  <a:pt x="18254196" y="0"/>
                </a:lnTo>
                <a:lnTo>
                  <a:pt x="18254196"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503" y="0"/>
            <a:ext cx="18334596" cy="10287000"/>
          </a:xfrm>
          <a:custGeom>
            <a:avLst/>
            <a:gdLst/>
            <a:ahLst/>
            <a:cxnLst/>
            <a:rect r="r" b="b" t="t" l="l"/>
            <a:pathLst>
              <a:path h="10287000" w="18334596">
                <a:moveTo>
                  <a:pt x="0" y="0"/>
                </a:moveTo>
                <a:lnTo>
                  <a:pt x="18334596" y="0"/>
                </a:lnTo>
                <a:lnTo>
                  <a:pt x="18334596" y="10287000"/>
                </a:lnTo>
                <a:lnTo>
                  <a:pt x="0" y="10287000"/>
                </a:lnTo>
                <a:lnTo>
                  <a:pt x="0" y="0"/>
                </a:lnTo>
                <a:close/>
              </a:path>
            </a:pathLst>
          </a:custGeom>
          <a:blipFill>
            <a:blip r:embed="rId4"/>
            <a:stretch>
              <a:fillRect l="0" t="-220" r="0" b="-220"/>
            </a:stretch>
          </a:blipFill>
        </p:spPr>
      </p:sp>
      <p:sp>
        <p:nvSpPr>
          <p:cNvPr name="Freeform 4" id="4"/>
          <p:cNvSpPr/>
          <p:nvPr/>
        </p:nvSpPr>
        <p:spPr>
          <a:xfrm flipH="false" flipV="false" rot="0">
            <a:off x="-63503" y="1434227"/>
            <a:ext cx="18407624" cy="4333504"/>
          </a:xfrm>
          <a:custGeom>
            <a:avLst/>
            <a:gdLst/>
            <a:ahLst/>
            <a:cxnLst/>
            <a:rect r="r" b="b" t="t" l="l"/>
            <a:pathLst>
              <a:path h="4333504" w="18407624">
                <a:moveTo>
                  <a:pt x="0" y="0"/>
                </a:moveTo>
                <a:lnTo>
                  <a:pt x="18407624" y="0"/>
                </a:lnTo>
                <a:lnTo>
                  <a:pt x="18407624" y="4333503"/>
                </a:lnTo>
                <a:lnTo>
                  <a:pt x="0" y="43335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197872" y="1726416"/>
            <a:ext cx="5276736" cy="2466797"/>
          </a:xfrm>
          <a:prstGeom prst="rect">
            <a:avLst/>
          </a:prstGeom>
        </p:spPr>
        <p:txBody>
          <a:bodyPr anchor="t" rtlCol="false" tIns="0" lIns="0" bIns="0" rIns="0">
            <a:spAutoFit/>
          </a:bodyPr>
          <a:lstStyle/>
          <a:p>
            <a:pPr algn="l">
              <a:lnSpc>
                <a:spcPts val="3407"/>
              </a:lnSpc>
            </a:pPr>
            <a:r>
              <a:rPr lang="en-US" b="true" sz="2799">
                <a:solidFill>
                  <a:srgbClr val="000000"/>
                </a:solidFill>
                <a:latin typeface="Arial Bold"/>
                <a:ea typeface="Arial Bold"/>
                <a:cs typeface="Arial Bold"/>
                <a:sym typeface="Arial Bold"/>
              </a:rPr>
              <a:t>Nombre de la actividad:</a:t>
            </a:r>
          </a:p>
          <a:p>
            <a:pPr algn="l">
              <a:lnSpc>
                <a:spcPts val="3407"/>
              </a:lnSpc>
            </a:pPr>
          </a:p>
          <a:p>
            <a:pPr algn="l">
              <a:lnSpc>
                <a:spcPts val="2253"/>
              </a:lnSpc>
            </a:pPr>
            <a:r>
              <a:rPr lang="en-US" b="true" sz="2799">
                <a:solidFill>
                  <a:srgbClr val="000000"/>
                </a:solidFill>
                <a:latin typeface="Arial Bold"/>
                <a:ea typeface="Arial Bold"/>
                <a:cs typeface="Arial Bold"/>
                <a:sym typeface="Arial Bold"/>
              </a:rPr>
              <a:t>Cantidad de participantes:</a:t>
            </a:r>
          </a:p>
          <a:p>
            <a:pPr algn="l">
              <a:lnSpc>
                <a:spcPts val="2253"/>
              </a:lnSpc>
            </a:pPr>
          </a:p>
          <a:p>
            <a:pPr algn="l">
              <a:lnSpc>
                <a:spcPts val="2254"/>
              </a:lnSpc>
            </a:pPr>
          </a:p>
          <a:p>
            <a:pPr algn="l">
              <a:lnSpc>
                <a:spcPts val="1399"/>
              </a:lnSpc>
            </a:pPr>
            <a:r>
              <a:rPr lang="en-US" b="true" sz="2799">
                <a:solidFill>
                  <a:srgbClr val="000000"/>
                </a:solidFill>
                <a:latin typeface="Arial Bold"/>
                <a:ea typeface="Arial Bold"/>
                <a:cs typeface="Arial Bold"/>
                <a:sym typeface="Arial Bold"/>
              </a:rPr>
              <a:t>Doy fe que esta actividad está </a:t>
            </a:r>
          </a:p>
          <a:p>
            <a:pPr algn="l">
              <a:lnSpc>
                <a:spcPts val="5415"/>
              </a:lnSpc>
            </a:pPr>
            <a:r>
              <a:rPr lang="en-US" b="true" sz="2799">
                <a:solidFill>
                  <a:srgbClr val="000000"/>
                </a:solidFill>
                <a:latin typeface="Arial Bold"/>
                <a:ea typeface="Arial Bold"/>
                <a:cs typeface="Arial Bold"/>
                <a:sym typeface="Arial Bold"/>
              </a:rPr>
              <a:t>planificada en dtt (Sí/No):</a:t>
            </a:r>
          </a:p>
        </p:txBody>
      </p:sp>
      <p:sp>
        <p:nvSpPr>
          <p:cNvPr name="TextBox 6" id="6"/>
          <p:cNvSpPr txBox="true"/>
          <p:nvPr/>
        </p:nvSpPr>
        <p:spPr>
          <a:xfrm rot="0">
            <a:off x="10837374" y="2159213"/>
            <a:ext cx="2677535" cy="2009597"/>
          </a:xfrm>
          <a:prstGeom prst="rect">
            <a:avLst/>
          </a:prstGeom>
        </p:spPr>
        <p:txBody>
          <a:bodyPr anchor="t" rtlCol="false" tIns="0" lIns="0" bIns="0" rIns="0">
            <a:spAutoFit/>
          </a:bodyPr>
          <a:lstStyle/>
          <a:p>
            <a:pPr algn="l">
              <a:lnSpc>
                <a:spcPts val="3407"/>
              </a:lnSpc>
            </a:pPr>
            <a:r>
              <a:rPr lang="en-US" b="true" sz="2799">
                <a:solidFill>
                  <a:srgbClr val="000000"/>
                </a:solidFill>
                <a:latin typeface="Arial Bold"/>
                <a:ea typeface="Arial Bold"/>
                <a:cs typeface="Arial Bold"/>
                <a:sym typeface="Arial Bold"/>
              </a:rPr>
              <a:t>Hora de inicio:</a:t>
            </a:r>
          </a:p>
          <a:p>
            <a:pPr algn="l">
              <a:lnSpc>
                <a:spcPts val="3407"/>
              </a:lnSpc>
            </a:pPr>
          </a:p>
          <a:p>
            <a:pPr algn="l">
              <a:lnSpc>
                <a:spcPts val="4561"/>
              </a:lnSpc>
            </a:pPr>
            <a:r>
              <a:rPr lang="en-US" b="true" sz="2799">
                <a:solidFill>
                  <a:srgbClr val="000000"/>
                </a:solidFill>
                <a:latin typeface="Arial Bold"/>
                <a:ea typeface="Arial Bold"/>
                <a:cs typeface="Arial Bold"/>
                <a:sym typeface="Arial Bold"/>
              </a:rPr>
              <a:t>Hora de fin:</a:t>
            </a:r>
          </a:p>
          <a:p>
            <a:pPr algn="l">
              <a:lnSpc>
                <a:spcPts val="5415"/>
              </a:lnSpc>
            </a:pPr>
            <a:r>
              <a:rPr lang="en-US" b="true" sz="2799">
                <a:solidFill>
                  <a:srgbClr val="000000"/>
                </a:solidFill>
                <a:latin typeface="Arial Bold"/>
                <a:ea typeface="Arial Bold"/>
                <a:cs typeface="Arial Bold"/>
                <a:sym typeface="Arial Bold"/>
              </a:rPr>
              <a:t>Duración (min):</a:t>
            </a:r>
          </a:p>
        </p:txBody>
      </p:sp>
      <p:sp>
        <p:nvSpPr>
          <p:cNvPr name="TextBox 7" id="7"/>
          <p:cNvSpPr txBox="true"/>
          <p:nvPr/>
        </p:nvSpPr>
        <p:spPr>
          <a:xfrm rot="0">
            <a:off x="180975" y="4205792"/>
            <a:ext cx="15022439" cy="743207"/>
          </a:xfrm>
          <a:prstGeom prst="rect">
            <a:avLst/>
          </a:prstGeom>
        </p:spPr>
        <p:txBody>
          <a:bodyPr anchor="t" rtlCol="false" tIns="0" lIns="0" bIns="0" rIns="0">
            <a:spAutoFit/>
          </a:bodyPr>
          <a:lstStyle/>
          <a:p>
            <a:pPr algn="l">
              <a:lnSpc>
                <a:spcPts val="6507"/>
              </a:lnSpc>
            </a:pPr>
            <a:r>
              <a:rPr lang="en-US" b="true" sz="2799">
                <a:solidFill>
                  <a:srgbClr val="000000"/>
                </a:solidFill>
                <a:latin typeface="Arial Bold"/>
                <a:ea typeface="Arial Bold"/>
                <a:cs typeface="Arial Bold"/>
                <a:sym typeface="Arial Bold"/>
              </a:rPr>
              <a:t>Participantes: llenar las siguientes cajas de texto (tomar información del chat del meet)</a:t>
            </a:r>
          </a:p>
        </p:txBody>
      </p:sp>
      <p:sp>
        <p:nvSpPr>
          <p:cNvPr name="TextBox 8" id="8"/>
          <p:cNvSpPr txBox="true"/>
          <p:nvPr/>
        </p:nvSpPr>
        <p:spPr>
          <a:xfrm rot="0">
            <a:off x="6045101" y="1616303"/>
            <a:ext cx="3339405" cy="451155"/>
          </a:xfrm>
          <a:prstGeom prst="rect">
            <a:avLst/>
          </a:prstGeom>
        </p:spPr>
        <p:txBody>
          <a:bodyPr anchor="t" rtlCol="false" tIns="0" lIns="0" bIns="0" rIns="0">
            <a:spAutoFit/>
          </a:bodyPr>
          <a:lstStyle/>
          <a:p>
            <a:pPr algn="ctr">
              <a:lnSpc>
                <a:spcPts val="3407"/>
              </a:lnSpc>
              <a:spcBef>
                <a:spcPct val="0"/>
              </a:spcBef>
            </a:pPr>
            <a:r>
              <a:rPr lang="en-US" b="true" sz="2799">
                <a:solidFill>
                  <a:srgbClr val="000000"/>
                </a:solidFill>
                <a:latin typeface="Arial Bold"/>
                <a:ea typeface="Arial Bold"/>
                <a:cs typeface="Arial Bold"/>
                <a:sym typeface="Arial Bold"/>
              </a:rPr>
              <a:t>Evaluacion docente</a:t>
            </a:r>
          </a:p>
        </p:txBody>
      </p:sp>
      <p:sp>
        <p:nvSpPr>
          <p:cNvPr name="TextBox 9" id="9"/>
          <p:cNvSpPr txBox="true"/>
          <p:nvPr/>
        </p:nvSpPr>
        <p:spPr>
          <a:xfrm rot="0">
            <a:off x="7714804" y="2522947"/>
            <a:ext cx="197793" cy="451155"/>
          </a:xfrm>
          <a:prstGeom prst="rect">
            <a:avLst/>
          </a:prstGeom>
        </p:spPr>
        <p:txBody>
          <a:bodyPr anchor="t" rtlCol="false" tIns="0" lIns="0" bIns="0" rIns="0">
            <a:spAutoFit/>
          </a:bodyPr>
          <a:lstStyle/>
          <a:p>
            <a:pPr algn="ctr">
              <a:lnSpc>
                <a:spcPts val="3407"/>
              </a:lnSpc>
              <a:spcBef>
                <a:spcPct val="0"/>
              </a:spcBef>
            </a:pPr>
            <a:r>
              <a:rPr lang="en-US" b="true" sz="2799">
                <a:solidFill>
                  <a:srgbClr val="000000"/>
                </a:solidFill>
                <a:latin typeface="Arial Bold"/>
                <a:ea typeface="Arial Bold"/>
                <a:cs typeface="Arial Bold"/>
                <a:sym typeface="Arial Bold"/>
              </a:rPr>
              <a:t>2</a:t>
            </a:r>
          </a:p>
        </p:txBody>
      </p:sp>
      <p:sp>
        <p:nvSpPr>
          <p:cNvPr name="TextBox 10" id="10"/>
          <p:cNvSpPr txBox="true"/>
          <p:nvPr/>
        </p:nvSpPr>
        <p:spPr>
          <a:xfrm rot="0">
            <a:off x="15278090" y="2159213"/>
            <a:ext cx="909489" cy="451155"/>
          </a:xfrm>
          <a:prstGeom prst="rect">
            <a:avLst/>
          </a:prstGeom>
        </p:spPr>
        <p:txBody>
          <a:bodyPr anchor="t" rtlCol="false" tIns="0" lIns="0" bIns="0" rIns="0">
            <a:spAutoFit/>
          </a:bodyPr>
          <a:lstStyle/>
          <a:p>
            <a:pPr algn="ctr">
              <a:lnSpc>
                <a:spcPts val="3407"/>
              </a:lnSpc>
              <a:spcBef>
                <a:spcPct val="0"/>
              </a:spcBef>
            </a:pPr>
            <a:r>
              <a:rPr lang="en-US" b="true" sz="2799">
                <a:solidFill>
                  <a:srgbClr val="000000"/>
                </a:solidFill>
                <a:latin typeface="Arial Bold"/>
                <a:ea typeface="Arial Bold"/>
                <a:cs typeface="Arial Bold"/>
                <a:sym typeface="Arial Bold"/>
              </a:rPr>
              <a:t>13:15</a:t>
            </a:r>
          </a:p>
        </p:txBody>
      </p:sp>
      <p:sp>
        <p:nvSpPr>
          <p:cNvPr name="TextBox 11" id="11"/>
          <p:cNvSpPr txBox="true"/>
          <p:nvPr/>
        </p:nvSpPr>
        <p:spPr>
          <a:xfrm rot="0">
            <a:off x="15278090" y="2938434"/>
            <a:ext cx="909489" cy="451155"/>
          </a:xfrm>
          <a:prstGeom prst="rect">
            <a:avLst/>
          </a:prstGeom>
        </p:spPr>
        <p:txBody>
          <a:bodyPr anchor="t" rtlCol="false" tIns="0" lIns="0" bIns="0" rIns="0">
            <a:spAutoFit/>
          </a:bodyPr>
          <a:lstStyle/>
          <a:p>
            <a:pPr algn="ctr">
              <a:lnSpc>
                <a:spcPts val="3407"/>
              </a:lnSpc>
              <a:spcBef>
                <a:spcPct val="0"/>
              </a:spcBef>
            </a:pPr>
            <a:r>
              <a:rPr lang="en-US" b="true" sz="2799">
                <a:solidFill>
                  <a:srgbClr val="000000"/>
                </a:solidFill>
                <a:latin typeface="Arial Bold"/>
                <a:ea typeface="Arial Bold"/>
                <a:cs typeface="Arial Bold"/>
                <a:sym typeface="Arial Bold"/>
              </a:rPr>
              <a:t>13:25</a:t>
            </a:r>
          </a:p>
        </p:txBody>
      </p:sp>
      <p:sp>
        <p:nvSpPr>
          <p:cNvPr name="TextBox 12" id="12"/>
          <p:cNvSpPr txBox="true"/>
          <p:nvPr/>
        </p:nvSpPr>
        <p:spPr>
          <a:xfrm rot="0">
            <a:off x="15203414" y="3713439"/>
            <a:ext cx="1476270" cy="451155"/>
          </a:xfrm>
          <a:prstGeom prst="rect">
            <a:avLst/>
          </a:prstGeom>
        </p:spPr>
        <p:txBody>
          <a:bodyPr anchor="t" rtlCol="false" tIns="0" lIns="0" bIns="0" rIns="0">
            <a:spAutoFit/>
          </a:bodyPr>
          <a:lstStyle/>
          <a:p>
            <a:pPr algn="ctr">
              <a:lnSpc>
                <a:spcPts val="3407"/>
              </a:lnSpc>
              <a:spcBef>
                <a:spcPct val="0"/>
              </a:spcBef>
            </a:pPr>
            <a:r>
              <a:rPr lang="en-US" b="true" sz="2799">
                <a:solidFill>
                  <a:srgbClr val="000000"/>
                </a:solidFill>
                <a:latin typeface="Arial Bold"/>
                <a:ea typeface="Arial Bold"/>
                <a:cs typeface="Arial Bold"/>
                <a:sym typeface="Arial Bold"/>
              </a:rPr>
              <a:t>10min</a:t>
            </a:r>
          </a:p>
        </p:txBody>
      </p:sp>
      <p:sp>
        <p:nvSpPr>
          <p:cNvPr name="TextBox 13" id="13"/>
          <p:cNvSpPr txBox="true"/>
          <p:nvPr/>
        </p:nvSpPr>
        <p:spPr>
          <a:xfrm rot="0">
            <a:off x="495151" y="5114925"/>
            <a:ext cx="8332291" cy="451155"/>
          </a:xfrm>
          <a:prstGeom prst="rect">
            <a:avLst/>
          </a:prstGeom>
        </p:spPr>
        <p:txBody>
          <a:bodyPr anchor="t" rtlCol="false" tIns="0" lIns="0" bIns="0" rIns="0">
            <a:spAutoFit/>
          </a:bodyPr>
          <a:lstStyle/>
          <a:p>
            <a:pPr algn="ctr">
              <a:lnSpc>
                <a:spcPts val="3407"/>
              </a:lnSpc>
              <a:spcBef>
                <a:spcPct val="0"/>
              </a:spcBef>
            </a:pPr>
            <a:r>
              <a:rPr lang="en-US" b="true" sz="2799">
                <a:solidFill>
                  <a:srgbClr val="000000"/>
                </a:solidFill>
                <a:latin typeface="Arial Bold"/>
                <a:ea typeface="Arial Bold"/>
                <a:cs typeface="Arial Bold"/>
                <a:sym typeface="Arial Bold"/>
              </a:rPr>
              <a:t>FILIBER</a:t>
            </a:r>
            <a:r>
              <a:rPr lang="en-US" b="true" sz="2799">
                <a:solidFill>
                  <a:srgbClr val="000000"/>
                </a:solidFill>
                <a:latin typeface="Arial Bold"/>
                <a:ea typeface="Arial Bold"/>
                <a:cs typeface="Arial Bold"/>
                <a:sym typeface="Arial Bold"/>
              </a:rPr>
              <a:t>TO DE LEÓN JUAREZ              201904078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76286" y="699973"/>
            <a:ext cx="9135428" cy="5691797"/>
          </a:xfrm>
          <a:custGeom>
            <a:avLst/>
            <a:gdLst/>
            <a:ahLst/>
            <a:cxnLst/>
            <a:rect r="r" b="b" t="t" l="l"/>
            <a:pathLst>
              <a:path h="5691797" w="9135428">
                <a:moveTo>
                  <a:pt x="0" y="0"/>
                </a:moveTo>
                <a:lnTo>
                  <a:pt x="9135428" y="0"/>
                </a:lnTo>
                <a:lnTo>
                  <a:pt x="9135428" y="5691797"/>
                </a:lnTo>
                <a:lnTo>
                  <a:pt x="0" y="56917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791486" y="6796954"/>
            <a:ext cx="6705000" cy="769496"/>
          </a:xfrm>
          <a:custGeom>
            <a:avLst/>
            <a:gdLst/>
            <a:ahLst/>
            <a:cxnLst/>
            <a:rect r="r" b="b" t="t" l="l"/>
            <a:pathLst>
              <a:path h="769496" w="6705000">
                <a:moveTo>
                  <a:pt x="0" y="0"/>
                </a:moveTo>
                <a:lnTo>
                  <a:pt x="6705000" y="0"/>
                </a:lnTo>
                <a:lnTo>
                  <a:pt x="6705000" y="769496"/>
                </a:lnTo>
                <a:lnTo>
                  <a:pt x="0" y="7694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576286" y="699973"/>
            <a:ext cx="9135428" cy="5691797"/>
          </a:xfrm>
          <a:custGeom>
            <a:avLst/>
            <a:gdLst/>
            <a:ahLst/>
            <a:cxnLst/>
            <a:rect r="r" b="b" t="t" l="l"/>
            <a:pathLst>
              <a:path h="5691797" w="9135428">
                <a:moveTo>
                  <a:pt x="0" y="0"/>
                </a:moveTo>
                <a:lnTo>
                  <a:pt x="9135428" y="0"/>
                </a:lnTo>
                <a:lnTo>
                  <a:pt x="9135428" y="5691797"/>
                </a:lnTo>
                <a:lnTo>
                  <a:pt x="0" y="5691797"/>
                </a:lnTo>
                <a:lnTo>
                  <a:pt x="0" y="0"/>
                </a:lnTo>
                <a:close/>
              </a:path>
            </a:pathLst>
          </a:custGeom>
          <a:blipFill>
            <a:blip r:embed="rId6"/>
            <a:stretch>
              <a:fillRect l="0" t="0" r="0" b="0"/>
            </a:stretch>
          </a:blipFill>
        </p:spPr>
      </p:sp>
      <p:sp>
        <p:nvSpPr>
          <p:cNvPr name="TextBox 5" id="5"/>
          <p:cNvSpPr txBox="true"/>
          <p:nvPr/>
        </p:nvSpPr>
        <p:spPr>
          <a:xfrm rot="0">
            <a:off x="7574099" y="6635506"/>
            <a:ext cx="3511323" cy="2076450"/>
          </a:xfrm>
          <a:prstGeom prst="rect">
            <a:avLst/>
          </a:prstGeom>
        </p:spPr>
        <p:txBody>
          <a:bodyPr anchor="t" rtlCol="false" tIns="0" lIns="0" bIns="0" rIns="0">
            <a:spAutoFit/>
          </a:bodyPr>
          <a:lstStyle/>
          <a:p>
            <a:pPr algn="l">
              <a:lnSpc>
                <a:spcPts val="16800"/>
              </a:lnSpc>
            </a:pPr>
            <a:r>
              <a:rPr lang="en-US" b="true" sz="12000">
                <a:solidFill>
                  <a:srgbClr val="131416"/>
                </a:solidFill>
                <a:latin typeface="Fontuna Bold"/>
                <a:ea typeface="Fontuna Bold"/>
                <a:cs typeface="Fontuna Bold"/>
                <a:sym typeface="Fontuna Bold"/>
              </a:rPr>
              <a:t>DUDAS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765361" y="596598"/>
            <a:ext cx="2757268" cy="3770967"/>
          </a:xfrm>
          <a:custGeom>
            <a:avLst/>
            <a:gdLst/>
            <a:ahLst/>
            <a:cxnLst/>
            <a:rect r="r" b="b" t="t" l="l"/>
            <a:pathLst>
              <a:path h="3770967" w="2757268">
                <a:moveTo>
                  <a:pt x="0" y="0"/>
                </a:moveTo>
                <a:lnTo>
                  <a:pt x="2757268" y="0"/>
                </a:lnTo>
                <a:lnTo>
                  <a:pt x="2757268" y="3770967"/>
                </a:lnTo>
                <a:lnTo>
                  <a:pt x="0" y="3770967"/>
                </a:lnTo>
                <a:lnTo>
                  <a:pt x="0" y="0"/>
                </a:lnTo>
                <a:close/>
              </a:path>
            </a:pathLst>
          </a:custGeom>
          <a:blipFill>
            <a:blip r:embed="rId2"/>
            <a:stretch>
              <a:fillRect l="0" t="0" r="0" b="0"/>
            </a:stretch>
          </a:blipFill>
        </p:spPr>
      </p:sp>
      <p:sp>
        <p:nvSpPr>
          <p:cNvPr name="Freeform 3" id="3"/>
          <p:cNvSpPr/>
          <p:nvPr/>
        </p:nvSpPr>
        <p:spPr>
          <a:xfrm flipH="false" flipV="false" rot="0">
            <a:off x="2411101" y="7899740"/>
            <a:ext cx="13465807" cy="719452"/>
          </a:xfrm>
          <a:custGeom>
            <a:avLst/>
            <a:gdLst/>
            <a:ahLst/>
            <a:cxnLst/>
            <a:rect r="r" b="b" t="t" l="l"/>
            <a:pathLst>
              <a:path h="719452" w="13465807">
                <a:moveTo>
                  <a:pt x="0" y="0"/>
                </a:moveTo>
                <a:lnTo>
                  <a:pt x="13465807" y="0"/>
                </a:lnTo>
                <a:lnTo>
                  <a:pt x="13465807" y="719452"/>
                </a:lnTo>
                <a:lnTo>
                  <a:pt x="0" y="7194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765361" y="596598"/>
            <a:ext cx="2757268" cy="3770967"/>
          </a:xfrm>
          <a:custGeom>
            <a:avLst/>
            <a:gdLst/>
            <a:ahLst/>
            <a:cxnLst/>
            <a:rect r="r" b="b" t="t" l="l"/>
            <a:pathLst>
              <a:path h="3770967" w="2757268">
                <a:moveTo>
                  <a:pt x="0" y="0"/>
                </a:moveTo>
                <a:lnTo>
                  <a:pt x="2757268" y="0"/>
                </a:lnTo>
                <a:lnTo>
                  <a:pt x="2757268" y="3770967"/>
                </a:lnTo>
                <a:lnTo>
                  <a:pt x="0" y="37709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426820" y="5105400"/>
            <a:ext cx="9830209" cy="1191927"/>
          </a:xfrm>
          <a:prstGeom prst="rect">
            <a:avLst/>
          </a:prstGeom>
        </p:spPr>
        <p:txBody>
          <a:bodyPr anchor="t" rtlCol="false" tIns="0" lIns="0" bIns="0" rIns="0">
            <a:spAutoFit/>
          </a:bodyPr>
          <a:lstStyle/>
          <a:p>
            <a:pPr algn="ctr">
              <a:lnSpc>
                <a:spcPts val="9483"/>
              </a:lnSpc>
            </a:pPr>
            <a:r>
              <a:rPr lang="en-US" b="true" sz="7598">
                <a:solidFill>
                  <a:srgbClr val="131416"/>
                </a:solidFill>
                <a:latin typeface="Fontuna Bold"/>
                <a:ea typeface="Fontuna Bold"/>
                <a:cs typeface="Fontuna Bold"/>
                <a:sym typeface="Fontuna Bold"/>
              </a:rPr>
              <a:t>¡GRACIAS POR SU ATENCIÓN!</a:t>
            </a:r>
          </a:p>
        </p:txBody>
      </p:sp>
      <p:sp>
        <p:nvSpPr>
          <p:cNvPr name="TextBox 6" id="6"/>
          <p:cNvSpPr txBox="true"/>
          <p:nvPr/>
        </p:nvSpPr>
        <p:spPr>
          <a:xfrm rot="0">
            <a:off x="4506497" y="7677045"/>
            <a:ext cx="71761" cy="556717"/>
          </a:xfrm>
          <a:prstGeom prst="rect">
            <a:avLst/>
          </a:prstGeom>
        </p:spPr>
        <p:txBody>
          <a:bodyPr anchor="t" rtlCol="false" tIns="0" lIns="0" bIns="0" rIns="0">
            <a:spAutoFit/>
          </a:bodyPr>
          <a:lstStyle/>
          <a:p>
            <a:pPr algn="l">
              <a:lnSpc>
                <a:spcPts val="5000"/>
              </a:lnSpc>
            </a:pPr>
            <a:r>
              <a:rPr lang="en-US" sz="2000">
                <a:solidFill>
                  <a:srgbClr val="131416"/>
                </a:solidFill>
                <a:latin typeface="Arial"/>
                <a:ea typeface="Arial"/>
                <a:cs typeface="Arial"/>
                <a:sym typeface="Arial"/>
              </a:rPr>
              <a:t> </a:t>
            </a:r>
          </a:p>
        </p:txBody>
      </p:sp>
      <p:sp>
        <p:nvSpPr>
          <p:cNvPr name="TextBox 7" id="7"/>
          <p:cNvSpPr txBox="true"/>
          <p:nvPr/>
        </p:nvSpPr>
        <p:spPr>
          <a:xfrm rot="0">
            <a:off x="2475767" y="7819920"/>
            <a:ext cx="13149093" cy="415671"/>
          </a:xfrm>
          <a:prstGeom prst="rect">
            <a:avLst/>
          </a:prstGeom>
        </p:spPr>
        <p:txBody>
          <a:bodyPr anchor="t" rtlCol="false" tIns="0" lIns="0" bIns="0" rIns="0">
            <a:spAutoFit/>
          </a:bodyPr>
          <a:lstStyle/>
          <a:p>
            <a:pPr algn="l">
              <a:lnSpc>
                <a:spcPts val="3552"/>
              </a:lnSpc>
            </a:pPr>
            <a:r>
              <a:rPr lang="en-US" sz="2000">
                <a:solidFill>
                  <a:srgbClr val="131416"/>
                </a:solidFill>
                <a:latin typeface="Inter"/>
                <a:ea typeface="Inter"/>
                <a:cs typeface="Inter"/>
                <a:sym typeface="Inter"/>
              </a:rPr>
              <a:t>RECUERDA QUE TENEMOS NUESTRO FORO SEMANAL DONDE PUEDES CONSULTAR CUALQUIER DUDA QUE</a:t>
            </a:r>
          </a:p>
        </p:txBody>
      </p:sp>
      <p:sp>
        <p:nvSpPr>
          <p:cNvPr name="TextBox 8" id="8"/>
          <p:cNvSpPr txBox="true"/>
          <p:nvPr/>
        </p:nvSpPr>
        <p:spPr>
          <a:xfrm rot="0">
            <a:off x="7570765" y="8271024"/>
            <a:ext cx="3160259" cy="415671"/>
          </a:xfrm>
          <a:prstGeom prst="rect">
            <a:avLst/>
          </a:prstGeom>
        </p:spPr>
        <p:txBody>
          <a:bodyPr anchor="t" rtlCol="false" tIns="0" lIns="0" bIns="0" rIns="0">
            <a:spAutoFit/>
          </a:bodyPr>
          <a:lstStyle/>
          <a:p>
            <a:pPr algn="l">
              <a:lnSpc>
                <a:spcPts val="3552"/>
              </a:lnSpc>
            </a:pPr>
            <a:r>
              <a:rPr lang="en-US" sz="2000">
                <a:solidFill>
                  <a:srgbClr val="131416"/>
                </a:solidFill>
                <a:latin typeface="Inter"/>
                <a:ea typeface="Inter"/>
                <a:cs typeface="Inter"/>
                <a:sym typeface="Inter"/>
              </a:rPr>
              <a:t>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DAG7aeqVfl4</dc:identifier>
  <dcterms:modified xsi:type="dcterms:W3CDTF">2011-08-01T06:04:30Z</dcterms:modified>
  <cp:revision>1</cp:revision>
  <dc:title>1s2026_Semana_5</dc:title>
</cp:coreProperties>
</file>