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unito Bold" charset="1" panose="00000000000000000000"/>
      <p:regular r:id="rId24"/>
    </p:embeddedFont>
    <p:embeddedFont>
      <p:font typeface="Nunito" charset="1" panose="00000000000000000000"/>
      <p:regular r:id="rId25"/>
    </p:embeddedFont>
    <p:embeddedFont>
      <p:font typeface="Impact" charset="1" panose="020B0806030902050204"/>
      <p:regular r:id="rId26"/>
    </p:embeddedFont>
    <p:embeddedFont>
      <p:font typeface="Open Sans 1 Bold" charset="1" panose="020B0806030504020204"/>
      <p:regular r:id="rId27"/>
    </p:embeddedFont>
    <p:embeddedFont>
      <p:font typeface="Open Sans 2" charset="1" panose="00000000000000000000"/>
      <p:regular r:id="rId28"/>
    </p:embeddedFont>
    <p:embeddedFont>
      <p:font typeface="Arial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visualstudio.microsoft.com/es/downloads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https://visualstudio.microsoft.com/es/vs/older-downloads/" TargetMode="External" Type="http://schemas.openxmlformats.org/officeDocument/2006/relationships/hyperlink"/><Relationship Id="rId4" Target="https://visualstudio.microsoft.com/es/downloads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visualstudio.microsoft.com/es/vs/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3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8" y="0"/>
                </a:lnTo>
                <a:lnTo>
                  <a:pt x="102786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62550" y="1914142"/>
          <a:ext cx="4436292" cy="1714500"/>
        </p:xfrm>
        <a:graphic>
          <a:graphicData uri="http://schemas.openxmlformats.org/drawingml/2006/table">
            <a:tbl>
              <a:tblPr/>
              <a:tblGrid>
                <a:gridCol w="4436292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8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27/01/2025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8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12:20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086595" y="6079464"/>
            <a:ext cx="638790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96151" y="4787583"/>
            <a:ext cx="6131653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563320">
            <a:off x="10763599" y="1009187"/>
            <a:ext cx="11453137" cy="9835382"/>
          </a:xfrm>
          <a:custGeom>
            <a:avLst/>
            <a:gdLst/>
            <a:ahLst/>
            <a:cxnLst/>
            <a:rect r="r" b="b" t="t" l="l"/>
            <a:pathLst>
              <a:path h="9835382" w="11453137">
                <a:moveTo>
                  <a:pt x="0" y="0"/>
                </a:moveTo>
                <a:lnTo>
                  <a:pt x="11453137" y="0"/>
                </a:lnTo>
                <a:lnTo>
                  <a:pt x="11453137" y="9835381"/>
                </a:lnTo>
                <a:lnTo>
                  <a:pt x="0" y="983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084854">
            <a:off x="-1951546" y="6793129"/>
            <a:ext cx="5342628" cy="4200641"/>
          </a:xfrm>
          <a:custGeom>
            <a:avLst/>
            <a:gdLst/>
            <a:ahLst/>
            <a:cxnLst/>
            <a:rect r="r" b="b" t="t" l="l"/>
            <a:pathLst>
              <a:path h="4200641" w="5342628">
                <a:moveTo>
                  <a:pt x="0" y="0"/>
                </a:moveTo>
                <a:lnTo>
                  <a:pt x="5342627" y="0"/>
                </a:lnTo>
                <a:lnTo>
                  <a:pt x="5342627" y="4200642"/>
                </a:lnTo>
                <a:lnTo>
                  <a:pt x="0" y="4200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1458" y="1947063"/>
            <a:ext cx="3665084" cy="174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8"/>
              </a:lnSpc>
            </a:pPr>
            <a:r>
              <a:rPr lang="en-US" sz="917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Unidad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1336" y="3774705"/>
            <a:ext cx="2497713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4999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Clase 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41500">
            <a:off x="9153778" y="5029318"/>
            <a:ext cx="8654358" cy="4132456"/>
          </a:xfrm>
          <a:custGeom>
            <a:avLst/>
            <a:gdLst/>
            <a:ahLst/>
            <a:cxnLst/>
            <a:rect r="r" b="b" t="t" l="l"/>
            <a:pathLst>
              <a:path h="4132456" w="8654358">
                <a:moveTo>
                  <a:pt x="0" y="0"/>
                </a:moveTo>
                <a:lnTo>
                  <a:pt x="8654358" y="0"/>
                </a:lnTo>
                <a:lnTo>
                  <a:pt x="8654358" y="4132456"/>
                </a:lnTo>
                <a:lnTo>
                  <a:pt x="0" y="4132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44672" y="0"/>
            <a:ext cx="10243328" cy="1067010"/>
          </a:xfrm>
          <a:custGeom>
            <a:avLst/>
            <a:gdLst/>
            <a:ahLst/>
            <a:cxnLst/>
            <a:rect r="r" b="b" t="t" l="l"/>
            <a:pathLst>
              <a:path h="1067010" w="10243328">
                <a:moveTo>
                  <a:pt x="0" y="0"/>
                </a:moveTo>
                <a:lnTo>
                  <a:pt x="10243328" y="0"/>
                </a:lnTo>
                <a:lnTo>
                  <a:pt x="10243328" y="1067010"/>
                </a:lnTo>
                <a:lnTo>
                  <a:pt x="0" y="10670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2005" y="6506774"/>
            <a:ext cx="8394355" cy="69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Programación de computadoras 2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8173" y="7376674"/>
            <a:ext cx="7402020" cy="43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9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Escuela de Ingenieria de Ciencias Y Sistemas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1206" y="7985421"/>
            <a:ext cx="3137212" cy="43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9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Facultad de Ingenieria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2646" y="8750583"/>
            <a:ext cx="5832022" cy="31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249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6700" y="6105525"/>
            <a:ext cx="613411" cy="61341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6433" y="6105525"/>
            <a:ext cx="613411" cy="613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6700" y="6928199"/>
            <a:ext cx="613411" cy="61341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16433" y="6928199"/>
            <a:ext cx="613411" cy="6134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255091" y="6078855"/>
          <a:ext cx="4094642" cy="3200400"/>
        </p:xfrm>
        <a:graphic>
          <a:graphicData uri="http://schemas.openxmlformats.org/drawingml/2006/table">
            <a:tbl>
              <a:tblPr/>
              <a:tblGrid>
                <a:gridCol w="1169676"/>
              </a:tblGrid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Presentación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Instalación de Visual Studio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Creación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Coniciendo Herramientas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7334618" y="6073139"/>
          <a:ext cx="3918873" cy="3217546"/>
        </p:xfrm>
        <a:graphic>
          <a:graphicData uri="http://schemas.openxmlformats.org/drawingml/2006/table">
            <a:tbl>
              <a:tblPr/>
              <a:tblGrid>
                <a:gridCol w="1068770"/>
              </a:tblGrid>
              <a:tr h="805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Anuncios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Video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-4319186">
            <a:off x="-1553909" y="-1560444"/>
            <a:ext cx="5552116" cy="5852032"/>
          </a:xfrm>
          <a:custGeom>
            <a:avLst/>
            <a:gdLst/>
            <a:ahLst/>
            <a:cxnLst/>
            <a:rect r="r" b="b" t="t" l="l"/>
            <a:pathLst>
              <a:path h="5852032" w="5552116">
                <a:moveTo>
                  <a:pt x="0" y="0"/>
                </a:moveTo>
                <a:lnTo>
                  <a:pt x="5552116" y="0"/>
                </a:lnTo>
                <a:lnTo>
                  <a:pt x="5552116" y="5852032"/>
                </a:lnTo>
                <a:lnTo>
                  <a:pt x="0" y="585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36700" y="7750872"/>
            <a:ext cx="613411" cy="6134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16433" y="7750872"/>
            <a:ext cx="613411" cy="61341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36700" y="8573546"/>
            <a:ext cx="613411" cy="61341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A2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168017" y="4560005"/>
            <a:ext cx="4167845" cy="4114800"/>
          </a:xfrm>
          <a:custGeom>
            <a:avLst/>
            <a:gdLst/>
            <a:ahLst/>
            <a:cxnLst/>
            <a:rect r="r" b="b" t="t" l="l"/>
            <a:pathLst>
              <a:path h="4114800" w="4167845">
                <a:moveTo>
                  <a:pt x="0" y="0"/>
                </a:moveTo>
                <a:lnTo>
                  <a:pt x="4167845" y="0"/>
                </a:lnTo>
                <a:lnTo>
                  <a:pt x="4167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98805" y="6263934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78538" y="6263934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98805" y="7082798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78538" y="7082798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8805" y="7892563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78538" y="7892563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98805" y="8731955"/>
            <a:ext cx="289200" cy="3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  <a:spcBef>
                <a:spcPct val="0"/>
              </a:spcBef>
            </a:pPr>
            <a:r>
              <a:rPr lang="en-US" b="true" sz="27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55091" y="3463289"/>
            <a:ext cx="605664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15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Agenda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58711" y="7053575"/>
            <a:ext cx="4209306" cy="38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8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Corto 1 habilitado 2 días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113989"/>
            <a:ext cx="5234359" cy="7173011"/>
          </a:xfrm>
          <a:custGeom>
            <a:avLst/>
            <a:gdLst/>
            <a:ahLst/>
            <a:cxnLst/>
            <a:rect r="r" b="b" t="t" l="l"/>
            <a:pathLst>
              <a:path h="7173011" w="5234359">
                <a:moveTo>
                  <a:pt x="0" y="0"/>
                </a:moveTo>
                <a:lnTo>
                  <a:pt x="5234359" y="0"/>
                </a:lnTo>
                <a:lnTo>
                  <a:pt x="5234359" y="7173011"/>
                </a:lnTo>
                <a:lnTo>
                  <a:pt x="0" y="7173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09809" y="2980639"/>
            <a:ext cx="9934508" cy="505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8"/>
              </a:lnSpc>
            </a:pPr>
            <a:r>
              <a:rPr lang="en-US" sz="299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Introducir temas fundamentales de programación mediante presentaciones y documentación para facilitar la comprensión inicial y contextualización del estudiante.</a:t>
            </a:r>
          </a:p>
          <a:p>
            <a:pPr algn="just">
              <a:lnSpc>
                <a:spcPts val="5038"/>
              </a:lnSpc>
            </a:pPr>
          </a:p>
          <a:p>
            <a:pPr algn="just">
              <a:lnSpc>
                <a:spcPts val="5038"/>
              </a:lnSpc>
            </a:pPr>
          </a:p>
          <a:p>
            <a:pPr algn="just">
              <a:lnSpc>
                <a:spcPts val="5038"/>
              </a:lnSpc>
            </a:pPr>
            <a:r>
              <a:rPr lang="en-US" sz="299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Desarrollar interfaces graficas funcionales haciendo uso de controles básicos, como texbox, label, combobox capturar y mostrar los datos de forma eficiente.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65987" y="-792991"/>
            <a:ext cx="3833415" cy="3833415"/>
          </a:xfrm>
          <a:custGeom>
            <a:avLst/>
            <a:gdLst/>
            <a:ahLst/>
            <a:cxnLst/>
            <a:rect r="r" b="b" t="t" l="l"/>
            <a:pathLst>
              <a:path h="3833415" w="3833415">
                <a:moveTo>
                  <a:pt x="0" y="0"/>
                </a:moveTo>
                <a:lnTo>
                  <a:pt x="3833415" y="0"/>
                </a:lnTo>
                <a:lnTo>
                  <a:pt x="3833415" y="3833415"/>
                </a:lnTo>
                <a:lnTo>
                  <a:pt x="0" y="383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4886" y="400193"/>
            <a:ext cx="14411155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34359" y="3346712"/>
            <a:ext cx="1164677" cy="137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6"/>
              </a:lnSpc>
            </a:pPr>
            <a:r>
              <a:rPr lang="en-US" sz="8033" b="true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34359" y="6990013"/>
            <a:ext cx="1164677" cy="137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6"/>
              </a:lnSpc>
            </a:pPr>
            <a:r>
              <a:rPr lang="en-US" sz="8033" b="true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6626" y="3499112"/>
            <a:ext cx="4701107" cy="3738320"/>
          </a:xfrm>
          <a:custGeom>
            <a:avLst/>
            <a:gdLst/>
            <a:ahLst/>
            <a:cxnLst/>
            <a:rect r="r" b="b" t="t" l="l"/>
            <a:pathLst>
              <a:path h="3738320" w="4701107">
                <a:moveTo>
                  <a:pt x="0" y="0"/>
                </a:moveTo>
                <a:lnTo>
                  <a:pt x="4701107" y="0"/>
                </a:lnTo>
                <a:lnTo>
                  <a:pt x="4701107" y="3738321"/>
                </a:lnTo>
                <a:lnTo>
                  <a:pt x="0" y="37383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608613"/>
            <a:ext cx="3842065" cy="3299374"/>
          </a:xfrm>
          <a:custGeom>
            <a:avLst/>
            <a:gdLst/>
            <a:ahLst/>
            <a:cxnLst/>
            <a:rect r="r" b="b" t="t" l="l"/>
            <a:pathLst>
              <a:path h="3299374" w="3842065">
                <a:moveTo>
                  <a:pt x="0" y="0"/>
                </a:moveTo>
                <a:lnTo>
                  <a:pt x="3842065" y="0"/>
                </a:lnTo>
                <a:lnTo>
                  <a:pt x="3842065" y="3299374"/>
                </a:lnTo>
                <a:lnTo>
                  <a:pt x="0" y="32993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4183" y="504825"/>
            <a:ext cx="4890833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Vis</a:t>
            </a: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ual Studio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1791" y="2453840"/>
            <a:ext cx="6164716" cy="61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  <a:spcBef>
                <a:spcPct val="0"/>
              </a:spcBef>
            </a:pPr>
            <a:r>
              <a:rPr lang="en-US" b="true" sz="313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  <a:hlinkClick r:id="rId2" tooltip="https://visualstudio.microsoft.com/es/downloads/"/>
              </a:rPr>
              <a:t>Versión gratuita 2022 community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83706"/>
            <a:ext cx="7710899" cy="476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4"/>
              </a:lnSpc>
              <a:spcBef>
                <a:spcPct val="0"/>
              </a:spcBef>
            </a:pPr>
            <a:r>
              <a:rPr lang="en-US" sz="28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 un entorno de desarrollo integrado IDE compatible con varios lenguajes de programación.</a:t>
            </a:r>
          </a:p>
          <a:p>
            <a:pPr algn="just">
              <a:lnSpc>
                <a:spcPts val="4754"/>
              </a:lnSpc>
              <a:spcBef>
                <a:spcPct val="0"/>
              </a:spcBef>
            </a:pPr>
          </a:p>
          <a:p>
            <a:pPr algn="just">
              <a:lnSpc>
                <a:spcPts val="4754"/>
              </a:lnSpc>
              <a:spcBef>
                <a:spcPct val="0"/>
              </a:spcBef>
            </a:pPr>
            <a:r>
              <a:rPr lang="en-US" sz="28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El IDE más completo para desarrolladores de .NET y C++ en Windows para crear aplicaciones web, en la nube, de escritorio, móviles, servicios y juegos.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18038" y="3371096"/>
            <a:ext cx="8753725" cy="5394483"/>
          </a:xfrm>
          <a:custGeom>
            <a:avLst/>
            <a:gdLst/>
            <a:ahLst/>
            <a:cxnLst/>
            <a:rect r="r" b="b" t="t" l="l"/>
            <a:pathLst>
              <a:path h="5394483" w="8753725">
                <a:moveTo>
                  <a:pt x="0" y="0"/>
                </a:moveTo>
                <a:lnTo>
                  <a:pt x="8753725" y="0"/>
                </a:lnTo>
                <a:lnTo>
                  <a:pt x="8753725" y="5394483"/>
                </a:lnTo>
                <a:lnTo>
                  <a:pt x="0" y="5394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1811" y="504825"/>
            <a:ext cx="12744379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Instal</a:t>
            </a: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5292" y="3228221"/>
            <a:ext cx="3765097" cy="61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  <a:spcBef>
                <a:spcPct val="0"/>
              </a:spcBef>
            </a:pPr>
            <a:r>
              <a:rPr lang="en-US" b="true" sz="313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  <a:hlinkClick r:id="rId3" tooltip="https://visualstudio.microsoft.com/es/vs/older-downloads/"/>
              </a:rPr>
              <a:t>Versiones anteriores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5292" y="2516503"/>
            <a:ext cx="3542195" cy="61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  <a:spcBef>
                <a:spcPct val="0"/>
              </a:spcBef>
            </a:pPr>
            <a:r>
              <a:rPr lang="en-US" b="true" sz="313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  <a:hlinkClick r:id="rId4" tooltip="https://visualstudio.microsoft.com/es/downloads/"/>
              </a:rPr>
              <a:t>Visual Studio 2022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41772" y="1028700"/>
            <a:ext cx="9662808" cy="3992072"/>
          </a:xfrm>
          <a:custGeom>
            <a:avLst/>
            <a:gdLst/>
            <a:ahLst/>
            <a:cxnLst/>
            <a:rect r="r" b="b" t="t" l="l"/>
            <a:pathLst>
              <a:path h="3992072" w="9662808">
                <a:moveTo>
                  <a:pt x="0" y="0"/>
                </a:moveTo>
                <a:lnTo>
                  <a:pt x="9662808" y="0"/>
                </a:lnTo>
                <a:lnTo>
                  <a:pt x="9662808" y="3992072"/>
                </a:lnTo>
                <a:lnTo>
                  <a:pt x="0" y="3992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199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41772" y="5143500"/>
            <a:ext cx="9662808" cy="5012582"/>
          </a:xfrm>
          <a:custGeom>
            <a:avLst/>
            <a:gdLst/>
            <a:ahLst/>
            <a:cxnLst/>
            <a:rect r="r" b="b" t="t" l="l"/>
            <a:pathLst>
              <a:path h="5012582" w="9662808">
                <a:moveTo>
                  <a:pt x="0" y="0"/>
                </a:moveTo>
                <a:lnTo>
                  <a:pt x="9662808" y="0"/>
                </a:lnTo>
                <a:lnTo>
                  <a:pt x="9662808" y="5012582"/>
                </a:lnTo>
                <a:lnTo>
                  <a:pt x="0" y="5012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3777" y="2211894"/>
            <a:ext cx="1737632" cy="125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6"/>
              </a:lnSpc>
              <a:spcBef>
                <a:spcPct val="0"/>
              </a:spcBef>
            </a:pPr>
            <a:r>
              <a:rPr lang="en-US" sz="573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Paso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93763" y="6833868"/>
            <a:ext cx="1817659" cy="125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6"/>
              </a:lnSpc>
              <a:spcBef>
                <a:spcPct val="0"/>
              </a:spcBef>
            </a:pPr>
            <a:r>
              <a:rPr lang="en-US" sz="573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Paso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6741" y="3518608"/>
            <a:ext cx="11301259" cy="6314578"/>
          </a:xfrm>
          <a:custGeom>
            <a:avLst/>
            <a:gdLst/>
            <a:ahLst/>
            <a:cxnLst/>
            <a:rect r="r" b="b" t="t" l="l"/>
            <a:pathLst>
              <a:path h="6314578" w="11301259">
                <a:moveTo>
                  <a:pt x="0" y="0"/>
                </a:moveTo>
                <a:lnTo>
                  <a:pt x="11301259" y="0"/>
                </a:lnTo>
                <a:lnTo>
                  <a:pt x="11301259" y="6314578"/>
                </a:lnTo>
                <a:lnTo>
                  <a:pt x="0" y="6314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4028" y="599842"/>
            <a:ext cx="17679126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Instalación de Visual Studio 2012 community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290" y="2696855"/>
            <a:ext cx="5410030" cy="377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0"/>
              </a:lnSpc>
              <a:spcBef>
                <a:spcPct val="0"/>
              </a:spcBef>
            </a:pPr>
            <a:r>
              <a:rPr lang="en-US" b="true" sz="303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Mínimo</a:t>
            </a:r>
            <a:r>
              <a:rPr lang="en-US" sz="30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algn="l" marL="654205" indent="-327102" lvl="1">
              <a:lnSpc>
                <a:spcPts val="5090"/>
              </a:lnSpc>
              <a:buFont typeface="Arial"/>
              <a:buChar char="•"/>
            </a:pPr>
            <a:r>
              <a:rPr lang="en-US" sz="30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4 GB de RAM</a:t>
            </a:r>
          </a:p>
          <a:p>
            <a:pPr algn="l" marL="654205" indent="-327102" lvl="1">
              <a:lnSpc>
                <a:spcPts val="5090"/>
              </a:lnSpc>
              <a:buFont typeface="Arial"/>
              <a:buChar char="•"/>
            </a:pPr>
            <a:r>
              <a:rPr lang="en-US" sz="30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Windows 10</a:t>
            </a:r>
          </a:p>
          <a:p>
            <a:pPr algn="l">
              <a:lnSpc>
                <a:spcPts val="5090"/>
              </a:lnSpc>
              <a:spcBef>
                <a:spcPct val="0"/>
              </a:spcBef>
            </a:pPr>
            <a:r>
              <a:rPr lang="en-US" b="true" sz="303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Recomendado</a:t>
            </a:r>
            <a:r>
              <a:rPr lang="en-US" sz="30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algn="l" marL="654205" indent="-327102" lvl="1">
              <a:lnSpc>
                <a:spcPts val="5090"/>
              </a:lnSpc>
              <a:buFont typeface="Arial"/>
              <a:buChar char="•"/>
            </a:pPr>
            <a:r>
              <a:rPr lang="en-US" sz="30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8 GB de RAM o más</a:t>
            </a:r>
          </a:p>
          <a:p>
            <a:pPr algn="l" marL="654205" indent="-327102" lvl="1">
              <a:lnSpc>
                <a:spcPts val="5090"/>
              </a:lnSpc>
              <a:spcBef>
                <a:spcPct val="0"/>
              </a:spcBef>
              <a:buFont typeface="Arial"/>
              <a:buChar char="•"/>
            </a:pPr>
            <a:r>
              <a:rPr lang="en-US" sz="30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Windows 10 version 64-bit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028" y="7358594"/>
            <a:ext cx="6298251" cy="247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0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Seleccionar únicamente la opción de ".NET desktop development" en el apartado de "Desktop &amp; Mobile" y presionar Install. Requerirá reinicio del sistema al finalizar la instalación.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80090" y="2724553"/>
            <a:ext cx="4576427" cy="6787665"/>
            <a:chOff x="0" y="0"/>
            <a:chExt cx="1205314" cy="17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5314" cy="1787698"/>
            </a:xfrm>
            <a:custGeom>
              <a:avLst/>
              <a:gdLst/>
              <a:ahLst/>
              <a:cxnLst/>
              <a:rect r="r" b="b" t="t" l="l"/>
              <a:pathLst>
                <a:path h="1787698" w="1205314">
                  <a:moveTo>
                    <a:pt x="130261" y="0"/>
                  </a:moveTo>
                  <a:lnTo>
                    <a:pt x="1075054" y="0"/>
                  </a:lnTo>
                  <a:cubicBezTo>
                    <a:pt x="1109601" y="0"/>
                    <a:pt x="1142733" y="13724"/>
                    <a:pt x="1167162" y="38152"/>
                  </a:cubicBezTo>
                  <a:cubicBezTo>
                    <a:pt x="1191590" y="62581"/>
                    <a:pt x="1205314" y="95713"/>
                    <a:pt x="1205314" y="130261"/>
                  </a:cubicBezTo>
                  <a:lnTo>
                    <a:pt x="1205314" y="1657437"/>
                  </a:lnTo>
                  <a:cubicBezTo>
                    <a:pt x="1205314" y="1691985"/>
                    <a:pt x="1191590" y="1725117"/>
                    <a:pt x="1167162" y="1749545"/>
                  </a:cubicBezTo>
                  <a:cubicBezTo>
                    <a:pt x="1142733" y="1773974"/>
                    <a:pt x="1109601" y="1787698"/>
                    <a:pt x="1075054" y="1787698"/>
                  </a:cubicBezTo>
                  <a:lnTo>
                    <a:pt x="130261" y="1787698"/>
                  </a:lnTo>
                  <a:cubicBezTo>
                    <a:pt x="95713" y="1787698"/>
                    <a:pt x="62581" y="1773974"/>
                    <a:pt x="38152" y="1749545"/>
                  </a:cubicBezTo>
                  <a:cubicBezTo>
                    <a:pt x="13724" y="1725117"/>
                    <a:pt x="0" y="1691985"/>
                    <a:pt x="0" y="1657437"/>
                  </a:cubicBezTo>
                  <a:lnTo>
                    <a:pt x="0" y="130261"/>
                  </a:lnTo>
                  <a:cubicBezTo>
                    <a:pt x="0" y="95713"/>
                    <a:pt x="13724" y="62581"/>
                    <a:pt x="38152" y="38152"/>
                  </a:cubicBezTo>
                  <a:cubicBezTo>
                    <a:pt x="62581" y="13724"/>
                    <a:pt x="95713" y="0"/>
                    <a:pt x="1302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05314" cy="1806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6380090" y="5019683"/>
            <a:ext cx="4576427" cy="4502061"/>
          </a:xfrm>
          <a:custGeom>
            <a:avLst/>
            <a:gdLst/>
            <a:ahLst/>
            <a:cxnLst/>
            <a:rect r="r" b="b" t="t" l="l"/>
            <a:pathLst>
              <a:path h="4502061" w="4576427">
                <a:moveTo>
                  <a:pt x="0" y="0"/>
                </a:moveTo>
                <a:lnTo>
                  <a:pt x="4576427" y="0"/>
                </a:lnTo>
                <a:lnTo>
                  <a:pt x="4576427" y="4502060"/>
                </a:lnTo>
                <a:lnTo>
                  <a:pt x="0" y="4502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11597" y="2662885"/>
            <a:ext cx="4318950" cy="6787665"/>
            <a:chOff x="0" y="0"/>
            <a:chExt cx="1137501" cy="17876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7501" cy="1787698"/>
            </a:xfrm>
            <a:custGeom>
              <a:avLst/>
              <a:gdLst/>
              <a:ahLst/>
              <a:cxnLst/>
              <a:rect r="r" b="b" t="t" l="l"/>
              <a:pathLst>
                <a:path h="1787698" w="1137501">
                  <a:moveTo>
                    <a:pt x="138026" y="0"/>
                  </a:moveTo>
                  <a:lnTo>
                    <a:pt x="999475" y="0"/>
                  </a:lnTo>
                  <a:cubicBezTo>
                    <a:pt x="1075705" y="0"/>
                    <a:pt x="1137501" y="61796"/>
                    <a:pt x="1137501" y="138026"/>
                  </a:cubicBezTo>
                  <a:lnTo>
                    <a:pt x="1137501" y="1649672"/>
                  </a:lnTo>
                  <a:cubicBezTo>
                    <a:pt x="1137501" y="1725901"/>
                    <a:pt x="1075705" y="1787698"/>
                    <a:pt x="999475" y="1787698"/>
                  </a:cubicBezTo>
                  <a:lnTo>
                    <a:pt x="138026" y="1787698"/>
                  </a:lnTo>
                  <a:cubicBezTo>
                    <a:pt x="61796" y="1787698"/>
                    <a:pt x="0" y="1725901"/>
                    <a:pt x="0" y="1649672"/>
                  </a:cubicBezTo>
                  <a:lnTo>
                    <a:pt x="0" y="138026"/>
                  </a:lnTo>
                  <a:cubicBezTo>
                    <a:pt x="0" y="61796"/>
                    <a:pt x="61796" y="0"/>
                    <a:pt x="1380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37501" cy="1806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1301709" y="4825109"/>
            <a:ext cx="4506420" cy="4433191"/>
          </a:xfrm>
          <a:custGeom>
            <a:avLst/>
            <a:gdLst/>
            <a:ahLst/>
            <a:cxnLst/>
            <a:rect r="r" b="b" t="t" l="l"/>
            <a:pathLst>
              <a:path h="4433191" w="4506420">
                <a:moveTo>
                  <a:pt x="0" y="0"/>
                </a:moveTo>
                <a:lnTo>
                  <a:pt x="4506420" y="0"/>
                </a:lnTo>
                <a:lnTo>
                  <a:pt x="4506420" y="4433191"/>
                </a:lnTo>
                <a:lnTo>
                  <a:pt x="0" y="4433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66142" y="2724553"/>
            <a:ext cx="4668024" cy="6725998"/>
            <a:chOff x="0" y="0"/>
            <a:chExt cx="1229438" cy="1771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9438" cy="1771456"/>
            </a:xfrm>
            <a:custGeom>
              <a:avLst/>
              <a:gdLst/>
              <a:ahLst/>
              <a:cxnLst/>
              <a:rect r="r" b="b" t="t" l="l"/>
              <a:pathLst>
                <a:path h="1771456" w="1229438">
                  <a:moveTo>
                    <a:pt x="127705" y="0"/>
                  </a:moveTo>
                  <a:lnTo>
                    <a:pt x="1101734" y="0"/>
                  </a:lnTo>
                  <a:cubicBezTo>
                    <a:pt x="1172263" y="0"/>
                    <a:pt x="1229438" y="57175"/>
                    <a:pt x="1229438" y="127705"/>
                  </a:cubicBezTo>
                  <a:lnTo>
                    <a:pt x="1229438" y="1643752"/>
                  </a:lnTo>
                  <a:cubicBezTo>
                    <a:pt x="1229438" y="1677621"/>
                    <a:pt x="1215984" y="1710103"/>
                    <a:pt x="1192035" y="1734052"/>
                  </a:cubicBezTo>
                  <a:cubicBezTo>
                    <a:pt x="1168085" y="1758002"/>
                    <a:pt x="1135603" y="1771456"/>
                    <a:pt x="1101734" y="1771456"/>
                  </a:cubicBezTo>
                  <a:lnTo>
                    <a:pt x="127705" y="1771456"/>
                  </a:lnTo>
                  <a:cubicBezTo>
                    <a:pt x="93835" y="1771456"/>
                    <a:pt x="61353" y="1758002"/>
                    <a:pt x="37404" y="1734052"/>
                  </a:cubicBezTo>
                  <a:cubicBezTo>
                    <a:pt x="13455" y="1710103"/>
                    <a:pt x="0" y="1677621"/>
                    <a:pt x="0" y="1643752"/>
                  </a:cubicBezTo>
                  <a:lnTo>
                    <a:pt x="0" y="127705"/>
                  </a:lnTo>
                  <a:cubicBezTo>
                    <a:pt x="0" y="93835"/>
                    <a:pt x="13455" y="61353"/>
                    <a:pt x="37404" y="37404"/>
                  </a:cubicBezTo>
                  <a:cubicBezTo>
                    <a:pt x="61353" y="13455"/>
                    <a:pt x="93835" y="0"/>
                    <a:pt x="1277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29438" cy="1790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1766142" y="5104313"/>
            <a:ext cx="4534999" cy="4461306"/>
          </a:xfrm>
          <a:custGeom>
            <a:avLst/>
            <a:gdLst/>
            <a:ahLst/>
            <a:cxnLst/>
            <a:rect r="r" b="b" t="t" l="l"/>
            <a:pathLst>
              <a:path h="4461306" w="4534999">
                <a:moveTo>
                  <a:pt x="0" y="0"/>
                </a:moveTo>
                <a:lnTo>
                  <a:pt x="4535000" y="0"/>
                </a:lnTo>
                <a:lnTo>
                  <a:pt x="4535000" y="4461306"/>
                </a:lnTo>
                <a:lnTo>
                  <a:pt x="0" y="4461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96867" y="3125458"/>
            <a:ext cx="3311530" cy="125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7"/>
              </a:lnSpc>
            </a:pPr>
            <a:r>
              <a:rPr lang="en-US" b="true" sz="20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Al iniciar por primera vez, pedirá inicio de sesión. No es necesario, pueden omitir este paso.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17527" y="5104313"/>
            <a:ext cx="3874783" cy="387478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5955" y="0"/>
                  </a:moveTo>
                  <a:lnTo>
                    <a:pt x="766845" y="0"/>
                  </a:lnTo>
                  <a:cubicBezTo>
                    <a:pt x="779033" y="0"/>
                    <a:pt x="790722" y="4842"/>
                    <a:pt x="799340" y="13460"/>
                  </a:cubicBezTo>
                  <a:cubicBezTo>
                    <a:pt x="807958" y="22078"/>
                    <a:pt x="812800" y="33767"/>
                    <a:pt x="812800" y="45955"/>
                  </a:cubicBezTo>
                  <a:lnTo>
                    <a:pt x="812800" y="766845"/>
                  </a:lnTo>
                  <a:cubicBezTo>
                    <a:pt x="812800" y="779033"/>
                    <a:pt x="807958" y="790722"/>
                    <a:pt x="799340" y="799340"/>
                  </a:cubicBezTo>
                  <a:cubicBezTo>
                    <a:pt x="790722" y="807958"/>
                    <a:pt x="779033" y="812800"/>
                    <a:pt x="766845" y="812800"/>
                  </a:cubicBezTo>
                  <a:lnTo>
                    <a:pt x="45955" y="812800"/>
                  </a:lnTo>
                  <a:cubicBezTo>
                    <a:pt x="33767" y="812800"/>
                    <a:pt x="22078" y="807958"/>
                    <a:pt x="13460" y="799340"/>
                  </a:cubicBezTo>
                  <a:cubicBezTo>
                    <a:pt x="4842" y="790722"/>
                    <a:pt x="0" y="779033"/>
                    <a:pt x="0" y="766845"/>
                  </a:cubicBezTo>
                  <a:lnTo>
                    <a:pt x="0" y="45955"/>
                  </a:lnTo>
                  <a:cubicBezTo>
                    <a:pt x="0" y="33767"/>
                    <a:pt x="4842" y="22078"/>
                    <a:pt x="13460" y="13460"/>
                  </a:cubicBezTo>
                  <a:cubicBezTo>
                    <a:pt x="22078" y="4842"/>
                    <a:pt x="33767" y="0"/>
                    <a:pt x="4595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728" r="0" b="-1172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39103" y="3125458"/>
            <a:ext cx="3437041" cy="156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5"/>
              </a:lnSpc>
            </a:pPr>
            <a:r>
              <a:rPr lang="en-US" b="true" sz="2098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Luego pedirá elegir el tema para el entorno de trabajo. Dejar el primer campo como general y elegir el tema a su propio gusto.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9903" y="3439783"/>
            <a:ext cx="3777102" cy="62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7"/>
              </a:lnSpc>
            </a:pPr>
            <a:r>
              <a:rPr lang="en-US" b="true" sz="20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Para crear su primer proyecto, seleccionar la última opción.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809803" y="5303634"/>
            <a:ext cx="3954666" cy="395466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5026" y="0"/>
                  </a:moveTo>
                  <a:lnTo>
                    <a:pt x="767774" y="0"/>
                  </a:lnTo>
                  <a:cubicBezTo>
                    <a:pt x="792641" y="0"/>
                    <a:pt x="812800" y="20159"/>
                    <a:pt x="812800" y="45026"/>
                  </a:cubicBezTo>
                  <a:lnTo>
                    <a:pt x="812800" y="767774"/>
                  </a:lnTo>
                  <a:cubicBezTo>
                    <a:pt x="812800" y="792641"/>
                    <a:pt x="792641" y="812800"/>
                    <a:pt x="767774" y="812800"/>
                  </a:cubicBezTo>
                  <a:lnTo>
                    <a:pt x="45026" y="812800"/>
                  </a:lnTo>
                  <a:cubicBezTo>
                    <a:pt x="20159" y="812800"/>
                    <a:pt x="0" y="792641"/>
                    <a:pt x="0" y="767774"/>
                  </a:cubicBezTo>
                  <a:lnTo>
                    <a:pt x="0" y="45026"/>
                  </a:lnTo>
                  <a:cubicBezTo>
                    <a:pt x="0" y="20159"/>
                    <a:pt x="20159" y="0"/>
                    <a:pt x="450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015" r="0" b="-120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62762" y="5397574"/>
            <a:ext cx="3874783" cy="387478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5955" y="0"/>
                  </a:moveTo>
                  <a:lnTo>
                    <a:pt x="766845" y="0"/>
                  </a:lnTo>
                  <a:cubicBezTo>
                    <a:pt x="779033" y="0"/>
                    <a:pt x="790722" y="4842"/>
                    <a:pt x="799340" y="13460"/>
                  </a:cubicBezTo>
                  <a:cubicBezTo>
                    <a:pt x="807958" y="22078"/>
                    <a:pt x="812800" y="33767"/>
                    <a:pt x="812800" y="45955"/>
                  </a:cubicBezTo>
                  <a:lnTo>
                    <a:pt x="812800" y="766845"/>
                  </a:lnTo>
                  <a:cubicBezTo>
                    <a:pt x="812800" y="779033"/>
                    <a:pt x="807958" y="790722"/>
                    <a:pt x="799340" y="799340"/>
                  </a:cubicBezTo>
                  <a:cubicBezTo>
                    <a:pt x="790722" y="807958"/>
                    <a:pt x="779033" y="812800"/>
                    <a:pt x="766845" y="812800"/>
                  </a:cubicBezTo>
                  <a:lnTo>
                    <a:pt x="45955" y="812800"/>
                  </a:lnTo>
                  <a:cubicBezTo>
                    <a:pt x="33767" y="812800"/>
                    <a:pt x="22078" y="807958"/>
                    <a:pt x="13460" y="799340"/>
                  </a:cubicBezTo>
                  <a:cubicBezTo>
                    <a:pt x="4842" y="790722"/>
                    <a:pt x="0" y="779033"/>
                    <a:pt x="0" y="766845"/>
                  </a:cubicBezTo>
                  <a:lnTo>
                    <a:pt x="0" y="45955"/>
                  </a:lnTo>
                  <a:cubicBezTo>
                    <a:pt x="0" y="33767"/>
                    <a:pt x="4842" y="22078"/>
                    <a:pt x="13460" y="13460"/>
                  </a:cubicBezTo>
                  <a:cubicBezTo>
                    <a:pt x="22078" y="4842"/>
                    <a:pt x="33767" y="0"/>
                    <a:pt x="4595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068" r="0" b="-1106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761" y="2590800"/>
            <a:ext cx="8395239" cy="5887162"/>
          </a:xfrm>
          <a:custGeom>
            <a:avLst/>
            <a:gdLst/>
            <a:ahLst/>
            <a:cxnLst/>
            <a:rect r="r" b="b" t="t" l="l"/>
            <a:pathLst>
              <a:path h="5887162" w="8395239">
                <a:moveTo>
                  <a:pt x="0" y="0"/>
                </a:moveTo>
                <a:lnTo>
                  <a:pt x="8395239" y="0"/>
                </a:lnTo>
                <a:lnTo>
                  <a:pt x="8395239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2488" y="3737174"/>
            <a:ext cx="7908987" cy="5981171"/>
          </a:xfrm>
          <a:custGeom>
            <a:avLst/>
            <a:gdLst/>
            <a:ahLst/>
            <a:cxnLst/>
            <a:rect r="r" b="b" t="t" l="l"/>
            <a:pathLst>
              <a:path h="5981171" w="7908987">
                <a:moveTo>
                  <a:pt x="0" y="0"/>
                </a:moveTo>
                <a:lnTo>
                  <a:pt x="7908987" y="0"/>
                </a:lnTo>
                <a:lnTo>
                  <a:pt x="7908987" y="5981172"/>
                </a:lnTo>
                <a:lnTo>
                  <a:pt x="0" y="598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51004" y="255033"/>
            <a:ext cx="10385993" cy="344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Creando </a:t>
            </a: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un nuevo proyecto</a:t>
            </a:r>
          </a:p>
          <a:p>
            <a:pPr algn="ctr">
              <a:lnSpc>
                <a:spcPts val="134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632488" y="2106693"/>
            <a:ext cx="7626812" cy="12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0"/>
              </a:lnSpc>
              <a:spcBef>
                <a:spcPct val="0"/>
              </a:spcBef>
            </a:pPr>
            <a:r>
              <a:rPr lang="en-US" b="true" sz="303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Para elegir la plantilla correcta, hacer uso de los filtros: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3627" y="3584774"/>
            <a:ext cx="805284" cy="74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5331" indent="-402665" lvl="1">
              <a:lnSpc>
                <a:spcPts val="6266"/>
              </a:lnSpc>
              <a:buFont typeface="Arial"/>
              <a:buChar char="•"/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33627" y="5071837"/>
            <a:ext cx="805284" cy="74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5331" indent="-402665" lvl="1">
              <a:lnSpc>
                <a:spcPts val="6266"/>
              </a:lnSpc>
              <a:buFont typeface="Arial"/>
              <a:buChar char="•"/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533627" y="7021493"/>
            <a:ext cx="805284" cy="74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5331" indent="-402665" lvl="1">
              <a:lnSpc>
                <a:spcPts val="6266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66099" y="2149775"/>
            <a:ext cx="8839354" cy="6717909"/>
          </a:xfrm>
          <a:custGeom>
            <a:avLst/>
            <a:gdLst/>
            <a:ahLst/>
            <a:cxnLst/>
            <a:rect r="r" b="b" t="t" l="l"/>
            <a:pathLst>
              <a:path h="6717909" w="8839354">
                <a:moveTo>
                  <a:pt x="0" y="0"/>
                </a:moveTo>
                <a:lnTo>
                  <a:pt x="8839354" y="0"/>
                </a:lnTo>
                <a:lnTo>
                  <a:pt x="8839354" y="6717909"/>
                </a:lnTo>
                <a:lnTo>
                  <a:pt x="0" y="6717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46225" y="52822"/>
            <a:ext cx="6995551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Configuración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4886" y="4452247"/>
            <a:ext cx="5279291" cy="201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1"/>
              </a:lnSpc>
              <a:spcBef>
                <a:spcPct val="0"/>
              </a:spcBef>
            </a:pPr>
            <a:r>
              <a:rPr lang="en-US" sz="325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Ponerle nombre al proyecto y seleccionar la ubicación donde se guardará.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77" r="0" b="-3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7390" y="1000125"/>
            <a:ext cx="13503297" cy="1061999"/>
          </a:xfrm>
          <a:custGeom>
            <a:avLst/>
            <a:gdLst/>
            <a:ahLst/>
            <a:cxnLst/>
            <a:rect r="r" b="b" t="t" l="l"/>
            <a:pathLst>
              <a:path h="1061999" w="13503297">
                <a:moveTo>
                  <a:pt x="0" y="0"/>
                </a:moveTo>
                <a:lnTo>
                  <a:pt x="13503297" y="0"/>
                </a:lnTo>
                <a:lnTo>
                  <a:pt x="13503297" y="1061999"/>
                </a:lnTo>
                <a:lnTo>
                  <a:pt x="0" y="1061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12434" y="3860835"/>
            <a:ext cx="6911330" cy="1659122"/>
          </a:xfrm>
          <a:custGeom>
            <a:avLst/>
            <a:gdLst/>
            <a:ahLst/>
            <a:cxnLst/>
            <a:rect r="r" b="b" t="t" l="l"/>
            <a:pathLst>
              <a:path h="1659122" w="6911330">
                <a:moveTo>
                  <a:pt x="0" y="0"/>
                </a:moveTo>
                <a:lnTo>
                  <a:pt x="6911330" y="0"/>
                </a:lnTo>
                <a:lnTo>
                  <a:pt x="6911330" y="1659122"/>
                </a:lnTo>
                <a:lnTo>
                  <a:pt x="0" y="1659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87532" y="2556799"/>
            <a:ext cx="7746818" cy="5926316"/>
          </a:xfrm>
          <a:custGeom>
            <a:avLst/>
            <a:gdLst/>
            <a:ahLst/>
            <a:cxnLst/>
            <a:rect r="r" b="b" t="t" l="l"/>
            <a:pathLst>
              <a:path h="5926316" w="7746818">
                <a:moveTo>
                  <a:pt x="0" y="0"/>
                </a:moveTo>
                <a:lnTo>
                  <a:pt x="7746818" y="0"/>
                </a:lnTo>
                <a:lnTo>
                  <a:pt x="7746818" y="5926316"/>
                </a:lnTo>
                <a:lnTo>
                  <a:pt x="0" y="5926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6166" y="894060"/>
            <a:ext cx="4173141" cy="179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1"/>
              </a:lnSpc>
              <a:spcBef>
                <a:spcPct val="0"/>
              </a:spcBef>
            </a:pPr>
            <a:r>
              <a:rPr lang="en-US" sz="8256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Alternativa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71609" y="-792283"/>
            <a:ext cx="2600618" cy="2853902"/>
          </a:xfrm>
          <a:custGeom>
            <a:avLst/>
            <a:gdLst/>
            <a:ahLst/>
            <a:cxnLst/>
            <a:rect r="r" b="b" t="t" l="l"/>
            <a:pathLst>
              <a:path h="2853902" w="2600618">
                <a:moveTo>
                  <a:pt x="0" y="0"/>
                </a:moveTo>
                <a:lnTo>
                  <a:pt x="2600618" y="0"/>
                </a:lnTo>
                <a:lnTo>
                  <a:pt x="2600618" y="2853902"/>
                </a:lnTo>
                <a:lnTo>
                  <a:pt x="0" y="285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06345" y="7044088"/>
            <a:ext cx="4436586" cy="3775132"/>
          </a:xfrm>
          <a:custGeom>
            <a:avLst/>
            <a:gdLst/>
            <a:ahLst/>
            <a:cxnLst/>
            <a:rect r="r" b="b" t="t" l="l"/>
            <a:pathLst>
              <a:path h="3775132" w="4436586">
                <a:moveTo>
                  <a:pt x="0" y="0"/>
                </a:moveTo>
                <a:lnTo>
                  <a:pt x="4436587" y="0"/>
                </a:lnTo>
                <a:lnTo>
                  <a:pt x="4436587" y="3775131"/>
                </a:lnTo>
                <a:lnTo>
                  <a:pt x="0" y="37751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37733" y="2675613"/>
            <a:ext cx="10025417" cy="4298397"/>
          </a:xfrm>
          <a:custGeom>
            <a:avLst/>
            <a:gdLst/>
            <a:ahLst/>
            <a:cxnLst/>
            <a:rect r="r" b="b" t="t" l="l"/>
            <a:pathLst>
              <a:path h="4298397" w="10025417">
                <a:moveTo>
                  <a:pt x="0" y="0"/>
                </a:moveTo>
                <a:lnTo>
                  <a:pt x="10025416" y="0"/>
                </a:lnTo>
                <a:lnTo>
                  <a:pt x="10025416" y="4298398"/>
                </a:lnTo>
                <a:lnTo>
                  <a:pt x="0" y="4298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22295"/>
            <a:ext cx="13285329" cy="596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281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Para computadoras de bajos recursos </a:t>
            </a:r>
          </a:p>
          <a:p>
            <a:pPr algn="l" marL="608150" indent="-304075" lvl="1">
              <a:lnSpc>
                <a:spcPts val="4732"/>
              </a:lnSpc>
              <a:buFont typeface="Arial"/>
              <a:buChar char="•"/>
            </a:pP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 GB</a:t>
            </a:r>
          </a:p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281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Compatible</a:t>
            </a: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</a:p>
          <a:p>
            <a:pPr algn="l" marL="608150" indent="-304075" lvl="1">
              <a:lnSpc>
                <a:spcPts val="4732"/>
              </a:lnSpc>
              <a:buFont typeface="Arial"/>
              <a:buChar char="•"/>
            </a:pP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Windows 11</a:t>
            </a:r>
          </a:p>
          <a:p>
            <a:pPr algn="l" marL="608150" indent="-304075" lvl="1">
              <a:lnSpc>
                <a:spcPts val="4732"/>
              </a:lnSpc>
              <a:buFont typeface="Arial"/>
              <a:buChar char="•"/>
            </a:pP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Windows 10</a:t>
            </a:r>
          </a:p>
          <a:p>
            <a:pPr algn="l" marL="608150" indent="-304075" lvl="1">
              <a:lnSpc>
                <a:spcPts val="4732"/>
              </a:lnSpc>
              <a:buFont typeface="Arial"/>
              <a:buChar char="•"/>
            </a:pP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Windows 8.1</a:t>
            </a:r>
          </a:p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281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Requisitos</a:t>
            </a: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algn="l" marL="608150" indent="-304075" lvl="1">
              <a:lnSpc>
                <a:spcPts val="4732"/>
              </a:lnSpc>
              <a:buFont typeface="Arial"/>
              <a:buChar char="•"/>
            </a:pP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r>
              <a:rPr lang="en-US" sz="2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NET Framework: debe instalar .NET Framework 3.5, .NET Framework 4, .NET Framework 4 Client Profile o .NET Framework 4.5 en los equipos de usuario final antes de instalar este runtime.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35823" y="504825"/>
            <a:ext cx="7016354" cy="174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58"/>
              </a:lnSpc>
              <a:spcBef>
                <a:spcPct val="0"/>
              </a:spcBef>
            </a:pPr>
            <a:r>
              <a:rPr lang="en-US" sz="807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Visual studio 2010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68300" y="5176271"/>
            <a:ext cx="4191000" cy="4114800"/>
          </a:xfrm>
          <a:custGeom>
            <a:avLst/>
            <a:gdLst/>
            <a:ahLst/>
            <a:cxnLst/>
            <a:rect r="r" b="b" t="t" l="l"/>
            <a:pathLst>
              <a:path h="4114800" w="41910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3677" y="504825"/>
            <a:ext cx="13538221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Instalación de Visual Studio 2010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6625" y="3446968"/>
            <a:ext cx="13385772" cy="104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7077" indent="-278539" lvl="1">
              <a:lnSpc>
                <a:spcPts val="433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Descargar la imagen iso:</a:t>
            </a:r>
          </a:p>
          <a:p>
            <a:pPr algn="just">
              <a:lnSpc>
                <a:spcPts val="4334"/>
              </a:lnSpc>
            </a:pPr>
            <a:r>
              <a:rPr lang="en-US" sz="258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https://drive.google.com/file/d/1g5rC6DZLRB42_UvB9LS3ugcWLHAtlelf/view?usp=sharing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625" y="4859597"/>
            <a:ext cx="6277074" cy="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7022" indent="-278511" lvl="1">
              <a:lnSpc>
                <a:spcPts val="4334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Extraer el contenido de la imagen iso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729" y="5690800"/>
            <a:ext cx="5609460" cy="49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7022" indent="-278511" lvl="1">
              <a:lnSpc>
                <a:spcPts val="4334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Ubicarse en la carpeta /VBExpress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6625" y="6733723"/>
            <a:ext cx="3222257" cy="49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7022" indent="-278511" lvl="1">
              <a:lnSpc>
                <a:spcPts val="4334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Ejecutar setup.exe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625" y="7757546"/>
            <a:ext cx="8998521" cy="10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7022" indent="-278511" lvl="1">
              <a:lnSpc>
                <a:spcPts val="4334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Instalar según sus preferencias y usar la siguente llave: </a:t>
            </a:r>
          </a:p>
          <a:p>
            <a:pPr algn="ctr">
              <a:lnSpc>
                <a:spcPts val="4334"/>
              </a:lnSpc>
            </a:pPr>
            <a:r>
              <a:rPr lang="en-US" sz="257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2KQT8-HV27P-GTTV9-2WBVV-M7X96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-158157"/>
            <a:ext cx="3598740" cy="3062200"/>
          </a:xfrm>
          <a:custGeom>
            <a:avLst/>
            <a:gdLst/>
            <a:ahLst/>
            <a:cxnLst/>
            <a:rect r="r" b="b" t="t" l="l"/>
            <a:pathLst>
              <a:path h="3062200" w="3598740">
                <a:moveTo>
                  <a:pt x="0" y="0"/>
                </a:moveTo>
                <a:lnTo>
                  <a:pt x="3598740" y="0"/>
                </a:lnTo>
                <a:lnTo>
                  <a:pt x="3598740" y="3062200"/>
                </a:lnTo>
                <a:lnTo>
                  <a:pt x="0" y="30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52518"/>
            <a:ext cx="9874364" cy="393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2"/>
              </a:lnSpc>
              <a:spcBef>
                <a:spcPct val="0"/>
              </a:spcBef>
            </a:pPr>
            <a:r>
              <a:rPr lang="en-US" sz="472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Contenido práctico: </a:t>
            </a:r>
          </a:p>
          <a:p>
            <a:pPr algn="l" marL="1019363" indent="-509682" lvl="1">
              <a:lnSpc>
                <a:spcPts val="7932"/>
              </a:lnSpc>
              <a:buFont typeface="Arial"/>
              <a:buChar char="•"/>
            </a:pPr>
            <a:r>
              <a:rPr lang="en-US" sz="472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Instalando nuestra IDE</a:t>
            </a:r>
          </a:p>
          <a:p>
            <a:pPr algn="l" marL="1019363" indent="-509682" lvl="1">
              <a:lnSpc>
                <a:spcPts val="7932"/>
              </a:lnSpc>
              <a:buFont typeface="Arial"/>
              <a:buChar char="•"/>
            </a:pPr>
            <a:r>
              <a:rPr lang="en-US" sz="472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Creando nuestro primer proyecto</a:t>
            </a:r>
          </a:p>
          <a:p>
            <a:pPr algn="l" marL="1019363" indent="-509682" lvl="1">
              <a:lnSpc>
                <a:spcPts val="7932"/>
              </a:lnSpc>
              <a:buFont typeface="Arial"/>
              <a:buChar char="•"/>
            </a:pPr>
            <a:r>
              <a:rPr lang="en-US" sz="472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Conociendo nuestra IDE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679820" y="4285668"/>
            <a:ext cx="7608180" cy="6001332"/>
          </a:xfrm>
          <a:custGeom>
            <a:avLst/>
            <a:gdLst/>
            <a:ahLst/>
            <a:cxnLst/>
            <a:rect r="r" b="b" t="t" l="l"/>
            <a:pathLst>
              <a:path h="6001332" w="7608180">
                <a:moveTo>
                  <a:pt x="0" y="0"/>
                </a:moveTo>
                <a:lnTo>
                  <a:pt x="7608180" y="0"/>
                </a:lnTo>
                <a:lnTo>
                  <a:pt x="7608180" y="6001332"/>
                </a:lnTo>
                <a:lnTo>
                  <a:pt x="0" y="6001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2220" y="-984927"/>
            <a:ext cx="3669836" cy="4027255"/>
          </a:xfrm>
          <a:custGeom>
            <a:avLst/>
            <a:gdLst/>
            <a:ahLst/>
            <a:cxnLst/>
            <a:rect r="r" b="b" t="t" l="l"/>
            <a:pathLst>
              <a:path h="4027255" w="3669836">
                <a:moveTo>
                  <a:pt x="0" y="0"/>
                </a:moveTo>
                <a:lnTo>
                  <a:pt x="3669836" y="0"/>
                </a:lnTo>
                <a:lnTo>
                  <a:pt x="3669836" y="4027254"/>
                </a:lnTo>
                <a:lnTo>
                  <a:pt x="0" y="40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563320">
            <a:off x="9169634" y="1946565"/>
            <a:ext cx="11453137" cy="9835382"/>
          </a:xfrm>
          <a:custGeom>
            <a:avLst/>
            <a:gdLst/>
            <a:ahLst/>
            <a:cxnLst/>
            <a:rect r="r" b="b" t="t" l="l"/>
            <a:pathLst>
              <a:path h="9835382" w="11453137">
                <a:moveTo>
                  <a:pt x="0" y="0"/>
                </a:moveTo>
                <a:lnTo>
                  <a:pt x="11453137" y="0"/>
                </a:lnTo>
                <a:lnTo>
                  <a:pt x="11453137" y="9835381"/>
                </a:lnTo>
                <a:lnTo>
                  <a:pt x="0" y="983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305" y="3034166"/>
            <a:ext cx="12853390" cy="218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1"/>
              </a:lnSpc>
              <a:spcBef>
                <a:spcPct val="0"/>
              </a:spcBef>
            </a:pPr>
            <a:r>
              <a:rPr lang="en-US" b="true" sz="534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Empezar con orden y compromiso el curso.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319186">
            <a:off x="-360138" y="-983936"/>
            <a:ext cx="5552116" cy="5852032"/>
          </a:xfrm>
          <a:custGeom>
            <a:avLst/>
            <a:gdLst/>
            <a:ahLst/>
            <a:cxnLst/>
            <a:rect r="r" b="b" t="t" l="l"/>
            <a:pathLst>
              <a:path h="5852032" w="5552116">
                <a:moveTo>
                  <a:pt x="0" y="0"/>
                </a:moveTo>
                <a:lnTo>
                  <a:pt x="5552115" y="0"/>
                </a:lnTo>
                <a:lnTo>
                  <a:pt x="5552115" y="5852032"/>
                </a:lnTo>
                <a:lnTo>
                  <a:pt x="0" y="5852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70207" y="668588"/>
            <a:ext cx="9947587" cy="195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Valor : Responsabilidad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880536" y="5486912"/>
            <a:ext cx="6526929" cy="4406982"/>
          </a:xfrm>
          <a:custGeom>
            <a:avLst/>
            <a:gdLst/>
            <a:ahLst/>
            <a:cxnLst/>
            <a:rect r="r" b="b" t="t" l="l"/>
            <a:pathLst>
              <a:path h="4406982" w="6526929">
                <a:moveTo>
                  <a:pt x="0" y="0"/>
                </a:moveTo>
                <a:lnTo>
                  <a:pt x="6526928" y="0"/>
                </a:lnTo>
                <a:lnTo>
                  <a:pt x="6526928" y="4406982"/>
                </a:lnTo>
                <a:lnTo>
                  <a:pt x="0" y="4406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9667" y="361950"/>
            <a:ext cx="5648666" cy="221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33"/>
              </a:lnSpc>
              <a:spcBef>
                <a:spcPct val="0"/>
              </a:spcBef>
            </a:pPr>
            <a:r>
              <a:rPr lang="en-US" sz="10138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563320">
            <a:off x="9169634" y="1946565"/>
            <a:ext cx="11453137" cy="9835382"/>
          </a:xfrm>
          <a:custGeom>
            <a:avLst/>
            <a:gdLst/>
            <a:ahLst/>
            <a:cxnLst/>
            <a:rect r="r" b="b" t="t" l="l"/>
            <a:pathLst>
              <a:path h="9835382" w="11453137">
                <a:moveTo>
                  <a:pt x="0" y="0"/>
                </a:moveTo>
                <a:lnTo>
                  <a:pt x="11453137" y="0"/>
                </a:lnTo>
                <a:lnTo>
                  <a:pt x="11453137" y="9835381"/>
                </a:lnTo>
                <a:lnTo>
                  <a:pt x="0" y="983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20006" y="3119175"/>
            <a:ext cx="13749253" cy="577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Auxiliar - creador : Julio Alfredo Fernández Rodríguez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Microsoft : </a:t>
            </a:r>
            <a:r>
              <a:rPr lang="en-US" sz="2747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  <a:hlinkClick r:id="rId3" tooltip="https://visualstudio.microsoft.com/es/vs/"/>
              </a:rPr>
              <a:t>https://visualstudio.microsoft.com/es/vs/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Lectura: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Documentación de visual studio : https://visualstudio.microsoft.com/es/vs/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Historial de Version de Visual Studio :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https://learn.microsoft.com/es-es/visualstudio/releases/2022/release-history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Guía para iniciar un nuevo proyecto :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https://learn.microsoft.com/es-es/visualstudio/ide/create-new-project?view=vs-2022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Instalar Visual STUDIO, Guia:</a:t>
            </a:r>
          </a:p>
          <a:p>
            <a:pPr algn="just">
              <a:lnSpc>
                <a:spcPts val="461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https://learn.microsoft.com/es-es/visualstudio/install/install-visual-studio?view=vs-2022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65361" y="596598"/>
            <a:ext cx="2757268" cy="3770967"/>
          </a:xfrm>
          <a:custGeom>
            <a:avLst/>
            <a:gdLst/>
            <a:ahLst/>
            <a:cxnLst/>
            <a:rect r="r" b="b" t="t" l="l"/>
            <a:pathLst>
              <a:path h="3770967" w="2757268">
                <a:moveTo>
                  <a:pt x="0" y="0"/>
                </a:moveTo>
                <a:lnTo>
                  <a:pt x="2757268" y="0"/>
                </a:lnTo>
                <a:lnTo>
                  <a:pt x="2757268" y="3770967"/>
                </a:lnTo>
                <a:lnTo>
                  <a:pt x="0" y="3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1101" y="7899740"/>
            <a:ext cx="13465807" cy="719452"/>
          </a:xfrm>
          <a:custGeom>
            <a:avLst/>
            <a:gdLst/>
            <a:ahLst/>
            <a:cxnLst/>
            <a:rect r="r" b="b" t="t" l="l"/>
            <a:pathLst>
              <a:path h="719452" w="13465807">
                <a:moveTo>
                  <a:pt x="0" y="0"/>
                </a:moveTo>
                <a:lnTo>
                  <a:pt x="13465807" y="0"/>
                </a:lnTo>
                <a:lnTo>
                  <a:pt x="13465807" y="719452"/>
                </a:lnTo>
                <a:lnTo>
                  <a:pt x="0" y="719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5361" y="596598"/>
            <a:ext cx="2757268" cy="3770967"/>
          </a:xfrm>
          <a:custGeom>
            <a:avLst/>
            <a:gdLst/>
            <a:ahLst/>
            <a:cxnLst/>
            <a:rect r="r" b="b" t="t" l="l"/>
            <a:pathLst>
              <a:path h="3770967" w="2757268">
                <a:moveTo>
                  <a:pt x="0" y="0"/>
                </a:moveTo>
                <a:lnTo>
                  <a:pt x="2757268" y="0"/>
                </a:lnTo>
                <a:lnTo>
                  <a:pt x="2757268" y="3770967"/>
                </a:lnTo>
                <a:lnTo>
                  <a:pt x="0" y="3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05922" y="1924467"/>
            <a:ext cx="1869843" cy="2443098"/>
          </a:xfrm>
          <a:custGeom>
            <a:avLst/>
            <a:gdLst/>
            <a:ahLst/>
            <a:cxnLst/>
            <a:rect r="r" b="b" t="t" l="l"/>
            <a:pathLst>
              <a:path h="2443098" w="1869843">
                <a:moveTo>
                  <a:pt x="0" y="0"/>
                </a:moveTo>
                <a:lnTo>
                  <a:pt x="1869843" y="0"/>
                </a:lnTo>
                <a:lnTo>
                  <a:pt x="1869843" y="2443098"/>
                </a:lnTo>
                <a:lnTo>
                  <a:pt x="0" y="24430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27058" y="4759187"/>
            <a:ext cx="7233875" cy="256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8"/>
              </a:lnSpc>
            </a:pPr>
            <a:r>
              <a:rPr lang="en-US" b="true" sz="7715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ATENCIÓN!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6497" y="7677045"/>
            <a:ext cx="71761" cy="55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49112">
            <a:off x="-18135" y="6447948"/>
            <a:ext cx="3357254" cy="4323988"/>
          </a:xfrm>
          <a:custGeom>
            <a:avLst/>
            <a:gdLst/>
            <a:ahLst/>
            <a:cxnLst/>
            <a:rect r="r" b="b" t="t" l="l"/>
            <a:pathLst>
              <a:path h="4323988" w="3357254">
                <a:moveTo>
                  <a:pt x="0" y="0"/>
                </a:moveTo>
                <a:lnTo>
                  <a:pt x="3357254" y="0"/>
                </a:lnTo>
                <a:lnTo>
                  <a:pt x="3357254" y="4323988"/>
                </a:lnTo>
                <a:lnTo>
                  <a:pt x="0" y="4323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364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75767" y="7819920"/>
            <a:ext cx="13548568" cy="4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70765" y="8271024"/>
            <a:ext cx="3175744" cy="4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 SURJA EN LA SEMANA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576095" y="415623"/>
            <a:ext cx="7233875" cy="135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8"/>
              </a:lnSpc>
            </a:pPr>
            <a:r>
              <a:rPr lang="en-US" sz="7715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Dudas ¿?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DAG7aS49N_A</dc:identifier>
  <dcterms:modified xsi:type="dcterms:W3CDTF">2011-08-01T06:04:30Z</dcterms:modified>
  <cp:revision>1</cp:revision>
  <dc:title>1s2026_Semana_1</dc:title>
</cp:coreProperties>
</file>