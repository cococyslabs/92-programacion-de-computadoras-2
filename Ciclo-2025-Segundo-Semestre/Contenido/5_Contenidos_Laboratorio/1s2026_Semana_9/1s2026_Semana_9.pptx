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Open Sans" charset="1" panose="00000000000000000000"/>
      <p:regular r:id="rId29"/>
    </p:embeddedFont>
    <p:embeddedFont>
      <p:font typeface="Calibri (MS) Bold" charset="1" panose="020F0702030404030204"/>
      <p:regular r:id="rId30"/>
    </p:embeddedFont>
    <p:embeddedFont>
      <p:font typeface="Anton Italics" charset="1" panose="00000500000000000000"/>
      <p:regular r:id="rId31"/>
    </p:embeddedFont>
    <p:embeddedFont>
      <p:font typeface="Open Sauce" charset="1" panose="00000500000000000000"/>
      <p:regular r:id="rId32"/>
    </p:embeddedFont>
    <p:embeddedFont>
      <p:font typeface="Open Sauce Bold" charset="1" panose="00000800000000000000"/>
      <p:regular r:id="rId33"/>
    </p:embeddedFont>
    <p:embeddedFont>
      <p:font typeface="Open Sauce Bold Italics" charset="1" panose="00000800000000000000"/>
      <p:regular r:id="rId34"/>
    </p:embeddedFont>
    <p:embeddedFont>
      <p:font typeface="Anton" charset="1" panose="00000500000000000000"/>
      <p:regular r:id="rId35"/>
    </p:embeddedFont>
    <p:embeddedFont>
      <p:font typeface="Arial Bold" charset="1" panose="020B07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6.jpeg" Type="http://schemas.openxmlformats.org/officeDocument/2006/relationships/image"/><Relationship Id="rId6" Target="../media/image2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9.jpeg" Type="http://schemas.openxmlformats.org/officeDocument/2006/relationships/image"/><Relationship Id="rId6" Target="../media/image3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1.jpeg" Type="http://schemas.openxmlformats.org/officeDocument/2006/relationships/image"/><Relationship Id="rId6" Target="../media/image32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3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53812" y="1970295"/>
          <a:ext cx="4353899" cy="1619250"/>
        </p:xfrm>
        <a:graphic>
          <a:graphicData uri="http://schemas.openxmlformats.org/drawingml/2006/table">
            <a:tbl>
              <a:tblPr/>
              <a:tblGrid>
                <a:gridCol w="4353899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24/03/2026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5053994" y="6050572"/>
            <a:ext cx="4553546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Julio Alfredo Fenández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01428" y="4787582"/>
            <a:ext cx="5521098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6793741" y="3623929"/>
            <a:ext cx="11494259" cy="2591938"/>
            <a:chOff x="0" y="0"/>
            <a:chExt cx="3027295" cy="682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27294" cy="682650"/>
            </a:xfrm>
            <a:custGeom>
              <a:avLst/>
              <a:gdLst/>
              <a:ahLst/>
              <a:cxnLst/>
              <a:rect r="r" b="b" t="t" l="l"/>
              <a:pathLst>
                <a:path h="682650" w="3027294">
                  <a:moveTo>
                    <a:pt x="0" y="0"/>
                  </a:moveTo>
                  <a:lnTo>
                    <a:pt x="3027294" y="0"/>
                  </a:lnTo>
                  <a:lnTo>
                    <a:pt x="3027294" y="682650"/>
                  </a:lnTo>
                  <a:lnTo>
                    <a:pt x="0" y="682650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027295" cy="711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10065" y="4025311"/>
            <a:ext cx="14025570" cy="231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3"/>
              </a:lnSpc>
            </a:pPr>
            <a:r>
              <a:rPr lang="en-US" sz="18035" i="true" spc="-721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CLASE 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0065" y="6450729"/>
            <a:ext cx="591964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UNIDAD 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0707" y="8542683"/>
            <a:ext cx="567323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Escuela de Ingeniería de Ciencias y Sistemas</a:t>
            </a:r>
          </a:p>
          <a:p>
            <a:pPr algn="l">
              <a:lnSpc>
                <a:spcPts val="2399"/>
              </a:lnSpc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Facultad de Ingeniería</a:t>
            </a:r>
          </a:p>
          <a:p>
            <a:pPr algn="l">
              <a:lnSpc>
                <a:spcPts val="2399"/>
              </a:lnSpc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Universidad San Carlos de Guatemala</a:t>
            </a:r>
          </a:p>
          <a:p>
            <a:pPr algn="l">
              <a:lnSpc>
                <a:spcPts val="2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30707" y="8171208"/>
            <a:ext cx="649900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Programación de Computadoras 2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416197"/>
            <a:ext cx="2977205" cy="3842103"/>
            <a:chOff x="0" y="0"/>
            <a:chExt cx="784120" cy="1011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4120" cy="1011912"/>
            </a:xfrm>
            <a:custGeom>
              <a:avLst/>
              <a:gdLst/>
              <a:ahLst/>
              <a:cxnLst/>
              <a:rect r="r" b="b" t="t" l="l"/>
              <a:pathLst>
                <a:path h="1011912" w="784120">
                  <a:moveTo>
                    <a:pt x="0" y="0"/>
                  </a:moveTo>
                  <a:lnTo>
                    <a:pt x="784120" y="0"/>
                  </a:lnTo>
                  <a:lnTo>
                    <a:pt x="784120" y="1011912"/>
                  </a:lnTo>
                  <a:lnTo>
                    <a:pt x="0" y="101191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84120" cy="104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2999628"/>
            <a:chOff x="0" y="0"/>
            <a:chExt cx="2696887" cy="498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96887" cy="498419"/>
            </a:xfrm>
            <a:custGeom>
              <a:avLst/>
              <a:gdLst/>
              <a:ahLst/>
              <a:cxnLst/>
              <a:rect r="r" b="b" t="t" l="l"/>
              <a:pathLst>
                <a:path h="498419" w="2696887">
                  <a:moveTo>
                    <a:pt x="2696887" y="24327"/>
                  </a:moveTo>
                  <a:lnTo>
                    <a:pt x="2696887" y="474093"/>
                  </a:lnTo>
                  <a:cubicBezTo>
                    <a:pt x="2696887" y="487528"/>
                    <a:pt x="2685995" y="498419"/>
                    <a:pt x="2672560" y="498419"/>
                  </a:cubicBezTo>
                  <a:lnTo>
                    <a:pt x="24327" y="498419"/>
                  </a:lnTo>
                  <a:cubicBezTo>
                    <a:pt x="10891" y="498419"/>
                    <a:pt x="0" y="487528"/>
                    <a:pt x="0" y="47409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696887" cy="49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416197"/>
            <a:ext cx="8115300" cy="4870803"/>
            <a:chOff x="0" y="0"/>
            <a:chExt cx="6350000" cy="3811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3811270"/>
            </a:xfrm>
            <a:custGeom>
              <a:avLst/>
              <a:gdLst/>
              <a:ahLst/>
              <a:cxnLst/>
              <a:rect r="r" b="b" t="t" l="l"/>
              <a:pathLst>
                <a:path h="3811270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375" r="0" b="-437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212499" y="5416197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6795" y="1934419"/>
            <a:ext cx="6516682" cy="14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7"/>
              </a:lnSpc>
            </a:pPr>
            <a:r>
              <a:rPr lang="en-US" sz="11323" i="true" spc="-45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AGENDA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5996" y="6969785"/>
            <a:ext cx="3999815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RECURSOS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77709" y="2434447"/>
            <a:ext cx="209354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Introducción a Bases de Datos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18954" y="2434447"/>
            <a:ext cx="209354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Creación de una Base de Datos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858226" y="2434447"/>
            <a:ext cx="209354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Conexión a una Base de Datos</a:t>
            </a:r>
          </a:p>
          <a:p>
            <a:pPr algn="l">
              <a:lnSpc>
                <a:spcPts val="23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989485" y="2528514"/>
            <a:ext cx="209354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Repaso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332118" y="6988346"/>
            <a:ext cx="523930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Video de SQL https://youtu.be/6mYSc1Vcu1U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369832" y="8068157"/>
            <a:ext cx="523930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Corto 9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575996" y="7874171"/>
            <a:ext cx="3999815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RECORDATORIO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7709" y="1548622"/>
            <a:ext cx="209354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118954" y="1548622"/>
            <a:ext cx="209354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75903" y="1548622"/>
            <a:ext cx="209354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51772" y="1548622"/>
            <a:ext cx="209354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3491983" y="6519683"/>
            <a:ext cx="1702841" cy="5831793"/>
            <a:chOff x="0" y="0"/>
            <a:chExt cx="448485" cy="15359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485" cy="1535945"/>
            </a:xfrm>
            <a:custGeom>
              <a:avLst/>
              <a:gdLst/>
              <a:ahLst/>
              <a:cxnLst/>
              <a:rect r="r" b="b" t="t" l="l"/>
              <a:pathLst>
                <a:path h="1535945" w="448485">
                  <a:moveTo>
                    <a:pt x="0" y="0"/>
                  </a:moveTo>
                  <a:lnTo>
                    <a:pt x="448485" y="0"/>
                  </a:lnTo>
                  <a:lnTo>
                    <a:pt x="448485" y="1535945"/>
                  </a:lnTo>
                  <a:lnTo>
                    <a:pt x="0" y="153594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48485" cy="156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6973" y="10421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687658"/>
            <a:ext cx="3750476" cy="3570642"/>
            <a:chOff x="0" y="0"/>
            <a:chExt cx="623181" cy="5932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3181" cy="593299"/>
            </a:xfrm>
            <a:custGeom>
              <a:avLst/>
              <a:gdLst/>
              <a:ahLst/>
              <a:cxnLst/>
              <a:rect r="r" b="b" t="t" l="l"/>
              <a:pathLst>
                <a:path h="593299" w="623181">
                  <a:moveTo>
                    <a:pt x="623181" y="105277"/>
                  </a:moveTo>
                  <a:lnTo>
                    <a:pt x="623181" y="488023"/>
                  </a:lnTo>
                  <a:cubicBezTo>
                    <a:pt x="623181" y="515944"/>
                    <a:pt x="612090" y="542721"/>
                    <a:pt x="592347" y="562464"/>
                  </a:cubicBezTo>
                  <a:cubicBezTo>
                    <a:pt x="572603" y="582208"/>
                    <a:pt x="545826" y="593299"/>
                    <a:pt x="517905" y="593299"/>
                  </a:cubicBezTo>
                  <a:lnTo>
                    <a:pt x="105277" y="593299"/>
                  </a:lnTo>
                  <a:cubicBezTo>
                    <a:pt x="47134" y="593299"/>
                    <a:pt x="0" y="546165"/>
                    <a:pt x="0" y="488023"/>
                  </a:cubicBezTo>
                  <a:lnTo>
                    <a:pt x="0" y="105277"/>
                  </a:lnTo>
                  <a:cubicBezTo>
                    <a:pt x="0" y="77356"/>
                    <a:pt x="11092" y="50578"/>
                    <a:pt x="30835" y="30835"/>
                  </a:cubicBezTo>
                  <a:cubicBezTo>
                    <a:pt x="50578" y="11092"/>
                    <a:pt x="77356" y="0"/>
                    <a:pt x="105277" y="0"/>
                  </a:cubicBezTo>
                  <a:lnTo>
                    <a:pt x="517905" y="0"/>
                  </a:lnTo>
                  <a:cubicBezTo>
                    <a:pt x="545826" y="0"/>
                    <a:pt x="572603" y="11092"/>
                    <a:pt x="592347" y="30835"/>
                  </a:cubicBezTo>
                  <a:cubicBezTo>
                    <a:pt x="612090" y="50578"/>
                    <a:pt x="623181" y="77356"/>
                    <a:pt x="623181" y="10527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23181" cy="59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54374" y="5687658"/>
            <a:ext cx="3750476" cy="3570642"/>
            <a:chOff x="0" y="0"/>
            <a:chExt cx="623181" cy="593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181" cy="593299"/>
            </a:xfrm>
            <a:custGeom>
              <a:avLst/>
              <a:gdLst/>
              <a:ahLst/>
              <a:cxnLst/>
              <a:rect r="r" b="b" t="t" l="l"/>
              <a:pathLst>
                <a:path h="593299" w="623181">
                  <a:moveTo>
                    <a:pt x="623181" y="105277"/>
                  </a:moveTo>
                  <a:lnTo>
                    <a:pt x="623181" y="488023"/>
                  </a:lnTo>
                  <a:cubicBezTo>
                    <a:pt x="623181" y="515944"/>
                    <a:pt x="612090" y="542721"/>
                    <a:pt x="592347" y="562464"/>
                  </a:cubicBezTo>
                  <a:cubicBezTo>
                    <a:pt x="572603" y="582208"/>
                    <a:pt x="545826" y="593299"/>
                    <a:pt x="517905" y="593299"/>
                  </a:cubicBezTo>
                  <a:lnTo>
                    <a:pt x="105277" y="593299"/>
                  </a:lnTo>
                  <a:cubicBezTo>
                    <a:pt x="47134" y="593299"/>
                    <a:pt x="0" y="546165"/>
                    <a:pt x="0" y="488023"/>
                  </a:cubicBezTo>
                  <a:lnTo>
                    <a:pt x="0" y="105277"/>
                  </a:lnTo>
                  <a:cubicBezTo>
                    <a:pt x="0" y="77356"/>
                    <a:pt x="11092" y="50578"/>
                    <a:pt x="30835" y="30835"/>
                  </a:cubicBezTo>
                  <a:cubicBezTo>
                    <a:pt x="50578" y="11092"/>
                    <a:pt x="77356" y="0"/>
                    <a:pt x="105277" y="0"/>
                  </a:cubicBezTo>
                  <a:lnTo>
                    <a:pt x="517905" y="0"/>
                  </a:lnTo>
                  <a:cubicBezTo>
                    <a:pt x="545826" y="0"/>
                    <a:pt x="572603" y="11092"/>
                    <a:pt x="592347" y="30835"/>
                  </a:cubicBezTo>
                  <a:cubicBezTo>
                    <a:pt x="612090" y="50578"/>
                    <a:pt x="623181" y="77356"/>
                    <a:pt x="623181" y="10527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23181" cy="59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27507" y="1042193"/>
            <a:ext cx="5831793" cy="8216107"/>
            <a:chOff x="0" y="0"/>
            <a:chExt cx="450723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5"/>
              <a:stretch>
                <a:fillRect l="-55561" t="0" r="-55561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427507" y="7329783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0" y="2761531"/>
            <a:ext cx="10398807" cy="238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9622" i="true" spc="-384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COMPETENCIAS</a:t>
            </a:r>
          </a:p>
          <a:p>
            <a:pPr algn="ctr">
              <a:lnSpc>
                <a:spcPts val="914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47031" y="6100361"/>
            <a:ext cx="231381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 i="true" spc="-2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01</a:t>
            </a: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87865" y="6630016"/>
            <a:ext cx="3032145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9"/>
              </a:lnSpc>
            </a:pPr>
            <a:r>
              <a:rPr lang="en-US" b="true" sz="1599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 Base de datos a proyectos en Visual Basic .NET Mediante el uso de ADO.NET   DataGridView para realizar operaciones CRUD con datos almacenados localmente </a:t>
            </a:r>
          </a:p>
          <a:p>
            <a:pPr algn="just">
              <a:lnSpc>
                <a:spcPts val="191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228104" y="6100361"/>
            <a:ext cx="231381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 i="true" spc="-2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02</a:t>
            </a: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5927063" y="6509936"/>
            <a:ext cx="2915896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9"/>
              </a:lnSpc>
            </a:pPr>
            <a:r>
              <a:rPr lang="en-US" b="true" sz="1599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Constratar estructuras de datos basicos con los requerimientos de distintos tipos de problemas industriales para apoyar el analisis y la toma de decisiones a partir del almacenamiento y manipulacion de datos simples .</a:t>
            </a:r>
          </a:p>
          <a:p>
            <a:pPr algn="l">
              <a:lnSpc>
                <a:spcPts val="19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083733"/>
            </a:xfrm>
            <a:custGeom>
              <a:avLst/>
              <a:gdLst/>
              <a:ahLst/>
              <a:cxnLst/>
              <a:rect r="r" b="b" t="t" l="l"/>
              <a:pathLst>
                <a:path h="1083733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2257037"/>
            <a:ext cx="10173007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¿QUÉ ES SQL?</a:t>
            </a:r>
          </a:p>
          <a:p>
            <a:pPr algn="ctr">
              <a:lnSpc>
                <a:spcPts val="1249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7041" y="3369295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8"/>
                </a:lnTo>
                <a:lnTo>
                  <a:pt x="0" y="7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4725354"/>
            <a:ext cx="8675150" cy="4532946"/>
            <a:chOff x="0" y="0"/>
            <a:chExt cx="1441468" cy="753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1468" cy="753196"/>
            </a:xfrm>
            <a:custGeom>
              <a:avLst/>
              <a:gdLst/>
              <a:ahLst/>
              <a:cxnLst/>
              <a:rect r="r" b="b" t="t" l="l"/>
              <a:pathLst>
                <a:path h="753196" w="1441468">
                  <a:moveTo>
                    <a:pt x="1441468" y="45514"/>
                  </a:moveTo>
                  <a:lnTo>
                    <a:pt x="1441468" y="707683"/>
                  </a:lnTo>
                  <a:cubicBezTo>
                    <a:pt x="1441468" y="719753"/>
                    <a:pt x="1436673" y="731330"/>
                    <a:pt x="1428138" y="739866"/>
                  </a:cubicBezTo>
                  <a:cubicBezTo>
                    <a:pt x="1419602" y="748401"/>
                    <a:pt x="1408026" y="753196"/>
                    <a:pt x="1395955" y="753196"/>
                  </a:cubicBezTo>
                  <a:lnTo>
                    <a:pt x="45514" y="753196"/>
                  </a:lnTo>
                  <a:cubicBezTo>
                    <a:pt x="33443" y="753196"/>
                    <a:pt x="21866" y="748401"/>
                    <a:pt x="13331" y="739866"/>
                  </a:cubicBezTo>
                  <a:cubicBezTo>
                    <a:pt x="4795" y="731330"/>
                    <a:pt x="0" y="719753"/>
                    <a:pt x="0" y="707683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41468" cy="753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92104" y="5143500"/>
            <a:ext cx="7948341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SQL ES UN ACRÓNIMO EN INGLÉS PARA STRUCTURED QUERY LANGUAGE. UN LENGUAJE DE CONSULTA ESTRUCTURADO. UN TIPO DE LENGUAJE DE PROGRAMACIÓN QUE TE PERMITE MANIPULAR Y DESCARGAR DATOS DE UNA BASE DE DATOS.</a:t>
            </a:r>
          </a:p>
          <a:p>
            <a:pPr algn="just">
              <a:lnSpc>
                <a:spcPts val="4962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0173007" y="2787634"/>
            <a:ext cx="7086293" cy="6200506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660400"/>
                  </a:lnTo>
                  <a:lnTo>
                    <a:pt x="406400" y="711200"/>
                  </a:lnTo>
                  <a:lnTo>
                    <a:pt x="0" y="660400"/>
                  </a:lnTo>
                  <a:lnTo>
                    <a:pt x="0" y="50800"/>
                  </a:lnTo>
                  <a:close/>
                </a:path>
              </a:pathLst>
            </a:custGeom>
            <a:blipFill>
              <a:blip r:embed="rId5"/>
              <a:stretch>
                <a:fillRect l="-8634" t="0" r="-8634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083733"/>
            </a:xfrm>
            <a:custGeom>
              <a:avLst/>
              <a:gdLst/>
              <a:ahLst/>
              <a:cxnLst/>
              <a:rect r="r" b="b" t="t" l="l"/>
              <a:pathLst>
                <a:path h="1083733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2257037"/>
            <a:ext cx="10173007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¿QUÉ ES SQL?</a:t>
            </a:r>
          </a:p>
          <a:p>
            <a:pPr algn="ctr">
              <a:lnSpc>
                <a:spcPts val="1249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7041" y="3369295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8"/>
                </a:lnTo>
                <a:lnTo>
                  <a:pt x="0" y="7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4875750"/>
            <a:ext cx="8675150" cy="4800696"/>
            <a:chOff x="0" y="0"/>
            <a:chExt cx="1441468" cy="797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1468" cy="797686"/>
            </a:xfrm>
            <a:custGeom>
              <a:avLst/>
              <a:gdLst/>
              <a:ahLst/>
              <a:cxnLst/>
              <a:rect r="r" b="b" t="t" l="l"/>
              <a:pathLst>
                <a:path h="797686" w="1441468">
                  <a:moveTo>
                    <a:pt x="1441468" y="45514"/>
                  </a:moveTo>
                  <a:lnTo>
                    <a:pt x="1441468" y="752172"/>
                  </a:lnTo>
                  <a:cubicBezTo>
                    <a:pt x="1441468" y="764243"/>
                    <a:pt x="1436673" y="775820"/>
                    <a:pt x="1428138" y="784355"/>
                  </a:cubicBezTo>
                  <a:cubicBezTo>
                    <a:pt x="1419602" y="792890"/>
                    <a:pt x="1408026" y="797686"/>
                    <a:pt x="1395955" y="797686"/>
                  </a:cubicBezTo>
                  <a:lnTo>
                    <a:pt x="45514" y="797686"/>
                  </a:lnTo>
                  <a:cubicBezTo>
                    <a:pt x="33443" y="797686"/>
                    <a:pt x="21866" y="792890"/>
                    <a:pt x="13331" y="784355"/>
                  </a:cubicBezTo>
                  <a:cubicBezTo>
                    <a:pt x="4795" y="775820"/>
                    <a:pt x="0" y="764243"/>
                    <a:pt x="0" y="752172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41468" cy="79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73007" y="2787634"/>
            <a:ext cx="7086293" cy="6200506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660400"/>
                  </a:lnTo>
                  <a:lnTo>
                    <a:pt x="406400" y="711200"/>
                  </a:lnTo>
                  <a:lnTo>
                    <a:pt x="0" y="660400"/>
                  </a:lnTo>
                  <a:lnTo>
                    <a:pt x="0" y="50800"/>
                  </a:lnTo>
                  <a:close/>
                </a:path>
              </a:pathLst>
            </a:custGeom>
            <a:blipFill>
              <a:blip r:embed="rId5"/>
              <a:stretch>
                <a:fillRect l="-30398" t="0" r="-3039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92104" y="5143500"/>
            <a:ext cx="7948341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TIENE CAPACIDAD DE HACER CÁLCULOS AVANZADOS Y ÁLGEBRA. ES UTILIZADO EN LA MAYORÍA DE EMPRESAS QUE ALMACENAN DATOS EN UNA BASE DE DATOS. HA SIDO Y SIGUE SIENDO EL LENGUAJE DE PROGRAMACIÓN MÁS USADO PARA BASES DE DATOS RELACIONALES.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245613"/>
            <a:ext cx="3551819" cy="4059425"/>
            <a:chOff x="0" y="0"/>
            <a:chExt cx="935459" cy="10691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5459" cy="1069149"/>
            </a:xfrm>
            <a:custGeom>
              <a:avLst/>
              <a:gdLst/>
              <a:ahLst/>
              <a:cxnLst/>
              <a:rect r="r" b="b" t="t" l="l"/>
              <a:pathLst>
                <a:path h="1069149" w="935459">
                  <a:moveTo>
                    <a:pt x="0" y="0"/>
                  </a:moveTo>
                  <a:lnTo>
                    <a:pt x="935459" y="0"/>
                  </a:lnTo>
                  <a:lnTo>
                    <a:pt x="935459" y="1069149"/>
                  </a:lnTo>
                  <a:lnTo>
                    <a:pt x="0" y="1069149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35459" cy="1097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243560" y="3870983"/>
            <a:ext cx="1800881" cy="9938745"/>
            <a:chOff x="0" y="0"/>
            <a:chExt cx="474306" cy="26176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4306" cy="2617612"/>
            </a:xfrm>
            <a:custGeom>
              <a:avLst/>
              <a:gdLst/>
              <a:ahLst/>
              <a:cxnLst/>
              <a:rect r="r" b="b" t="t" l="l"/>
              <a:pathLst>
                <a:path h="2617612" w="474306">
                  <a:moveTo>
                    <a:pt x="0" y="0"/>
                  </a:moveTo>
                  <a:lnTo>
                    <a:pt x="474306" y="0"/>
                  </a:lnTo>
                  <a:lnTo>
                    <a:pt x="474306" y="2617612"/>
                  </a:lnTo>
                  <a:lnTo>
                    <a:pt x="0" y="261761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74306" cy="2646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74627" y="1460137"/>
            <a:ext cx="9938745" cy="8216107"/>
            <a:chOff x="0" y="0"/>
            <a:chExt cx="1651428" cy="1365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1428" cy="1365192"/>
            </a:xfrm>
            <a:custGeom>
              <a:avLst/>
              <a:gdLst/>
              <a:ahLst/>
              <a:cxnLst/>
              <a:rect r="r" b="b" t="t" l="l"/>
              <a:pathLst>
                <a:path h="1365192" w="1651428">
                  <a:moveTo>
                    <a:pt x="1651428" y="39727"/>
                  </a:moveTo>
                  <a:lnTo>
                    <a:pt x="1651428" y="1325465"/>
                  </a:lnTo>
                  <a:cubicBezTo>
                    <a:pt x="1651428" y="1336001"/>
                    <a:pt x="1647242" y="1346106"/>
                    <a:pt x="1639792" y="1353556"/>
                  </a:cubicBezTo>
                  <a:cubicBezTo>
                    <a:pt x="1632342" y="1361006"/>
                    <a:pt x="1622237" y="1365192"/>
                    <a:pt x="1611701" y="1365192"/>
                  </a:cubicBezTo>
                  <a:lnTo>
                    <a:pt x="39727" y="1365192"/>
                  </a:lnTo>
                  <a:cubicBezTo>
                    <a:pt x="29191" y="1365192"/>
                    <a:pt x="19086" y="1361006"/>
                    <a:pt x="11636" y="1353556"/>
                  </a:cubicBezTo>
                  <a:cubicBezTo>
                    <a:pt x="4186" y="1346106"/>
                    <a:pt x="0" y="1336001"/>
                    <a:pt x="0" y="1325465"/>
                  </a:cubicBezTo>
                  <a:lnTo>
                    <a:pt x="0" y="39727"/>
                  </a:lnTo>
                  <a:cubicBezTo>
                    <a:pt x="0" y="29191"/>
                    <a:pt x="4186" y="19086"/>
                    <a:pt x="11636" y="11636"/>
                  </a:cubicBezTo>
                  <a:cubicBezTo>
                    <a:pt x="19086" y="4186"/>
                    <a:pt x="29191" y="0"/>
                    <a:pt x="39727" y="0"/>
                  </a:cubicBezTo>
                  <a:lnTo>
                    <a:pt x="1611701" y="0"/>
                  </a:lnTo>
                  <a:cubicBezTo>
                    <a:pt x="1622237" y="0"/>
                    <a:pt x="1632342" y="4186"/>
                    <a:pt x="1639792" y="11636"/>
                  </a:cubicBezTo>
                  <a:cubicBezTo>
                    <a:pt x="1647242" y="19086"/>
                    <a:pt x="1651428" y="29191"/>
                    <a:pt x="1651428" y="3972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651428" cy="1365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8251262" y="-2616498"/>
            <a:ext cx="1785477" cy="9938745"/>
            <a:chOff x="0" y="0"/>
            <a:chExt cx="470249" cy="26176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0249" cy="2617612"/>
            </a:xfrm>
            <a:custGeom>
              <a:avLst/>
              <a:gdLst/>
              <a:ahLst/>
              <a:cxnLst/>
              <a:rect r="r" b="b" t="t" l="l"/>
              <a:pathLst>
                <a:path h="2617612" w="470249">
                  <a:moveTo>
                    <a:pt x="0" y="0"/>
                  </a:moveTo>
                  <a:lnTo>
                    <a:pt x="470249" y="0"/>
                  </a:lnTo>
                  <a:lnTo>
                    <a:pt x="470249" y="2617612"/>
                  </a:lnTo>
                  <a:lnTo>
                    <a:pt x="0" y="261761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70249" cy="2646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91282" y="8840356"/>
            <a:ext cx="835888" cy="835888"/>
          </a:xfrm>
          <a:custGeom>
            <a:avLst/>
            <a:gdLst/>
            <a:ahLst/>
            <a:cxnLst/>
            <a:rect r="r" b="b" t="t" l="l"/>
            <a:pathLst>
              <a:path h="835888" w="835888">
                <a:moveTo>
                  <a:pt x="0" y="0"/>
                </a:moveTo>
                <a:lnTo>
                  <a:pt x="835888" y="0"/>
                </a:lnTo>
                <a:lnTo>
                  <a:pt x="835888" y="835888"/>
                </a:lnTo>
                <a:lnTo>
                  <a:pt x="0" y="835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50354" y="2617834"/>
            <a:ext cx="9387293" cy="6222521"/>
          </a:xfrm>
          <a:custGeom>
            <a:avLst/>
            <a:gdLst/>
            <a:ahLst/>
            <a:cxnLst/>
            <a:rect r="r" b="b" t="t" l="l"/>
            <a:pathLst>
              <a:path h="6222521" w="9387293">
                <a:moveTo>
                  <a:pt x="0" y="0"/>
                </a:moveTo>
                <a:lnTo>
                  <a:pt x="9387292" y="0"/>
                </a:lnTo>
                <a:lnTo>
                  <a:pt x="9387292" y="6222522"/>
                </a:lnTo>
                <a:lnTo>
                  <a:pt x="0" y="6222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3732699"/>
            <a:ext cx="1821669" cy="6214820"/>
            <a:chOff x="0" y="0"/>
            <a:chExt cx="479781" cy="163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636825"/>
            </a:xfrm>
            <a:custGeom>
              <a:avLst/>
              <a:gdLst/>
              <a:ahLst/>
              <a:cxnLst/>
              <a:rect r="r" b="b" t="t" l="l"/>
              <a:pathLst>
                <a:path h="1636825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636825"/>
                  </a:lnTo>
                  <a:lnTo>
                    <a:pt x="0" y="163682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66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84996" y="2257037"/>
            <a:ext cx="15935438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COMANDOS BÁSICOS</a:t>
            </a:r>
          </a:p>
          <a:p>
            <a:pPr algn="ctr">
              <a:lnSpc>
                <a:spcPts val="1249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6633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17445" y="4800552"/>
            <a:ext cx="8675150" cy="4800696"/>
            <a:chOff x="0" y="0"/>
            <a:chExt cx="1441468" cy="797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1468" cy="797686"/>
            </a:xfrm>
            <a:custGeom>
              <a:avLst/>
              <a:gdLst/>
              <a:ahLst/>
              <a:cxnLst/>
              <a:rect r="r" b="b" t="t" l="l"/>
              <a:pathLst>
                <a:path h="797686" w="1441468">
                  <a:moveTo>
                    <a:pt x="1441468" y="45514"/>
                  </a:moveTo>
                  <a:lnTo>
                    <a:pt x="1441468" y="752172"/>
                  </a:lnTo>
                  <a:cubicBezTo>
                    <a:pt x="1441468" y="764243"/>
                    <a:pt x="1436673" y="775820"/>
                    <a:pt x="1428138" y="784355"/>
                  </a:cubicBezTo>
                  <a:cubicBezTo>
                    <a:pt x="1419602" y="792890"/>
                    <a:pt x="1408026" y="797686"/>
                    <a:pt x="1395955" y="797686"/>
                  </a:cubicBezTo>
                  <a:lnTo>
                    <a:pt x="45514" y="797686"/>
                  </a:lnTo>
                  <a:cubicBezTo>
                    <a:pt x="33443" y="797686"/>
                    <a:pt x="21866" y="792890"/>
                    <a:pt x="13331" y="784355"/>
                  </a:cubicBezTo>
                  <a:cubicBezTo>
                    <a:pt x="4795" y="775820"/>
                    <a:pt x="0" y="764243"/>
                    <a:pt x="0" y="752172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41468" cy="79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7324" y="4915059"/>
            <a:ext cx="8195391" cy="466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TODOS LOS TIPOS DE SQL TIENEN ALGUNOS COMANDOS BÁSICOS.  LOS 5 MÁS COMUNES SON: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SELECT: Permite seleccionar los datos para descargar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WHERE: Permite seleccionar qué filtro aplicar a los a datos descargar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INSERT: Permite insertar datos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DELETE: Permite borrar datos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UPDATE: Permite actualizar los datos</a:t>
            </a:r>
          </a:p>
          <a:p>
            <a:pPr algn="just">
              <a:lnSpc>
                <a:spcPts val="3715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173007" y="5196195"/>
            <a:ext cx="7312616" cy="4009409"/>
          </a:xfrm>
          <a:custGeom>
            <a:avLst/>
            <a:gdLst/>
            <a:ahLst/>
            <a:cxnLst/>
            <a:rect r="r" b="b" t="t" l="l"/>
            <a:pathLst>
              <a:path h="4009409" w="7312616">
                <a:moveTo>
                  <a:pt x="0" y="0"/>
                </a:moveTo>
                <a:lnTo>
                  <a:pt x="7312616" y="0"/>
                </a:lnTo>
                <a:lnTo>
                  <a:pt x="7312616" y="4009410"/>
                </a:lnTo>
                <a:lnTo>
                  <a:pt x="0" y="4009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3732699"/>
            <a:ext cx="1821669" cy="6214820"/>
            <a:chOff x="0" y="0"/>
            <a:chExt cx="479781" cy="163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636825"/>
            </a:xfrm>
            <a:custGeom>
              <a:avLst/>
              <a:gdLst/>
              <a:ahLst/>
              <a:cxnLst/>
              <a:rect r="r" b="b" t="t" l="l"/>
              <a:pathLst>
                <a:path h="1636825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636825"/>
                  </a:lnTo>
                  <a:lnTo>
                    <a:pt x="0" y="163682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66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84996" y="2257037"/>
            <a:ext cx="15935438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CREACIÓN DB</a:t>
            </a:r>
          </a:p>
          <a:p>
            <a:pPr algn="ctr">
              <a:lnSpc>
                <a:spcPts val="1249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6633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68850" y="4576667"/>
            <a:ext cx="8675150" cy="2914857"/>
            <a:chOff x="0" y="0"/>
            <a:chExt cx="1441468" cy="4843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1468" cy="484334"/>
            </a:xfrm>
            <a:custGeom>
              <a:avLst/>
              <a:gdLst/>
              <a:ahLst/>
              <a:cxnLst/>
              <a:rect r="r" b="b" t="t" l="l"/>
              <a:pathLst>
                <a:path h="484334" w="1441468">
                  <a:moveTo>
                    <a:pt x="1441468" y="45514"/>
                  </a:moveTo>
                  <a:lnTo>
                    <a:pt x="1441468" y="438820"/>
                  </a:lnTo>
                  <a:cubicBezTo>
                    <a:pt x="1441468" y="450891"/>
                    <a:pt x="1436673" y="462468"/>
                    <a:pt x="1428138" y="471003"/>
                  </a:cubicBezTo>
                  <a:cubicBezTo>
                    <a:pt x="1419602" y="479539"/>
                    <a:pt x="1408026" y="484334"/>
                    <a:pt x="1395955" y="484334"/>
                  </a:cubicBezTo>
                  <a:lnTo>
                    <a:pt x="45514" y="484334"/>
                  </a:lnTo>
                  <a:cubicBezTo>
                    <a:pt x="33443" y="484334"/>
                    <a:pt x="21866" y="479539"/>
                    <a:pt x="13331" y="471003"/>
                  </a:cubicBezTo>
                  <a:cubicBezTo>
                    <a:pt x="4795" y="462468"/>
                    <a:pt x="0" y="450891"/>
                    <a:pt x="0" y="438820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41468" cy="484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884087" y="6674644"/>
            <a:ext cx="6459623" cy="3272876"/>
          </a:xfrm>
          <a:custGeom>
            <a:avLst/>
            <a:gdLst/>
            <a:ahLst/>
            <a:cxnLst/>
            <a:rect r="r" b="b" t="t" l="l"/>
            <a:pathLst>
              <a:path h="3272876" w="6459623">
                <a:moveTo>
                  <a:pt x="0" y="0"/>
                </a:moveTo>
                <a:lnTo>
                  <a:pt x="6459624" y="0"/>
                </a:lnTo>
                <a:lnTo>
                  <a:pt x="6459624" y="3272875"/>
                </a:lnTo>
                <a:lnTo>
                  <a:pt x="0" y="3272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60389" y="4443786"/>
            <a:ext cx="6160045" cy="4461715"/>
          </a:xfrm>
          <a:custGeom>
            <a:avLst/>
            <a:gdLst/>
            <a:ahLst/>
            <a:cxnLst/>
            <a:rect r="r" b="b" t="t" l="l"/>
            <a:pathLst>
              <a:path h="4461715" w="6160045">
                <a:moveTo>
                  <a:pt x="0" y="0"/>
                </a:moveTo>
                <a:lnTo>
                  <a:pt x="6160045" y="0"/>
                </a:lnTo>
                <a:lnTo>
                  <a:pt x="6160045" y="4461715"/>
                </a:lnTo>
                <a:lnTo>
                  <a:pt x="0" y="4461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7324" y="4915059"/>
            <a:ext cx="8195391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PARA CREAR UNA BASE DE DATOS SE USAN LOS SIGUIENTES COMANDOS: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CREATE DATABASE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USE </a:t>
            </a:r>
          </a:p>
          <a:p>
            <a:pPr algn="just" marL="668520" indent="-334260" lvl="1">
              <a:lnSpc>
                <a:spcPts val="3715"/>
              </a:lnSpc>
              <a:buFont typeface="Arial"/>
              <a:buChar char="•"/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CREATE TABLE</a:t>
            </a:r>
          </a:p>
          <a:p>
            <a:pPr algn="just">
              <a:lnSpc>
                <a:spcPts val="371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3732699"/>
            <a:ext cx="1821669" cy="6214820"/>
            <a:chOff x="0" y="0"/>
            <a:chExt cx="479781" cy="163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636825"/>
            </a:xfrm>
            <a:custGeom>
              <a:avLst/>
              <a:gdLst/>
              <a:ahLst/>
              <a:cxnLst/>
              <a:rect r="r" b="b" t="t" l="l"/>
              <a:pathLst>
                <a:path h="1636825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636825"/>
                  </a:lnTo>
                  <a:lnTo>
                    <a:pt x="0" y="163682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66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729819"/>
            <a:ext cx="15935438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6633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60406" y="6369766"/>
            <a:ext cx="8049139" cy="1895631"/>
          </a:xfrm>
          <a:custGeom>
            <a:avLst/>
            <a:gdLst/>
            <a:ahLst/>
            <a:cxnLst/>
            <a:rect r="r" b="b" t="t" l="l"/>
            <a:pathLst>
              <a:path h="1895631" w="8049139">
                <a:moveTo>
                  <a:pt x="0" y="0"/>
                </a:moveTo>
                <a:lnTo>
                  <a:pt x="8049139" y="0"/>
                </a:lnTo>
                <a:lnTo>
                  <a:pt x="8049139" y="1895631"/>
                </a:lnTo>
                <a:lnTo>
                  <a:pt x="0" y="1895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1561" y="4443412"/>
            <a:ext cx="144897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3096" i="true" spc="-61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*NOTA</a:t>
            </a: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:  ES IMPORTANTE QUE EL PROYECTO SEA CREADO CON EL </a:t>
            </a:r>
            <a:r>
              <a:rPr lang="en-US" sz="3096" i="true" spc="-61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FRAMEWORK .NET</a:t>
            </a:r>
          </a:p>
          <a:p>
            <a:pPr algn="ctr">
              <a:lnSpc>
                <a:spcPts val="371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87889" y="5206572"/>
            <a:ext cx="100170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PONER LA REFERENCIA DE LA LIBRERIA</a:t>
            </a:r>
            <a:r>
              <a:rPr lang="en-US" sz="3096" i="true" spc="-61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 SQLCLIENT </a:t>
            </a:r>
          </a:p>
          <a:p>
            <a:pPr algn="ctr">
              <a:lnSpc>
                <a:spcPts val="371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91116" y="9248775"/>
            <a:ext cx="1210576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https://docs.microsoft.com/en-us/troubleshoot/dotnet/framework/open-database-by-sql-server-dotnet-data-provider</a:t>
            </a:r>
          </a:p>
          <a:p>
            <a:pPr algn="ctr">
              <a:lnSpc>
                <a:spcPts val="19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59" r="0" b="-93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3732699"/>
            <a:ext cx="1821669" cy="6214820"/>
            <a:chOff x="0" y="0"/>
            <a:chExt cx="479781" cy="163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636825"/>
            </a:xfrm>
            <a:custGeom>
              <a:avLst/>
              <a:gdLst/>
              <a:ahLst/>
              <a:cxnLst/>
              <a:rect r="r" b="b" t="t" l="l"/>
              <a:pathLst>
                <a:path h="1636825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636825"/>
                  </a:lnTo>
                  <a:lnTo>
                    <a:pt x="0" y="163682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66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729819"/>
            <a:ext cx="15935438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6633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14844" y="5824538"/>
            <a:ext cx="10458313" cy="2862472"/>
          </a:xfrm>
          <a:custGeom>
            <a:avLst/>
            <a:gdLst/>
            <a:ahLst/>
            <a:cxnLst/>
            <a:rect r="r" b="b" t="t" l="l"/>
            <a:pathLst>
              <a:path h="2862472" w="10458313">
                <a:moveTo>
                  <a:pt x="0" y="0"/>
                </a:moveTo>
                <a:lnTo>
                  <a:pt x="10458312" y="0"/>
                </a:lnTo>
                <a:lnTo>
                  <a:pt x="10458312" y="2862472"/>
                </a:lnTo>
                <a:lnTo>
                  <a:pt x="0" y="2862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1561" y="4443412"/>
            <a:ext cx="144897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CREAR LOS OBJETOS NECESARIOS PARA LA CONEXIÓN</a:t>
            </a:r>
          </a:p>
          <a:p>
            <a:pPr algn="ctr">
              <a:lnSpc>
                <a:spcPts val="371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59" r="0" b="-93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3732699"/>
            <a:ext cx="1821669" cy="6214820"/>
            <a:chOff x="0" y="0"/>
            <a:chExt cx="479781" cy="163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636825"/>
            </a:xfrm>
            <a:custGeom>
              <a:avLst/>
              <a:gdLst/>
              <a:ahLst/>
              <a:cxnLst/>
              <a:rect r="r" b="b" t="t" l="l"/>
              <a:pathLst>
                <a:path h="1636825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636825"/>
                  </a:lnTo>
                  <a:lnTo>
                    <a:pt x="0" y="163682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66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729819"/>
            <a:ext cx="15935438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6633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04409" y="5376863"/>
            <a:ext cx="11279181" cy="2105068"/>
          </a:xfrm>
          <a:custGeom>
            <a:avLst/>
            <a:gdLst/>
            <a:ahLst/>
            <a:cxnLst/>
            <a:rect r="r" b="b" t="t" l="l"/>
            <a:pathLst>
              <a:path h="2105068" w="11279181">
                <a:moveTo>
                  <a:pt x="0" y="0"/>
                </a:moveTo>
                <a:lnTo>
                  <a:pt x="11279182" y="0"/>
                </a:lnTo>
                <a:lnTo>
                  <a:pt x="11279182" y="2105067"/>
                </a:lnTo>
                <a:lnTo>
                  <a:pt x="0" y="2105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1561" y="4443412"/>
            <a:ext cx="144897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CREAR OBJETO SQLCONNETION</a:t>
            </a:r>
          </a:p>
          <a:p>
            <a:pPr algn="ctr">
              <a:lnSpc>
                <a:spcPts val="371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091116" y="9248775"/>
            <a:ext cx="1210576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*Donde "Northwind" es el nombre de la base de datos</a:t>
            </a:r>
          </a:p>
          <a:p>
            <a:pPr algn="ctr">
              <a:lnSpc>
                <a:spcPts val="191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59" r="0" b="-93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3732699"/>
            <a:ext cx="1821669" cy="6214820"/>
            <a:chOff x="0" y="0"/>
            <a:chExt cx="479781" cy="1636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636825"/>
            </a:xfrm>
            <a:custGeom>
              <a:avLst/>
              <a:gdLst/>
              <a:ahLst/>
              <a:cxnLst/>
              <a:rect r="r" b="b" t="t" l="l"/>
              <a:pathLst>
                <a:path h="1636825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636825"/>
                  </a:lnTo>
                  <a:lnTo>
                    <a:pt x="0" y="163682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66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729819"/>
            <a:ext cx="15935438" cy="326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6633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1561" y="4443412"/>
            <a:ext cx="144897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PARTES DE LA CADENA DE CONEXIÓN</a:t>
            </a:r>
          </a:p>
          <a:p>
            <a:pPr algn="ctr">
              <a:lnSpc>
                <a:spcPts val="371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17193" y="5376863"/>
            <a:ext cx="9653613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SERVER                        -&gt; NOMBRE/DIRECCION DEL SERVIDOR  </a:t>
            </a:r>
          </a:p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Database                   -&gt; Nombre de la base de datos</a:t>
            </a:r>
          </a:p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Initial Catalog         -&gt;  Nombre de la base de datosIntegrated </a:t>
            </a:r>
          </a:p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Security                    -&gt;  Autentificación de Windows</a:t>
            </a:r>
          </a:p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user id                       -&gt; Nombre del usuario</a:t>
            </a:r>
          </a:p>
          <a:p>
            <a:pPr algn="just">
              <a:lnSpc>
                <a:spcPts val="3715"/>
              </a:lnSpc>
            </a:pPr>
            <a:r>
              <a:rPr lang="en-US" sz="3096" i="true" spc="-6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password                 -&gt; Contraseña del usuario</a:t>
            </a:r>
          </a:p>
          <a:p>
            <a:pPr algn="ctr">
              <a:lnSpc>
                <a:spcPts val="3715"/>
              </a:lnSpc>
            </a:pPr>
          </a:p>
          <a:p>
            <a:pPr algn="ctr">
              <a:lnSpc>
                <a:spcPts val="371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475013"/>
            <a:ext cx="2894909" cy="4811987"/>
            <a:chOff x="0" y="0"/>
            <a:chExt cx="762445" cy="1267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445" cy="1267355"/>
            </a:xfrm>
            <a:custGeom>
              <a:avLst/>
              <a:gdLst/>
              <a:ahLst/>
              <a:cxnLst/>
              <a:rect r="r" b="b" t="t" l="l"/>
              <a:pathLst>
                <a:path h="1267355" w="762445">
                  <a:moveTo>
                    <a:pt x="0" y="0"/>
                  </a:moveTo>
                  <a:lnTo>
                    <a:pt x="762445" y="0"/>
                  </a:lnTo>
                  <a:lnTo>
                    <a:pt x="762445" y="1267355"/>
                  </a:lnTo>
                  <a:lnTo>
                    <a:pt x="0" y="1267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62445" cy="129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58523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85415" y="5475013"/>
            <a:ext cx="11412708" cy="3235421"/>
          </a:xfrm>
          <a:custGeom>
            <a:avLst/>
            <a:gdLst/>
            <a:ahLst/>
            <a:cxnLst/>
            <a:rect r="r" b="b" t="t" l="l"/>
            <a:pathLst>
              <a:path h="3235421" w="11412708">
                <a:moveTo>
                  <a:pt x="0" y="0"/>
                </a:moveTo>
                <a:lnTo>
                  <a:pt x="11412708" y="0"/>
                </a:lnTo>
                <a:lnTo>
                  <a:pt x="11412708" y="3235421"/>
                </a:lnTo>
                <a:lnTo>
                  <a:pt x="0" y="3235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84048" y="1203243"/>
            <a:ext cx="13119905" cy="394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7"/>
              </a:lnSpc>
            </a:pPr>
            <a:r>
              <a:rPr lang="en-US" sz="10702" i="true" spc="-42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  <a:p>
            <a:pPr algn="ctr">
              <a:lnSpc>
                <a:spcPts val="1016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685415" y="4514850"/>
            <a:ext cx="1091717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4135" i="true" spc="-82">
                <a:solidFill>
                  <a:srgbClr val="EEECE1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CONFIGURACION PARA QUE TENGA UNA CONSULTA</a:t>
            </a:r>
          </a:p>
          <a:p>
            <a:pPr algn="ctr">
              <a:lnSpc>
                <a:spcPts val="496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475013"/>
            <a:ext cx="2894909" cy="4811987"/>
            <a:chOff x="0" y="0"/>
            <a:chExt cx="762445" cy="1267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445" cy="1267355"/>
            </a:xfrm>
            <a:custGeom>
              <a:avLst/>
              <a:gdLst/>
              <a:ahLst/>
              <a:cxnLst/>
              <a:rect r="r" b="b" t="t" l="l"/>
              <a:pathLst>
                <a:path h="1267355" w="762445">
                  <a:moveTo>
                    <a:pt x="0" y="0"/>
                  </a:moveTo>
                  <a:lnTo>
                    <a:pt x="762445" y="0"/>
                  </a:lnTo>
                  <a:lnTo>
                    <a:pt x="762445" y="1267355"/>
                  </a:lnTo>
                  <a:lnTo>
                    <a:pt x="0" y="1267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62445" cy="129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58523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0618" y="2788569"/>
            <a:ext cx="11166763" cy="2394246"/>
          </a:xfrm>
          <a:custGeom>
            <a:avLst/>
            <a:gdLst/>
            <a:ahLst/>
            <a:cxnLst/>
            <a:rect r="r" b="b" t="t" l="l"/>
            <a:pathLst>
              <a:path h="2394246" w="11166763">
                <a:moveTo>
                  <a:pt x="0" y="0"/>
                </a:moveTo>
                <a:lnTo>
                  <a:pt x="11166764" y="0"/>
                </a:lnTo>
                <a:lnTo>
                  <a:pt x="11166764" y="2394246"/>
                </a:lnTo>
                <a:lnTo>
                  <a:pt x="0" y="2394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0618" y="6328946"/>
            <a:ext cx="11166763" cy="3329404"/>
          </a:xfrm>
          <a:custGeom>
            <a:avLst/>
            <a:gdLst/>
            <a:ahLst/>
            <a:cxnLst/>
            <a:rect r="r" b="b" t="t" l="l"/>
            <a:pathLst>
              <a:path h="3329404" w="11166763">
                <a:moveTo>
                  <a:pt x="0" y="0"/>
                </a:moveTo>
                <a:lnTo>
                  <a:pt x="11166764" y="0"/>
                </a:lnTo>
                <a:lnTo>
                  <a:pt x="11166764" y="3329404"/>
                </a:lnTo>
                <a:lnTo>
                  <a:pt x="0" y="3329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2093" y="556895"/>
            <a:ext cx="14881864" cy="265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7"/>
              </a:lnSpc>
            </a:pPr>
            <a:r>
              <a:rPr lang="en-US" sz="10702" i="true" spc="-42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  <a:p>
            <a:pPr algn="l">
              <a:lnSpc>
                <a:spcPts val="1016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560618" y="2159919"/>
            <a:ext cx="1091717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4135" i="true" spc="-82">
                <a:solidFill>
                  <a:srgbClr val="EEECE1"/>
                </a:solidFill>
                <a:latin typeface="Anton Italics"/>
                <a:ea typeface="Anton Italics"/>
                <a:cs typeface="Anton Italics"/>
                <a:sym typeface="Anton Italics"/>
              </a:rPr>
              <a:t>EJECUCION DE LA CONSULTA</a:t>
            </a:r>
          </a:p>
          <a:p>
            <a:pPr algn="ctr">
              <a:lnSpc>
                <a:spcPts val="496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685415" y="5700296"/>
            <a:ext cx="1091717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4135" i="true" spc="-82">
                <a:solidFill>
                  <a:srgbClr val="EEECE1"/>
                </a:solidFill>
                <a:latin typeface="Anton Italics"/>
                <a:ea typeface="Anton Italics"/>
                <a:cs typeface="Anton Italics"/>
                <a:sym typeface="Anton Italics"/>
              </a:rPr>
              <a:t>USAR LOS DATOS QUE DEVUELVE LA CONSULTA</a:t>
            </a:r>
          </a:p>
          <a:p>
            <a:pPr algn="ctr">
              <a:lnSpc>
                <a:spcPts val="496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475013"/>
            <a:ext cx="2894909" cy="4811987"/>
            <a:chOff x="0" y="0"/>
            <a:chExt cx="762445" cy="1267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445" cy="1267355"/>
            </a:xfrm>
            <a:custGeom>
              <a:avLst/>
              <a:gdLst/>
              <a:ahLst/>
              <a:cxnLst/>
              <a:rect r="r" b="b" t="t" l="l"/>
              <a:pathLst>
                <a:path h="1267355" w="762445">
                  <a:moveTo>
                    <a:pt x="0" y="0"/>
                  </a:moveTo>
                  <a:lnTo>
                    <a:pt x="762445" y="0"/>
                  </a:lnTo>
                  <a:lnTo>
                    <a:pt x="762445" y="1267355"/>
                  </a:lnTo>
                  <a:lnTo>
                    <a:pt x="0" y="1267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62445" cy="129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247915" y="8894896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8"/>
                </a:lnTo>
                <a:lnTo>
                  <a:pt x="0" y="7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3728" y="4228407"/>
            <a:ext cx="16245572" cy="3652599"/>
          </a:xfrm>
          <a:custGeom>
            <a:avLst/>
            <a:gdLst/>
            <a:ahLst/>
            <a:cxnLst/>
            <a:rect r="r" b="b" t="t" l="l"/>
            <a:pathLst>
              <a:path h="3652599" w="16245572">
                <a:moveTo>
                  <a:pt x="0" y="0"/>
                </a:moveTo>
                <a:lnTo>
                  <a:pt x="16245572" y="0"/>
                </a:lnTo>
                <a:lnTo>
                  <a:pt x="16245572" y="3652599"/>
                </a:lnTo>
                <a:lnTo>
                  <a:pt x="0" y="3652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5582" y="1574025"/>
            <a:ext cx="14881864" cy="265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7"/>
              </a:lnSpc>
            </a:pPr>
            <a:r>
              <a:rPr lang="en-US" sz="10702" i="true" spc="-42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CONEXIÓN A LA BASE DE DATOS</a:t>
            </a:r>
          </a:p>
          <a:p>
            <a:pPr algn="ctr">
              <a:lnSpc>
                <a:spcPts val="1016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685415" y="3211277"/>
            <a:ext cx="1091717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4135" i="true" spc="-82">
                <a:solidFill>
                  <a:srgbClr val="EEECE1"/>
                </a:solidFill>
                <a:latin typeface="Anton Italics"/>
                <a:ea typeface="Anton Italics"/>
                <a:cs typeface="Anton Italics"/>
                <a:sym typeface="Anton Italics"/>
              </a:rPr>
              <a:t>CERRAR LA CONEXION (IMPORTANTE)</a:t>
            </a:r>
          </a:p>
          <a:p>
            <a:pPr algn="ctr">
              <a:lnSpc>
                <a:spcPts val="4962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2134183" y="7922479"/>
            <a:ext cx="1238250" cy="3490793"/>
            <a:chOff x="0" y="0"/>
            <a:chExt cx="326123" cy="919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23" cy="919386"/>
            </a:xfrm>
            <a:custGeom>
              <a:avLst/>
              <a:gdLst/>
              <a:ahLst/>
              <a:cxnLst/>
              <a:rect r="r" b="b" t="t" l="l"/>
              <a:pathLst>
                <a:path h="919386" w="326123">
                  <a:moveTo>
                    <a:pt x="0" y="0"/>
                  </a:moveTo>
                  <a:lnTo>
                    <a:pt x="326123" y="0"/>
                  </a:lnTo>
                  <a:lnTo>
                    <a:pt x="32612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612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6973" y="88526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1042193"/>
            <a:ext cx="8115300" cy="3654992"/>
            <a:chOff x="0" y="0"/>
            <a:chExt cx="845947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59470" cy="3808730"/>
            </a:xfrm>
            <a:custGeom>
              <a:avLst/>
              <a:gdLst/>
              <a:ahLst/>
              <a:cxnLst/>
              <a:rect r="r" b="b" t="t" l="l"/>
              <a:pathLst>
                <a:path h="3808730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73" r="0" b="-4778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03585" y="5143500"/>
            <a:ext cx="6855715" cy="4114800"/>
            <a:chOff x="0" y="0"/>
            <a:chExt cx="6350000" cy="3811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3811270"/>
            </a:xfrm>
            <a:custGeom>
              <a:avLst/>
              <a:gdLst/>
              <a:ahLst/>
              <a:cxnLst/>
              <a:rect r="r" b="b" t="t" l="l"/>
              <a:pathLst>
                <a:path h="3811270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840" r="0" b="-1037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20954" y="1249339"/>
            <a:ext cx="7668535" cy="111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6"/>
              </a:lnSpc>
            </a:pPr>
            <a:r>
              <a:rPr lang="en-US" sz="7372" i="true" spc="-14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CONTENIDO PRÁCTICO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869689"/>
            <a:ext cx="7242181" cy="4331211"/>
            <a:chOff x="0" y="0"/>
            <a:chExt cx="1203365" cy="7196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3365" cy="719676"/>
            </a:xfrm>
            <a:custGeom>
              <a:avLst/>
              <a:gdLst/>
              <a:ahLst/>
              <a:cxnLst/>
              <a:rect r="r" b="b" t="t" l="l"/>
              <a:pathLst>
                <a:path h="719676" w="1203365">
                  <a:moveTo>
                    <a:pt x="1203365" y="54519"/>
                  </a:moveTo>
                  <a:lnTo>
                    <a:pt x="1203365" y="665157"/>
                  </a:lnTo>
                  <a:cubicBezTo>
                    <a:pt x="1203365" y="695267"/>
                    <a:pt x="1178956" y="719676"/>
                    <a:pt x="1148846" y="719676"/>
                  </a:cubicBezTo>
                  <a:lnTo>
                    <a:pt x="54519" y="719676"/>
                  </a:lnTo>
                  <a:cubicBezTo>
                    <a:pt x="24409" y="719676"/>
                    <a:pt x="0" y="695267"/>
                    <a:pt x="0" y="665157"/>
                  </a:cubicBezTo>
                  <a:lnTo>
                    <a:pt x="0" y="54519"/>
                  </a:lnTo>
                  <a:cubicBezTo>
                    <a:pt x="0" y="24409"/>
                    <a:pt x="24409" y="0"/>
                    <a:pt x="54519" y="0"/>
                  </a:cubicBezTo>
                  <a:lnTo>
                    <a:pt x="1148846" y="0"/>
                  </a:lnTo>
                  <a:cubicBezTo>
                    <a:pt x="1178956" y="0"/>
                    <a:pt x="1203365" y="24409"/>
                    <a:pt x="1203365" y="54519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03365" cy="71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2238958" y="-1231046"/>
            <a:ext cx="1028700" cy="3490793"/>
            <a:chOff x="0" y="0"/>
            <a:chExt cx="270933" cy="919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0933" cy="919386"/>
            </a:xfrm>
            <a:custGeom>
              <a:avLst/>
              <a:gdLst/>
              <a:ahLst/>
              <a:cxnLst/>
              <a:rect r="r" b="b" t="t" l="l"/>
              <a:pathLst>
                <a:path h="91938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7093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94876" y="3205281"/>
            <a:ext cx="6509828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8"/>
              </a:lnSpc>
            </a:pPr>
          </a:p>
          <a:p>
            <a:pPr algn="just" marL="701330" indent="-350665" lvl="1">
              <a:lnSpc>
                <a:spcPts val="3898"/>
              </a:lnSpc>
              <a:buFont typeface="Arial"/>
              <a:buChar char="•"/>
            </a:pPr>
            <a:r>
              <a:rPr lang="en-US" b="true" sz="3248" i="true" spc="-6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Repaso (matrices, y vectores)</a:t>
            </a:r>
          </a:p>
          <a:p>
            <a:pPr algn="just" marL="701330" indent="-350665" lvl="1">
              <a:lnSpc>
                <a:spcPts val="3898"/>
              </a:lnSpc>
              <a:buFont typeface="Arial"/>
              <a:buChar char="•"/>
            </a:pPr>
            <a:r>
              <a:rPr lang="en-US" b="true" sz="3248" i="true" spc="-6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Instalación MySQL</a:t>
            </a:r>
          </a:p>
          <a:p>
            <a:pPr algn="just" marL="701330" indent="-350665" lvl="1">
              <a:lnSpc>
                <a:spcPts val="3898"/>
              </a:lnSpc>
              <a:buFont typeface="Arial"/>
              <a:buChar char="•"/>
            </a:pPr>
            <a:r>
              <a:rPr lang="en-US" b="true" sz="3248" i="true" spc="-6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Conexión MySQL</a:t>
            </a:r>
          </a:p>
          <a:p>
            <a:pPr algn="just" marL="701330" indent="-350665" lvl="1">
              <a:lnSpc>
                <a:spcPts val="3898"/>
              </a:lnSpc>
              <a:buFont typeface="Arial"/>
              <a:buChar char="•"/>
            </a:pPr>
            <a:r>
              <a:rPr lang="en-US" b="true" sz="3248" i="true" spc="-6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Crear DB</a:t>
            </a:r>
          </a:p>
          <a:p>
            <a:pPr algn="just">
              <a:lnSpc>
                <a:spcPts val="3898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144000" y="3971015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2134183" y="7922479"/>
            <a:ext cx="1238250" cy="3490793"/>
            <a:chOff x="0" y="0"/>
            <a:chExt cx="326123" cy="919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23" cy="919386"/>
            </a:xfrm>
            <a:custGeom>
              <a:avLst/>
              <a:gdLst/>
              <a:ahLst/>
              <a:cxnLst/>
              <a:rect r="r" b="b" t="t" l="l"/>
              <a:pathLst>
                <a:path h="919386" w="326123">
                  <a:moveTo>
                    <a:pt x="0" y="0"/>
                  </a:moveTo>
                  <a:lnTo>
                    <a:pt x="326123" y="0"/>
                  </a:lnTo>
                  <a:lnTo>
                    <a:pt x="32612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612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6973" y="88526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1042193"/>
            <a:ext cx="8115300" cy="3654992"/>
            <a:chOff x="0" y="0"/>
            <a:chExt cx="845947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59470" cy="3808730"/>
            </a:xfrm>
            <a:custGeom>
              <a:avLst/>
              <a:gdLst/>
              <a:ahLst/>
              <a:cxnLst/>
              <a:rect r="r" b="b" t="t" l="l"/>
              <a:pathLst>
                <a:path h="3808730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8206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03585" y="5143500"/>
            <a:ext cx="6855715" cy="4114800"/>
            <a:chOff x="0" y="0"/>
            <a:chExt cx="6350000" cy="3811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3811270"/>
            </a:xfrm>
            <a:custGeom>
              <a:avLst/>
              <a:gdLst/>
              <a:ahLst/>
              <a:cxnLst/>
              <a:rect r="r" b="b" t="t" l="l"/>
              <a:pathLst>
                <a:path h="3811270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6"/>
              <a:stretch>
                <a:fillRect l="-2649" t="0" r="-2649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20954" y="1249339"/>
            <a:ext cx="7668535" cy="22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6"/>
              </a:lnSpc>
            </a:pPr>
            <a:r>
              <a:rPr lang="en-US" sz="7372" i="true" spc="-14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VALOR : HUMILDAD</a:t>
            </a:r>
          </a:p>
          <a:p>
            <a:pPr algn="l">
              <a:lnSpc>
                <a:spcPts val="8846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869689"/>
            <a:ext cx="7242181" cy="4331211"/>
            <a:chOff x="0" y="0"/>
            <a:chExt cx="1203365" cy="7196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3365" cy="719676"/>
            </a:xfrm>
            <a:custGeom>
              <a:avLst/>
              <a:gdLst/>
              <a:ahLst/>
              <a:cxnLst/>
              <a:rect r="r" b="b" t="t" l="l"/>
              <a:pathLst>
                <a:path h="719676" w="1203365">
                  <a:moveTo>
                    <a:pt x="1203365" y="54519"/>
                  </a:moveTo>
                  <a:lnTo>
                    <a:pt x="1203365" y="665157"/>
                  </a:lnTo>
                  <a:cubicBezTo>
                    <a:pt x="1203365" y="695267"/>
                    <a:pt x="1178956" y="719676"/>
                    <a:pt x="1148846" y="719676"/>
                  </a:cubicBezTo>
                  <a:lnTo>
                    <a:pt x="54519" y="719676"/>
                  </a:lnTo>
                  <a:cubicBezTo>
                    <a:pt x="24409" y="719676"/>
                    <a:pt x="0" y="695267"/>
                    <a:pt x="0" y="665157"/>
                  </a:cubicBezTo>
                  <a:lnTo>
                    <a:pt x="0" y="54519"/>
                  </a:lnTo>
                  <a:cubicBezTo>
                    <a:pt x="0" y="24409"/>
                    <a:pt x="24409" y="0"/>
                    <a:pt x="54519" y="0"/>
                  </a:cubicBezTo>
                  <a:lnTo>
                    <a:pt x="1148846" y="0"/>
                  </a:lnTo>
                  <a:cubicBezTo>
                    <a:pt x="1178956" y="0"/>
                    <a:pt x="1203365" y="24409"/>
                    <a:pt x="1203365" y="54519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03365" cy="71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2238958" y="-1231046"/>
            <a:ext cx="1028700" cy="3490793"/>
            <a:chOff x="0" y="0"/>
            <a:chExt cx="270933" cy="919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0933" cy="919386"/>
            </a:xfrm>
            <a:custGeom>
              <a:avLst/>
              <a:gdLst/>
              <a:ahLst/>
              <a:cxnLst/>
              <a:rect r="r" b="b" t="t" l="l"/>
              <a:pathLst>
                <a:path h="91938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7093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44000" y="3971015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49404" y="3393082"/>
            <a:ext cx="6800773" cy="350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18"/>
              </a:lnSpc>
            </a:pPr>
            <a:r>
              <a:rPr lang="en-US" b="true" sz="4682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Reconocer lo que no se sabe es el primer paso para aprender más.</a:t>
            </a:r>
          </a:p>
          <a:p>
            <a:pPr algn="just">
              <a:lnSpc>
                <a:spcPts val="5618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3487110"/>
            <a:ext cx="8115300" cy="5196557"/>
            <a:chOff x="0" y="0"/>
            <a:chExt cx="1348443" cy="8634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8443" cy="863462"/>
            </a:xfrm>
            <a:custGeom>
              <a:avLst/>
              <a:gdLst/>
              <a:ahLst/>
              <a:cxnLst/>
              <a:rect r="r" b="b" t="t" l="l"/>
              <a:pathLst>
                <a:path h="863462" w="1348443">
                  <a:moveTo>
                    <a:pt x="1348443" y="48654"/>
                  </a:moveTo>
                  <a:lnTo>
                    <a:pt x="1348443" y="814809"/>
                  </a:lnTo>
                  <a:cubicBezTo>
                    <a:pt x="1348443" y="841679"/>
                    <a:pt x="1326660" y="863462"/>
                    <a:pt x="1299790" y="863462"/>
                  </a:cubicBezTo>
                  <a:lnTo>
                    <a:pt x="48654" y="863462"/>
                  </a:lnTo>
                  <a:cubicBezTo>
                    <a:pt x="21783" y="863462"/>
                    <a:pt x="0" y="841679"/>
                    <a:pt x="0" y="814809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48443" cy="86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243337" y="1381125"/>
            <a:ext cx="11006981" cy="18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72"/>
              </a:lnSpc>
            </a:pPr>
            <a:r>
              <a:rPr lang="en-US" sz="14707" i="true" spc="-58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REFERENCIAS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5475013"/>
            <a:ext cx="2894909" cy="4811987"/>
            <a:chOff x="0" y="0"/>
            <a:chExt cx="762445" cy="12673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445" cy="1267355"/>
            </a:xfrm>
            <a:custGeom>
              <a:avLst/>
              <a:gdLst/>
              <a:ahLst/>
              <a:cxnLst/>
              <a:rect r="r" b="b" t="t" l="l"/>
              <a:pathLst>
                <a:path h="1267355" w="762445">
                  <a:moveTo>
                    <a:pt x="0" y="0"/>
                  </a:moveTo>
                  <a:lnTo>
                    <a:pt x="762445" y="0"/>
                  </a:lnTo>
                  <a:lnTo>
                    <a:pt x="762445" y="1267355"/>
                  </a:lnTo>
                  <a:lnTo>
                    <a:pt x="0" y="1267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762445" cy="129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039235"/>
            <a:ext cx="7100676" cy="6419011"/>
            <a:chOff x="0" y="0"/>
            <a:chExt cx="6350000" cy="574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3"/>
              <a:stretch>
                <a:fillRect l="-17843" t="0" r="-1784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48677" y="4366281"/>
            <a:ext cx="7505947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sz="2624" i="true" spc="-5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AUXILIAR - CREADOR : JULIO ALFREDO FRNÁNDEZ RODRÍGUEZ</a:t>
            </a:r>
          </a:p>
          <a:p>
            <a:pPr algn="ctr">
              <a:lnSpc>
                <a:spcPts val="3148"/>
              </a:lnSpc>
            </a:pPr>
          </a:p>
          <a:p>
            <a:pPr algn="ctr">
              <a:lnSpc>
                <a:spcPts val="3148"/>
              </a:lnSpc>
            </a:pPr>
            <a:r>
              <a:rPr lang="en-US" sz="2624" i="true" spc="-5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Microsoft  : https://visualstudio.microsoft.com/es/vs/</a:t>
            </a:r>
          </a:p>
          <a:p>
            <a:pPr algn="ctr">
              <a:lnSpc>
                <a:spcPts val="3148"/>
              </a:lnSpc>
            </a:pPr>
          </a:p>
          <a:p>
            <a:pPr algn="ctr">
              <a:lnSpc>
                <a:spcPts val="3148"/>
              </a:lnSpc>
            </a:pPr>
            <a:r>
              <a:rPr lang="en-US" sz="2624" i="true" spc="-5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Lectura:</a:t>
            </a:r>
          </a:p>
          <a:p>
            <a:pPr algn="ctr">
              <a:lnSpc>
                <a:spcPts val="3148"/>
              </a:lnSpc>
            </a:pPr>
            <a:r>
              <a:rPr lang="en-US" sz="2624" i="true" spc="-5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Documentación de MySQL Workbench</a:t>
            </a:r>
          </a:p>
          <a:p>
            <a:pPr algn="ctr">
              <a:lnSpc>
                <a:spcPts val="3148"/>
              </a:lnSpc>
            </a:pPr>
            <a:r>
              <a:rPr lang="en-US" sz="2624" i="true" spc="-5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https://www.mysql.com/products/workbench/</a:t>
            </a:r>
          </a:p>
          <a:p>
            <a:pPr algn="ctr">
              <a:lnSpc>
                <a:spcPts val="3148"/>
              </a:lnSpc>
            </a:pPr>
          </a:p>
          <a:p>
            <a:pPr algn="ctr">
              <a:lnSpc>
                <a:spcPts val="3148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47391" y="1028700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65513" y="4023665"/>
            <a:ext cx="5229906" cy="103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sz="60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Ejemplo práctico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6266538" cy="5143510"/>
          </a:xfrm>
          <a:custGeom>
            <a:avLst/>
            <a:gdLst/>
            <a:ahLst/>
            <a:cxnLst/>
            <a:rect r="r" b="b" t="t" l="l"/>
            <a:pathLst>
              <a:path h="5143510" w="16266538">
                <a:moveTo>
                  <a:pt x="0" y="0"/>
                </a:moveTo>
                <a:lnTo>
                  <a:pt x="16266538" y="0"/>
                </a:lnTo>
                <a:lnTo>
                  <a:pt x="16266538" y="5143509"/>
                </a:lnTo>
                <a:lnTo>
                  <a:pt x="0" y="5143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9110" y="4023665"/>
            <a:ext cx="8376728" cy="103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sz="60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Practiquemos lo aprendido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72" y="1726416"/>
            <a:ext cx="5276736" cy="246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Nombre de la actividad: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2253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Cantidad de participantes:</a:t>
            </a:r>
          </a:p>
          <a:p>
            <a:pPr algn="l">
              <a:lnSpc>
                <a:spcPts val="2253"/>
              </a:lnSpc>
            </a:pPr>
          </a:p>
          <a:p>
            <a:pPr algn="l">
              <a:lnSpc>
                <a:spcPts val="2254"/>
              </a:lnSpc>
            </a:pPr>
          </a:p>
          <a:p>
            <a:pPr algn="l">
              <a:lnSpc>
                <a:spcPts val="139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Doy fe que esta actividad está 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planificada en dtt (Sí/No):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7374" y="2159213"/>
            <a:ext cx="2677535" cy="200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05792"/>
            <a:ext cx="15022439" cy="74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3146795"/>
            <a:chOff x="0" y="0"/>
            <a:chExt cx="2696887" cy="522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96887" cy="522873"/>
            </a:xfrm>
            <a:custGeom>
              <a:avLst/>
              <a:gdLst/>
              <a:ahLst/>
              <a:cxnLst/>
              <a:rect r="r" b="b" t="t" l="l"/>
              <a:pathLst>
                <a:path h="522873" w="2696887">
                  <a:moveTo>
                    <a:pt x="2696887" y="24327"/>
                  </a:moveTo>
                  <a:lnTo>
                    <a:pt x="2696887" y="498546"/>
                  </a:lnTo>
                  <a:cubicBezTo>
                    <a:pt x="2696887" y="511981"/>
                    <a:pt x="2685995" y="522873"/>
                    <a:pt x="2672560" y="522873"/>
                  </a:cubicBezTo>
                  <a:lnTo>
                    <a:pt x="24327" y="522873"/>
                  </a:lnTo>
                  <a:cubicBezTo>
                    <a:pt x="10891" y="522873"/>
                    <a:pt x="0" y="511981"/>
                    <a:pt x="0" y="4985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696887" cy="522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523340"/>
            <a:ext cx="2556436" cy="2157516"/>
            <a:chOff x="0" y="0"/>
            <a:chExt cx="673300" cy="568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300" cy="568235"/>
            </a:xfrm>
            <a:custGeom>
              <a:avLst/>
              <a:gdLst/>
              <a:ahLst/>
              <a:cxnLst/>
              <a:rect r="r" b="b" t="t" l="l"/>
              <a:pathLst>
                <a:path h="568235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47726" y="1742415"/>
            <a:ext cx="6592548" cy="451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8"/>
              </a:lnSpc>
            </a:pPr>
            <a:r>
              <a:rPr lang="en-US" sz="9293" i="true" spc="-371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¡GRACIAS POR SU  ATENCIÓN!</a:t>
            </a:r>
          </a:p>
          <a:p>
            <a:pPr algn="ctr">
              <a:lnSpc>
                <a:spcPts val="8828"/>
              </a:lnSpc>
            </a:pPr>
          </a:p>
          <a:p>
            <a:pPr algn="ctr">
              <a:lnSpc>
                <a:spcPts val="882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8526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21732" y="2238693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78941" y="5248717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10800000">
            <a:off x="14675165" y="1523340"/>
            <a:ext cx="2556436" cy="2157516"/>
            <a:chOff x="0" y="0"/>
            <a:chExt cx="673300" cy="5682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300" cy="568235"/>
            </a:xfrm>
            <a:custGeom>
              <a:avLst/>
              <a:gdLst/>
              <a:ahLst/>
              <a:cxnLst/>
              <a:rect r="r" b="b" t="t" l="l"/>
              <a:pathLst>
                <a:path h="568235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14345694" y="2238693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726809" y="0"/>
                </a:moveTo>
                <a:lnTo>
                  <a:pt x="0" y="0"/>
                </a:lnTo>
                <a:lnTo>
                  <a:pt x="0" y="726809"/>
                </a:lnTo>
                <a:lnTo>
                  <a:pt x="726809" y="726809"/>
                </a:lnTo>
                <a:lnTo>
                  <a:pt x="7268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272999" y="5237252"/>
            <a:ext cx="8868150" cy="3994063"/>
            <a:chOff x="0" y="0"/>
            <a:chExt cx="8459470" cy="381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59470" cy="3808730"/>
            </a:xfrm>
            <a:custGeom>
              <a:avLst/>
              <a:gdLst/>
              <a:ahLst/>
              <a:cxnLst/>
              <a:rect r="r" b="b" t="t" l="l"/>
              <a:pathLst>
                <a:path h="3808730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5079" r="0" b="-43177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78941" y="6355677"/>
            <a:ext cx="3302261" cy="125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DUDAS¿?</a:t>
            </a:r>
          </a:p>
          <a:p>
            <a:pPr algn="l">
              <a:lnSpc>
                <a:spcPts val="496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078941" y="7349630"/>
            <a:ext cx="752690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RECUERDA QUE TENEMOS NUESTRO FORO SEMANAL DONDE PUEDES CONSULTAR CUALQUIER DUDA QUE TE SURJA EN LA SEMANA.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DAG7hBiGx9Q</dc:identifier>
  <dcterms:modified xsi:type="dcterms:W3CDTF">2011-08-01T06:04:30Z</dcterms:modified>
  <cp:revision>1</cp:revision>
  <dc:title>1s2026_Semana_9</dc:title>
</cp:coreProperties>
</file>