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Lobster"/>
      <p:regular r:id="rId26"/>
    </p:embeddedFont>
    <p:embeddedFont>
      <p:font typeface="Pacifico"/>
      <p:regular r:id="rId27"/>
    </p:embeddedFon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2" roundtripDataSignature="AMtx7mh8E61ipjUtKAt8s0GNKeo5bMPi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bster-regular.fntdata"/><Relationship Id="rId25" Type="http://schemas.openxmlformats.org/officeDocument/2006/relationships/slide" Target="slides/slide19.xml"/><Relationship Id="rId28" Type="http://schemas.openxmlformats.org/officeDocument/2006/relationships/font" Target="fonts/OpenSans-regular.fntdata"/><Relationship Id="rId27" Type="http://schemas.openxmlformats.org/officeDocument/2006/relationships/font" Target="fonts/Pacific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OpenSans-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32"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9" name="Google Shape;18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leyenda" type="picTx">
  <p:cSld name="PICTURE_WITH_CAPTION_TEXT">
    <p:spTree>
      <p:nvGrpSpPr>
        <p:cNvPr id="15" name="Shape 15"/>
        <p:cNvGrpSpPr/>
        <p:nvPr/>
      </p:nvGrpSpPr>
      <p:grpSpPr>
        <a:xfrm>
          <a:off x="0" y="0"/>
          <a:ext cx="0" cy="0"/>
          <a:chOff x="0" y="0"/>
          <a:chExt cx="0" cy="0"/>
        </a:xfrm>
      </p:grpSpPr>
      <p:sp>
        <p:nvSpPr>
          <p:cNvPr id="16" name="Google Shape;16;p36"/>
          <p:cNvSpPr txBox="1"/>
          <p:nvPr>
            <p:ph type="title"/>
          </p:nvPr>
        </p:nvSpPr>
        <p:spPr>
          <a:xfrm>
            <a:off x="871790" y="7040084"/>
            <a:ext cx="16544424" cy="8501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SzPts val="4400"/>
              <a:buNone/>
              <a:defRPr b="0"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p:nvPr>
            <p:ph idx="2" type="pic"/>
          </p:nvPr>
        </p:nvSpPr>
        <p:spPr>
          <a:xfrm>
            <a:off x="671726" y="899588"/>
            <a:ext cx="16936289" cy="5335878"/>
          </a:xfrm>
          <a:prstGeom prst="rect">
            <a:avLst/>
          </a:prstGeom>
          <a:noFill/>
          <a:ln>
            <a:noFill/>
          </a:ln>
        </p:spPr>
      </p:sp>
      <p:sp>
        <p:nvSpPr>
          <p:cNvPr id="18" name="Google Shape;18;p36"/>
          <p:cNvSpPr txBox="1"/>
          <p:nvPr>
            <p:ph idx="1" type="body"/>
          </p:nvPr>
        </p:nvSpPr>
        <p:spPr>
          <a:xfrm>
            <a:off x="871789" y="7890191"/>
            <a:ext cx="16544426" cy="89800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640"/>
              </a:spcBef>
              <a:spcAft>
                <a:spcPts val="0"/>
              </a:spcAft>
              <a:buSzPts val="3200"/>
              <a:buNone/>
              <a:defRPr sz="1800"/>
            </a:lvl1pPr>
            <a:lvl2pPr indent="-228600" lvl="1" marL="914400" algn="l">
              <a:lnSpc>
                <a:spcPct val="100000"/>
              </a:lnSpc>
              <a:spcBef>
                <a:spcPts val="560"/>
              </a:spcBef>
              <a:spcAft>
                <a:spcPts val="0"/>
              </a:spcAft>
              <a:buSzPts val="2800"/>
              <a:buNone/>
              <a:defRPr sz="1800"/>
            </a:lvl2pPr>
            <a:lvl3pPr indent="-228600" lvl="2" marL="1371600" algn="l">
              <a:lnSpc>
                <a:spcPct val="100000"/>
              </a:lnSpc>
              <a:spcBef>
                <a:spcPts val="480"/>
              </a:spcBef>
              <a:spcAft>
                <a:spcPts val="0"/>
              </a:spcAft>
              <a:buSzPts val="2400"/>
              <a:buNone/>
              <a:defRPr sz="1500"/>
            </a:lvl3pPr>
            <a:lvl4pPr indent="-228600" lvl="3" marL="1828800" algn="l">
              <a:lnSpc>
                <a:spcPct val="100000"/>
              </a:lnSpc>
              <a:spcBef>
                <a:spcPts val="400"/>
              </a:spcBef>
              <a:spcAft>
                <a:spcPts val="0"/>
              </a:spcAft>
              <a:buSzPts val="2000"/>
              <a:buNone/>
              <a:defRPr sz="1350"/>
            </a:lvl4pPr>
            <a:lvl5pPr indent="-228600" lvl="4" marL="2286000" algn="l">
              <a:lnSpc>
                <a:spcPct val="100000"/>
              </a:lnSpc>
              <a:spcBef>
                <a:spcPts val="400"/>
              </a:spcBef>
              <a:spcAft>
                <a:spcPts val="0"/>
              </a:spcAft>
              <a:buSzPts val="2000"/>
              <a:buNone/>
              <a:defRPr sz="1350"/>
            </a:lvl5pPr>
            <a:lvl6pPr indent="-228600" lvl="5" marL="2743200" algn="l">
              <a:lnSpc>
                <a:spcPct val="100000"/>
              </a:lnSpc>
              <a:spcBef>
                <a:spcPts val="400"/>
              </a:spcBef>
              <a:spcAft>
                <a:spcPts val="0"/>
              </a:spcAft>
              <a:buSzPts val="2000"/>
              <a:buNone/>
              <a:defRPr sz="1350"/>
            </a:lvl6pPr>
            <a:lvl7pPr indent="-228600" lvl="6" marL="3200400" algn="l">
              <a:lnSpc>
                <a:spcPct val="100000"/>
              </a:lnSpc>
              <a:spcBef>
                <a:spcPts val="400"/>
              </a:spcBef>
              <a:spcAft>
                <a:spcPts val="0"/>
              </a:spcAft>
              <a:buSzPts val="2000"/>
              <a:buNone/>
              <a:defRPr sz="1350"/>
            </a:lvl7pPr>
            <a:lvl8pPr indent="-228600" lvl="7" marL="3657600" algn="l">
              <a:lnSpc>
                <a:spcPct val="100000"/>
              </a:lnSpc>
              <a:spcBef>
                <a:spcPts val="400"/>
              </a:spcBef>
              <a:spcAft>
                <a:spcPts val="0"/>
              </a:spcAft>
              <a:buSzPts val="2000"/>
              <a:buNone/>
              <a:defRPr sz="1350"/>
            </a:lvl8pPr>
            <a:lvl9pPr indent="-228600" lvl="8" marL="4114800" algn="l">
              <a:lnSpc>
                <a:spcPct val="100000"/>
              </a:lnSpc>
              <a:spcBef>
                <a:spcPts val="400"/>
              </a:spcBef>
              <a:spcAft>
                <a:spcPts val="0"/>
              </a:spcAft>
              <a:buSzPts val="2000"/>
              <a:buNone/>
              <a:defRPr sz="1350"/>
            </a:lvl9pPr>
          </a:lstStyle>
          <a:p/>
        </p:txBody>
      </p:sp>
      <p:sp>
        <p:nvSpPr>
          <p:cNvPr id="19" name="Google Shape;1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1200"/>
              <a:buNone/>
              <a:defRPr/>
            </a:lvl1pPr>
            <a:lvl2pPr indent="0" lvl="1" marL="0" algn="r">
              <a:lnSpc>
                <a:spcPct val="100000"/>
              </a:lnSpc>
              <a:spcBef>
                <a:spcPts val="0"/>
              </a:spcBef>
              <a:spcAft>
                <a:spcPts val="0"/>
              </a:spcAft>
              <a:buSzPts val="1200"/>
              <a:buNone/>
              <a:defRPr/>
            </a:lvl2pPr>
            <a:lvl3pPr indent="0" lvl="2" marL="0" algn="r">
              <a:lnSpc>
                <a:spcPct val="100000"/>
              </a:lnSpc>
              <a:spcBef>
                <a:spcPts val="0"/>
              </a:spcBef>
              <a:spcAft>
                <a:spcPts val="0"/>
              </a:spcAft>
              <a:buSzPts val="1200"/>
              <a:buNone/>
              <a:defRPr/>
            </a:lvl3pPr>
            <a:lvl4pPr indent="0" lvl="3" marL="0" algn="r">
              <a:lnSpc>
                <a:spcPct val="100000"/>
              </a:lnSpc>
              <a:spcBef>
                <a:spcPts val="0"/>
              </a:spcBef>
              <a:spcAft>
                <a:spcPts val="0"/>
              </a:spcAft>
              <a:buSzPts val="1200"/>
              <a:buNone/>
              <a:defRPr/>
            </a:lvl4pPr>
            <a:lvl5pPr indent="0" lvl="4" marL="0" algn="r">
              <a:lnSpc>
                <a:spcPct val="100000"/>
              </a:lnSpc>
              <a:spcBef>
                <a:spcPts val="0"/>
              </a:spcBef>
              <a:spcAft>
                <a:spcPts val="0"/>
              </a:spcAft>
              <a:buSzPts val="1200"/>
              <a:buNone/>
              <a:defRPr/>
            </a:lvl5pPr>
            <a:lvl6pPr indent="0" lvl="5" marL="0" algn="r">
              <a:lnSpc>
                <a:spcPct val="100000"/>
              </a:lnSpc>
              <a:spcBef>
                <a:spcPts val="0"/>
              </a:spcBef>
              <a:spcAft>
                <a:spcPts val="0"/>
              </a:spcAft>
              <a:buSzPts val="1200"/>
              <a:buNone/>
              <a:defRPr/>
            </a:lvl6pPr>
            <a:lvl7pPr indent="0" lvl="6" marL="0" algn="r">
              <a:lnSpc>
                <a:spcPct val="100000"/>
              </a:lnSpc>
              <a:spcBef>
                <a:spcPts val="0"/>
              </a:spcBef>
              <a:spcAft>
                <a:spcPts val="0"/>
              </a:spcAft>
              <a:buSzPts val="1200"/>
              <a:buNone/>
              <a:defRPr/>
            </a:lvl7pPr>
            <a:lvl8pPr indent="0" lvl="7" marL="0" algn="r">
              <a:lnSpc>
                <a:spcPct val="100000"/>
              </a:lnSpc>
              <a:spcBef>
                <a:spcPts val="0"/>
              </a:spcBef>
              <a:spcAft>
                <a:spcPts val="0"/>
              </a:spcAft>
              <a:buSzPts val="1200"/>
              <a:buNone/>
              <a:defRPr/>
            </a:lvl8pPr>
            <a:lvl9pPr indent="0" lvl="8" marL="0" algn="r">
              <a:lnSpc>
                <a:spcPct val="100000"/>
              </a:lnSpc>
              <a:spcBef>
                <a:spcPts val="0"/>
              </a:spcBef>
              <a:spcAft>
                <a:spcPts val="0"/>
              </a:spcAft>
              <a:buSzPts val="1200"/>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1" name="Google Shape;3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8" name="Google Shape;3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49" name="Google Shape;49;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0" name="Google Shape;5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_WITH_CAPTION_TEXT 2">
    <p:spTree>
      <p:nvGrpSpPr>
        <p:cNvPr id="53" name="Shape 53"/>
        <p:cNvGrpSpPr/>
        <p:nvPr/>
      </p:nvGrpSpPr>
      <p:grpSpPr>
        <a:xfrm>
          <a:off x="0" y="0"/>
          <a:ext cx="0" cy="0"/>
          <a:chOff x="0" y="0"/>
          <a:chExt cx="0" cy="0"/>
        </a:xfrm>
      </p:grpSpPr>
      <p:sp>
        <p:nvSpPr>
          <p:cNvPr id="54" name="Google Shape;54;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9"/>
          <p:cNvSpPr/>
          <p:nvPr>
            <p:ph idx="2" type="pic"/>
          </p:nvPr>
        </p:nvSpPr>
        <p:spPr>
          <a:xfrm>
            <a:off x="1792288" y="612775"/>
            <a:ext cx="5486400" cy="4114800"/>
          </a:xfrm>
          <a:prstGeom prst="rect">
            <a:avLst/>
          </a:prstGeom>
          <a:noFill/>
          <a:ln>
            <a:noFill/>
          </a:ln>
        </p:spPr>
      </p:sp>
      <p:sp>
        <p:nvSpPr>
          <p:cNvPr id="56" name="Google Shape;56;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7" name="Google Shape;5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 name="Google Shape;63;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6" name="Shape 66"/>
        <p:cNvGrpSpPr/>
        <p:nvPr/>
      </p:nvGrpSpPr>
      <p:grpSpPr>
        <a:xfrm>
          <a:off x="0" y="0"/>
          <a:ext cx="0" cy="0"/>
          <a:chOff x="0" y="0"/>
          <a:chExt cx="0" cy="0"/>
        </a:xfrm>
      </p:grpSpPr>
      <p:sp>
        <p:nvSpPr>
          <p:cNvPr id="67" name="Google Shape;67;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9" name="Google Shape;69;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8" name="Shape 78"/>
        <p:cNvGrpSpPr/>
        <p:nvPr/>
      </p:nvGrpSpPr>
      <p:grpSpPr>
        <a:xfrm>
          <a:off x="0" y="0"/>
          <a:ext cx="0" cy="0"/>
          <a:chOff x="0" y="0"/>
          <a:chExt cx="0" cy="0"/>
        </a:xfrm>
      </p:grpSpPr>
      <p:sp>
        <p:nvSpPr>
          <p:cNvPr id="79" name="Google Shape;79;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5" name="Google Shape;7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learn.microsoft.com/es-es/dotnet/visual-basic/language-reference/statements/if-then-else-statement"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learn.microsoft.com/es-es/office/vba/language/reference/user-interface-help/toolbox" TargetMode="Externa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learn.microsoft.com/es-es/office/vba/language/reference/user-interface-help/toolbox" TargetMode="Externa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28700" y="5979021"/>
            <a:ext cx="6351814" cy="2154436"/>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092 Programacion</a:t>
            </a:r>
            <a:endParaRPr b="1" i="0" sz="50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De Computadoras 2</a:t>
            </a:r>
            <a:endParaRPr b="1" i="0" sz="5000"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2956500" y="2132508"/>
            <a:ext cx="12375000" cy="198208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Controles Básicos</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90" name="Google Shape;90;p1"/>
          <p:cNvSpPr txBox="1"/>
          <p:nvPr/>
        </p:nvSpPr>
        <p:spPr>
          <a:xfrm>
            <a:off x="1028700" y="9210675"/>
            <a:ext cx="6667500" cy="4222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91" name="Google Shape;91;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2"/>
          <p:cNvGrpSpPr/>
          <p:nvPr/>
        </p:nvGrpSpPr>
        <p:grpSpPr>
          <a:xfrm>
            <a:off x="764447" y="4544825"/>
            <a:ext cx="5709916" cy="845385"/>
            <a:chOff x="0" y="-65837"/>
            <a:chExt cx="2430999" cy="359923"/>
          </a:xfrm>
        </p:grpSpPr>
        <p:sp>
          <p:nvSpPr>
            <p:cNvPr id="97" name="Google Shape;9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367885" y="-65837"/>
              <a:ext cx="2063114"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 clase o generales</a:t>
              </a:r>
              <a:endParaRPr b="0" i="0" sz="1400" u="none" cap="none" strike="noStrike">
                <a:solidFill>
                  <a:srgbClr val="000000"/>
                </a:solidFill>
                <a:latin typeface="Arial"/>
                <a:ea typeface="Arial"/>
                <a:cs typeface="Arial"/>
                <a:sym typeface="Arial"/>
              </a:endParaRPr>
            </a:p>
          </p:txBody>
        </p:sp>
      </p:grpSp>
      <p:sp>
        <p:nvSpPr>
          <p:cNvPr id="99" name="Google Shape;99;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0" name="Google Shape;100;p2"/>
          <p:cNvGrpSpPr/>
          <p:nvPr/>
        </p:nvGrpSpPr>
        <p:grpSpPr>
          <a:xfrm>
            <a:off x="1866989" y="3013983"/>
            <a:ext cx="4115190" cy="1556484"/>
            <a:chOff x="0" y="-76200"/>
            <a:chExt cx="1083836" cy="409938"/>
          </a:xfrm>
        </p:grpSpPr>
        <p:sp>
          <p:nvSpPr>
            <p:cNvPr id="101" name="Google Shape;101;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3" name="Google Shape;103;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651749" y="490900"/>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05" name="Google Shape;105;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
        <p:nvSpPr>
          <p:cNvPr id="106" name="Google Shape;106;p2"/>
          <p:cNvSpPr/>
          <p:nvPr/>
        </p:nvSpPr>
        <p:spPr>
          <a:xfrm>
            <a:off x="11739805" y="3232617"/>
            <a:ext cx="5353646" cy="1267162"/>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107" name="Google Shape;107;p2"/>
          <p:cNvGrpSpPr/>
          <p:nvPr/>
        </p:nvGrpSpPr>
        <p:grpSpPr>
          <a:xfrm>
            <a:off x="11739805" y="4598683"/>
            <a:ext cx="5353646" cy="1701145"/>
            <a:chOff x="0" y="-114300"/>
            <a:chExt cx="1410014" cy="448038"/>
          </a:xfrm>
        </p:grpSpPr>
        <p:sp>
          <p:nvSpPr>
            <p:cNvPr id="108" name="Google Shape;108;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Ver en el apartado material de apoyo en Uedi</a:t>
              </a:r>
              <a:endParaRPr b="0" i="0" sz="1400" u="none" cap="none" strike="noStrike">
                <a:solidFill>
                  <a:srgbClr val="000000"/>
                </a:solidFill>
                <a:latin typeface="Arial"/>
                <a:ea typeface="Arial"/>
                <a:cs typeface="Arial"/>
                <a:sym typeface="Arial"/>
              </a:endParaRPr>
            </a:p>
          </p:txBody>
        </p:sp>
      </p:grpSp>
      <p:grpSp>
        <p:nvGrpSpPr>
          <p:cNvPr id="110" name="Google Shape;110;p2"/>
          <p:cNvGrpSpPr/>
          <p:nvPr/>
        </p:nvGrpSpPr>
        <p:grpSpPr>
          <a:xfrm>
            <a:off x="176619" y="5444302"/>
            <a:ext cx="4613551" cy="845385"/>
            <a:chOff x="0" y="-76200"/>
            <a:chExt cx="1964221" cy="359923"/>
          </a:xfrm>
        </p:grpSpPr>
        <p:sp>
          <p:nvSpPr>
            <p:cNvPr id="111" name="Google Shape;11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
            <p:cNvSpPr txBox="1"/>
            <p:nvPr/>
          </p:nvSpPr>
          <p:spPr>
            <a:xfrm>
              <a:off x="64883"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Anuncios</a:t>
              </a:r>
              <a:endParaRPr b="0" i="0" sz="1400" u="none" cap="none" strike="noStrike">
                <a:solidFill>
                  <a:srgbClr val="000000"/>
                </a:solidFill>
                <a:latin typeface="Arial"/>
                <a:ea typeface="Arial"/>
                <a:cs typeface="Arial"/>
                <a:sym typeface="Arial"/>
              </a:endParaRPr>
            </a:p>
          </p:txBody>
        </p:sp>
      </p:grpSp>
      <p:grpSp>
        <p:nvGrpSpPr>
          <p:cNvPr id="113" name="Google Shape;113;p2"/>
          <p:cNvGrpSpPr/>
          <p:nvPr/>
        </p:nvGrpSpPr>
        <p:grpSpPr>
          <a:xfrm>
            <a:off x="176619" y="6425875"/>
            <a:ext cx="5433658" cy="845385"/>
            <a:chOff x="0" y="-76200"/>
            <a:chExt cx="2313383" cy="359923"/>
          </a:xfrm>
        </p:grpSpPr>
        <p:sp>
          <p:nvSpPr>
            <p:cNvPr id="114" name="Google Shape;114;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463462"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Contenido Laboratorio</a:t>
              </a:r>
              <a:endParaRPr b="0" i="0" sz="1400" u="none" cap="none" strike="noStrike">
                <a:solidFill>
                  <a:srgbClr val="000000"/>
                </a:solidFill>
                <a:latin typeface="Arial"/>
                <a:ea typeface="Arial"/>
                <a:cs typeface="Arial"/>
                <a:sym typeface="Arial"/>
              </a:endParaRPr>
            </a:p>
          </p:txBody>
        </p:sp>
      </p:grpSp>
      <p:grpSp>
        <p:nvGrpSpPr>
          <p:cNvPr id="116" name="Google Shape;116;p2"/>
          <p:cNvGrpSpPr/>
          <p:nvPr/>
        </p:nvGrpSpPr>
        <p:grpSpPr>
          <a:xfrm>
            <a:off x="176619" y="7349457"/>
            <a:ext cx="4809037" cy="845385"/>
            <a:chOff x="0" y="-76200"/>
            <a:chExt cx="2047450" cy="359923"/>
          </a:xfrm>
        </p:grpSpPr>
        <p:sp>
          <p:nvSpPr>
            <p:cNvPr id="117" name="Google Shape;11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380038" y="-76200"/>
              <a:ext cx="1667412"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Ejemplo Repaso</a:t>
              </a:r>
              <a:endParaRPr b="0" i="0" sz="1400" u="none" cap="none" strike="noStrike">
                <a:solidFill>
                  <a:srgbClr val="000000"/>
                </a:solidFill>
                <a:latin typeface="Arial"/>
                <a:ea typeface="Arial"/>
                <a:cs typeface="Arial"/>
                <a:sym typeface="Arial"/>
              </a:endParaRPr>
            </a:p>
          </p:txBody>
        </p:sp>
      </p:grpSp>
      <p:grpSp>
        <p:nvGrpSpPr>
          <p:cNvPr id="119" name="Google Shape;119;p2"/>
          <p:cNvGrpSpPr/>
          <p:nvPr/>
        </p:nvGrpSpPr>
        <p:grpSpPr>
          <a:xfrm>
            <a:off x="176619" y="8412915"/>
            <a:ext cx="4998222" cy="845385"/>
            <a:chOff x="0" y="-76200"/>
            <a:chExt cx="2127995" cy="359923"/>
          </a:xfrm>
        </p:grpSpPr>
        <p:sp>
          <p:nvSpPr>
            <p:cNvPr id="120" name="Google Shape;120;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1" name="Google Shape;121;p2"/>
            <p:cNvSpPr txBox="1"/>
            <p:nvPr/>
          </p:nvSpPr>
          <p:spPr>
            <a:xfrm>
              <a:off x="278074"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Dudas del tema</a:t>
              </a:r>
              <a:endParaRPr b="0" i="0" sz="1400" u="none" cap="none" strike="noStrike">
                <a:solidFill>
                  <a:srgbClr val="000000"/>
                </a:solidFill>
                <a:latin typeface="Arial"/>
                <a:ea typeface="Arial"/>
                <a:cs typeface="Arial"/>
                <a:sym typeface="Arial"/>
              </a:endParaRPr>
            </a:p>
          </p:txBody>
        </p:sp>
      </p:grpSp>
      <p:sp>
        <p:nvSpPr>
          <p:cNvPr id="122" name="Google Shape;122;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 name="Google Shape;123;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5" name="Google Shape;125;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29" name="Shape 129"/>
        <p:cNvGrpSpPr/>
        <p:nvPr/>
      </p:nvGrpSpPr>
      <p:grpSpPr>
        <a:xfrm>
          <a:off x="0" y="0"/>
          <a:ext cx="0" cy="0"/>
          <a:chOff x="0" y="0"/>
          <a:chExt cx="0" cy="0"/>
        </a:xfrm>
      </p:grpSpPr>
      <p:sp>
        <p:nvSpPr>
          <p:cNvPr id="130" name="Google Shape;130;p3"/>
          <p:cNvSpPr/>
          <p:nvPr/>
        </p:nvSpPr>
        <p:spPr>
          <a:xfrm>
            <a:off x="4572" y="0"/>
            <a:ext cx="18283428"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3"/>
          <p:cNvSpPr/>
          <p:nvPr/>
        </p:nvSpPr>
        <p:spPr>
          <a:xfrm>
            <a:off x="2286" y="0"/>
            <a:ext cx="18283428" cy="10287000"/>
          </a:xfrm>
          <a:prstGeom prst="rect">
            <a:avLst/>
          </a:prstGeom>
          <a:solidFill>
            <a:schemeClr val="dk1">
              <a:alpha val="5294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32" name="Google Shape;132;p3"/>
          <p:cNvGrpSpPr/>
          <p:nvPr/>
        </p:nvGrpSpPr>
        <p:grpSpPr>
          <a:xfrm rot="-5400000">
            <a:off x="252222" y="1346236"/>
            <a:ext cx="304800" cy="644652"/>
            <a:chOff x="215328" y="-46937"/>
            <a:chExt cx="304800" cy="2773841"/>
          </a:xfrm>
        </p:grpSpPr>
        <p:cxnSp>
          <p:nvCxnSpPr>
            <p:cNvPr id="133" name="Google Shape;133;p3"/>
            <p:cNvCxnSpPr/>
            <p:nvPr/>
          </p:nvCxnSpPr>
          <p:spPr>
            <a:xfrm>
              <a:off x="2153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4" name="Google Shape;134;p3"/>
            <p:cNvCxnSpPr/>
            <p:nvPr/>
          </p:nvCxnSpPr>
          <p:spPr>
            <a:xfrm>
              <a:off x="3169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5" name="Google Shape;135;p3"/>
            <p:cNvCxnSpPr/>
            <p:nvPr/>
          </p:nvCxnSpPr>
          <p:spPr>
            <a:xfrm>
              <a:off x="4185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cxnSp>
          <p:nvCxnSpPr>
            <p:cNvPr id="136" name="Google Shape;136;p3"/>
            <p:cNvCxnSpPr/>
            <p:nvPr/>
          </p:nvCxnSpPr>
          <p:spPr>
            <a:xfrm>
              <a:off x="520128" y="-46937"/>
              <a:ext cx="0" cy="2773841"/>
            </a:xfrm>
            <a:prstGeom prst="straightConnector1">
              <a:avLst/>
            </a:prstGeom>
            <a:noFill/>
            <a:ln cap="flat" cmpd="sng" w="25400">
              <a:solidFill>
                <a:srgbClr val="538CD5">
                  <a:alpha val="49803"/>
                </a:srgbClr>
              </a:solidFill>
              <a:prstDash val="dot"/>
              <a:round/>
              <a:headEnd len="sm" w="sm" type="none"/>
              <a:tailEnd len="sm" w="sm" type="none"/>
            </a:ln>
          </p:spPr>
        </p:cxnSp>
      </p:grpSp>
      <p:grpSp>
        <p:nvGrpSpPr>
          <p:cNvPr id="137" name="Google Shape;137;p3"/>
          <p:cNvGrpSpPr/>
          <p:nvPr/>
        </p:nvGrpSpPr>
        <p:grpSpPr>
          <a:xfrm>
            <a:off x="1" y="3113131"/>
            <a:ext cx="18594101" cy="6660966"/>
            <a:chOff x="1" y="2075420"/>
            <a:chExt cx="12396066" cy="4440643"/>
          </a:xfrm>
        </p:grpSpPr>
        <p:sp>
          <p:nvSpPr>
            <p:cNvPr id="138" name="Google Shape;138;p3"/>
            <p:cNvSpPr/>
            <p:nvPr/>
          </p:nvSpPr>
          <p:spPr>
            <a:xfrm rot="4500000">
              <a:off x="7942191" y="2507571"/>
              <a:ext cx="3563871" cy="3563871"/>
            </a:xfrm>
            <a:prstGeom prst="ellipse">
              <a:avLst/>
            </a:prstGeom>
            <a:noFill/>
            <a:ln cap="flat" cmpd="sng" w="31750">
              <a:solidFill>
                <a:srgbClr val="F4F3EC">
                  <a:alpha val="9803"/>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3"/>
            <p:cNvSpPr/>
            <p:nvPr/>
          </p:nvSpPr>
          <p:spPr>
            <a:xfrm rot="-5400000">
              <a:off x="10435065" y="4048931"/>
              <a:ext cx="1381607" cy="1381607"/>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0" name="Google Shape;140;p3"/>
            <p:cNvSpPr/>
            <p:nvPr/>
          </p:nvSpPr>
          <p:spPr>
            <a:xfrm rot="-5400000">
              <a:off x="1" y="2075420"/>
              <a:ext cx="3144364" cy="3144364"/>
            </a:xfrm>
            <a:prstGeom prst="ellipse">
              <a:avLst/>
            </a:prstGeom>
            <a:gradFill>
              <a:gsLst>
                <a:gs pos="0">
                  <a:srgbClr val="C4BD97">
                    <a:alpha val="20000"/>
                  </a:srgbClr>
                </a:gs>
                <a:gs pos="100000">
                  <a:srgbClr val="938953">
                    <a:alpha val="9803"/>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1" name="Google Shape;141;p3"/>
            <p:cNvSpPr/>
            <p:nvPr/>
          </p:nvSpPr>
          <p:spPr>
            <a:xfrm rot="-9000000">
              <a:off x="10150845" y="4270841"/>
              <a:ext cx="1897885" cy="1897885"/>
            </a:xfrm>
            <a:prstGeom prst="ellipse">
              <a:avLst/>
            </a:prstGeom>
            <a:gradFill>
              <a:gsLst>
                <a:gs pos="0">
                  <a:srgbClr val="C4BD97">
                    <a:alpha val="9803"/>
                  </a:srgbClr>
                </a:gs>
                <a:gs pos="100000">
                  <a:srgbClr val="C4BD97">
                    <a:alpha val="2000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3"/>
            <p:cNvSpPr/>
            <p:nvPr/>
          </p:nvSpPr>
          <p:spPr>
            <a:xfrm rot="4500000">
              <a:off x="2046780" y="3040492"/>
              <a:ext cx="2579322" cy="2579322"/>
            </a:xfrm>
            <a:prstGeom prst="ellipse">
              <a:avLst/>
            </a:prstGeom>
            <a:noFill/>
            <a:ln cap="flat" cmpd="sng" w="31750">
              <a:solidFill>
                <a:srgbClr val="F4F3EC">
                  <a:alpha val="20000"/>
                </a:srgbClr>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3"/>
            <p:cNvSpPr/>
            <p:nvPr/>
          </p:nvSpPr>
          <p:spPr>
            <a:xfrm rot="4500000">
              <a:off x="2224640" y="3193975"/>
              <a:ext cx="2243193" cy="2243193"/>
            </a:xfrm>
            <a:prstGeom prst="ellipse">
              <a:avLst/>
            </a:prstGeom>
            <a:noFill/>
            <a:ln cap="flat" cmpd="sng" w="31750">
              <a:solidFill>
                <a:srgbClr val="F4F3EC">
                  <a:alpha val="980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
        <p:nvSpPr>
          <p:cNvPr id="144" name="Google Shape;144;p3"/>
          <p:cNvSpPr/>
          <p:nvPr/>
        </p:nvSpPr>
        <p:spPr>
          <a:xfrm rot="-5400000">
            <a:off x="15657219" y="1563908"/>
            <a:ext cx="4194692" cy="1066878"/>
          </a:xfrm>
          <a:prstGeom prst="rect">
            <a:avLst/>
          </a:prstGeom>
          <a:gradFill>
            <a:gsLst>
              <a:gs pos="0">
                <a:srgbClr val="F7F6F2">
                  <a:alpha val="0"/>
                </a:srgbClr>
              </a:gs>
              <a:gs pos="100000">
                <a:srgbClr val="C4BD97">
                  <a:alpha val="9803"/>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45" name="Google Shape;145;p3"/>
          <p:cNvGrpSpPr/>
          <p:nvPr/>
        </p:nvGrpSpPr>
        <p:grpSpPr>
          <a:xfrm>
            <a:off x="16889308" y="-1280992"/>
            <a:ext cx="822960" cy="549007"/>
            <a:chOff x="7029447" y="3514725"/>
            <a:chExt cx="1285875" cy="549007"/>
          </a:xfrm>
        </p:grpSpPr>
        <p:cxnSp>
          <p:nvCxnSpPr>
            <p:cNvPr id="146" name="Google Shape;146;p3"/>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7" name="Google Shape;147;p3"/>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8" name="Google Shape;148;p3"/>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49" name="Google Shape;149;p3"/>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50" name="Google Shape;150;p3"/>
          <p:cNvSpPr/>
          <p:nvPr/>
        </p:nvSpPr>
        <p:spPr>
          <a:xfrm rot="10800000">
            <a:off x="-1" y="9211177"/>
            <a:ext cx="9143995" cy="1066878"/>
          </a:xfrm>
          <a:prstGeom prst="rect">
            <a:avLst/>
          </a:prstGeom>
          <a:gradFill>
            <a:gsLst>
              <a:gs pos="0">
                <a:srgbClr val="938953">
                  <a:alpha val="9803"/>
                </a:srgbClr>
              </a:gs>
              <a:gs pos="10000">
                <a:srgbClr val="938953">
                  <a:alpha val="9803"/>
                </a:srgbClr>
              </a:gs>
              <a:gs pos="100000">
                <a:srgbClr val="F4F3EC">
                  <a:alpha val="0"/>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51" name="Google Shape;151;p3"/>
          <p:cNvGrpSpPr/>
          <p:nvPr/>
        </p:nvGrpSpPr>
        <p:grpSpPr>
          <a:xfrm rot="5400000">
            <a:off x="2819134" y="9048092"/>
            <a:ext cx="1928813" cy="549007"/>
            <a:chOff x="7029447" y="3514725"/>
            <a:chExt cx="1285875" cy="549007"/>
          </a:xfrm>
        </p:grpSpPr>
        <p:cxnSp>
          <p:nvCxnSpPr>
            <p:cNvPr id="152" name="Google Shape;152;p3"/>
            <p:cNvCxnSpPr/>
            <p:nvPr/>
          </p:nvCxnSpPr>
          <p:spPr>
            <a:xfrm>
              <a:off x="7029447" y="3514725"/>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3" name="Google Shape;153;p3"/>
            <p:cNvCxnSpPr/>
            <p:nvPr/>
          </p:nvCxnSpPr>
          <p:spPr>
            <a:xfrm>
              <a:off x="7029447" y="3697727"/>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4" name="Google Shape;154;p3"/>
            <p:cNvCxnSpPr/>
            <p:nvPr/>
          </p:nvCxnSpPr>
          <p:spPr>
            <a:xfrm>
              <a:off x="7029447" y="3880729"/>
              <a:ext cx="1285875" cy="0"/>
            </a:xfrm>
            <a:prstGeom prst="straightConnector1">
              <a:avLst/>
            </a:prstGeom>
            <a:noFill/>
            <a:ln cap="rnd" cmpd="sng" w="31750">
              <a:solidFill>
                <a:srgbClr val="F4F3EC">
                  <a:alpha val="40000"/>
                </a:srgbClr>
              </a:solidFill>
              <a:prstDash val="dot"/>
              <a:round/>
              <a:headEnd len="sm" w="sm" type="none"/>
              <a:tailEnd len="sm" w="sm" type="none"/>
            </a:ln>
          </p:spPr>
        </p:cxnSp>
        <p:cxnSp>
          <p:nvCxnSpPr>
            <p:cNvPr id="155" name="Google Shape;155;p3"/>
            <p:cNvCxnSpPr/>
            <p:nvPr/>
          </p:nvCxnSpPr>
          <p:spPr>
            <a:xfrm>
              <a:off x="7029447" y="4063732"/>
              <a:ext cx="1285875" cy="0"/>
            </a:xfrm>
            <a:prstGeom prst="straightConnector1">
              <a:avLst/>
            </a:prstGeom>
            <a:noFill/>
            <a:ln cap="rnd" cmpd="sng" w="31750">
              <a:solidFill>
                <a:srgbClr val="F4F3EC">
                  <a:alpha val="40000"/>
                </a:srgbClr>
              </a:solidFill>
              <a:prstDash val="dot"/>
              <a:round/>
              <a:headEnd len="sm" w="sm" type="none"/>
              <a:tailEnd len="sm" w="sm" type="none"/>
            </a:ln>
          </p:spPr>
        </p:cxnSp>
      </p:grpSp>
      <p:sp>
        <p:nvSpPr>
          <p:cNvPr id="156" name="Google Shape;156;p3"/>
          <p:cNvSpPr txBox="1"/>
          <p:nvPr/>
        </p:nvSpPr>
        <p:spPr>
          <a:xfrm>
            <a:off x="946404" y="743988"/>
            <a:ext cx="6292710" cy="8458246"/>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200" u="none" cap="none" strike="noStrike">
                <a:solidFill>
                  <a:schemeClr val="lt1"/>
                </a:solidFill>
                <a:latin typeface="Arial"/>
                <a:ea typeface="Arial"/>
                <a:cs typeface="Arial"/>
                <a:sym typeface="Arial"/>
              </a:rPr>
              <a:t>COMPETENCIA(S) QUE DESARROLLAREMOS</a:t>
            </a:r>
            <a:endParaRPr b="0" i="0" sz="7200" u="none" cap="none" strike="noStrike">
              <a:solidFill>
                <a:schemeClr val="lt1"/>
              </a:solidFill>
              <a:latin typeface="Arial"/>
              <a:ea typeface="Arial"/>
              <a:cs typeface="Arial"/>
              <a:sym typeface="Arial"/>
            </a:endParaRPr>
          </a:p>
        </p:txBody>
      </p:sp>
      <p:grpSp>
        <p:nvGrpSpPr>
          <p:cNvPr id="157" name="Google Shape;157;p3"/>
          <p:cNvGrpSpPr/>
          <p:nvPr/>
        </p:nvGrpSpPr>
        <p:grpSpPr>
          <a:xfrm>
            <a:off x="7373920" y="1391564"/>
            <a:ext cx="9380583" cy="7400880"/>
            <a:chOff x="0" y="91687"/>
            <a:chExt cx="9380583" cy="7400880"/>
          </a:xfrm>
        </p:grpSpPr>
        <p:sp>
          <p:nvSpPr>
            <p:cNvPr id="158" name="Google Shape;158;p3"/>
            <p:cNvSpPr/>
            <p:nvPr/>
          </p:nvSpPr>
          <p:spPr>
            <a:xfrm>
              <a:off x="0" y="91687"/>
              <a:ext cx="9380583" cy="3645720"/>
            </a:xfrm>
            <a:prstGeom prst="roundRect">
              <a:avLst>
                <a:gd fmla="val 16667" name="adj"/>
              </a:avLst>
            </a:prstGeom>
            <a:solidFill>
              <a:srgbClr val="BF504D"/>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txBox="1"/>
            <p:nvPr/>
          </p:nvSpPr>
          <p:spPr>
            <a:xfrm>
              <a:off x="177969" y="269656"/>
              <a:ext cx="9024645" cy="3289782"/>
            </a:xfrm>
            <a:prstGeom prst="rect">
              <a:avLst/>
            </a:prstGeom>
            <a:noFill/>
            <a:ln>
              <a:noFill/>
            </a:ln>
          </p:spPr>
          <p:txBody>
            <a:bodyPr anchorCtr="0" anchor="ctr" bIns="144775" lIns="144775" spcFirstLastPara="1" rIns="144775" wrap="square" tIns="144775">
              <a:noAutofit/>
            </a:bodyPr>
            <a:lstStyle/>
            <a:p>
              <a:pPr indent="0" lvl="0" marL="0" marR="0" rtl="0" algn="l">
                <a:lnSpc>
                  <a:spcPct val="90000"/>
                </a:lnSpc>
                <a:spcBef>
                  <a:spcPts val="0"/>
                </a:spcBef>
                <a:spcAft>
                  <a:spcPts val="0"/>
                </a:spcAft>
                <a:buClr>
                  <a:srgbClr val="000000"/>
                </a:buClr>
                <a:buSzPts val="3800"/>
                <a:buFont typeface="Arial"/>
                <a:buNone/>
              </a:pPr>
              <a:r>
                <a:rPr b="0" i="0" lang="en-US" sz="3800" u="none" cap="none" strike="noStrike">
                  <a:solidFill>
                    <a:schemeClr val="lt1"/>
                  </a:solidFill>
                  <a:latin typeface="Arial"/>
                  <a:ea typeface="Arial"/>
                  <a:cs typeface="Arial"/>
                  <a:sym typeface="Arial"/>
                </a:rPr>
                <a:t>Implementa Estructuras de Control  procedimientos en VB.NET mediante variables condicionales  ciclos para desarrollar soluciones informaticas que automaticen procesos de gestión de datos.</a:t>
              </a:r>
              <a:endParaRPr b="0" i="0" sz="3800" u="none" cap="none" strike="noStrike">
                <a:solidFill>
                  <a:schemeClr val="lt1"/>
                </a:solidFill>
                <a:latin typeface="Arial"/>
                <a:ea typeface="Arial"/>
                <a:cs typeface="Arial"/>
                <a:sym typeface="Arial"/>
              </a:endParaRPr>
            </a:p>
          </p:txBody>
        </p:sp>
        <p:sp>
          <p:nvSpPr>
            <p:cNvPr id="160" name="Google Shape;160;p3"/>
            <p:cNvSpPr/>
            <p:nvPr/>
          </p:nvSpPr>
          <p:spPr>
            <a:xfrm>
              <a:off x="0" y="3846847"/>
              <a:ext cx="9380583" cy="3645720"/>
            </a:xfrm>
            <a:prstGeom prst="roundRect">
              <a:avLst>
                <a:gd fmla="val 16667" name="adj"/>
              </a:avLst>
            </a:prstGeom>
            <a:solidFill>
              <a:srgbClr val="99B958"/>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
            <p:cNvSpPr txBox="1"/>
            <p:nvPr/>
          </p:nvSpPr>
          <p:spPr>
            <a:xfrm>
              <a:off x="177969" y="4024816"/>
              <a:ext cx="9024645" cy="3289782"/>
            </a:xfrm>
            <a:prstGeom prst="rect">
              <a:avLst/>
            </a:prstGeom>
            <a:noFill/>
            <a:ln>
              <a:noFill/>
            </a:ln>
          </p:spPr>
          <p:txBody>
            <a:bodyPr anchorCtr="0" anchor="ctr" bIns="144775" lIns="144775" spcFirstLastPara="1" rIns="144775" wrap="square" tIns="144775">
              <a:noAutofit/>
            </a:bodyPr>
            <a:lstStyle/>
            <a:p>
              <a:pPr indent="0" lvl="0" marL="0" marR="0" rtl="0" algn="l">
                <a:lnSpc>
                  <a:spcPct val="90000"/>
                </a:lnSpc>
                <a:spcBef>
                  <a:spcPts val="0"/>
                </a:spcBef>
                <a:spcAft>
                  <a:spcPts val="0"/>
                </a:spcAft>
                <a:buClr>
                  <a:srgbClr val="000000"/>
                </a:buClr>
                <a:buSzPts val="3800"/>
                <a:buFont typeface="Arial"/>
                <a:buNone/>
              </a:pPr>
              <a:r>
                <a:rPr b="0" i="0" lang="en-US" sz="3800" u="none" cap="none" strike="noStrike">
                  <a:solidFill>
                    <a:schemeClr val="lt1"/>
                  </a:solidFill>
                  <a:latin typeface="Arial"/>
                  <a:ea typeface="Arial"/>
                  <a:cs typeface="Arial"/>
                  <a:sym typeface="Arial"/>
                </a:rPr>
                <a:t>Desarolla Interfaces gráficas funcionales haciendo uso de controles básicos, como textbox, label, combobox capturar  mostrar los datos de forma eficiente </a:t>
              </a:r>
              <a:endParaRPr b="0" i="0" sz="3800" u="none" cap="none" strike="noStrike">
                <a:solidFill>
                  <a:schemeClr val="lt1"/>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5" name="Shape 165"/>
        <p:cNvGrpSpPr/>
        <p:nvPr/>
      </p:nvGrpSpPr>
      <p:grpSpPr>
        <a:xfrm>
          <a:off x="0" y="0"/>
          <a:ext cx="0" cy="0"/>
          <a:chOff x="0" y="0"/>
          <a:chExt cx="0" cy="0"/>
        </a:xfrm>
      </p:grpSpPr>
      <p:sp>
        <p:nvSpPr>
          <p:cNvPr id="166" name="Google Shape;166;p4"/>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67" name="Google Shape;167;p4"/>
          <p:cNvSpPr txBox="1"/>
          <p:nvPr/>
        </p:nvSpPr>
        <p:spPr>
          <a:xfrm>
            <a:off x="1257300" y="835782"/>
            <a:ext cx="15773400" cy="1700248"/>
          </a:xfrm>
          <a:prstGeom prst="rect">
            <a:avLst/>
          </a:prstGeom>
          <a:noFill/>
          <a:ln>
            <a:noFill/>
          </a:ln>
        </p:spPr>
        <p:txBody>
          <a:bodyPr anchorCtr="0" anchor="ctr" bIns="45700" lIns="91425" spcFirstLastPara="1" rIns="91425" wrap="square" tIns="45700">
            <a:normAutofit fontScale="85000" lnSpcReduction="20000"/>
          </a:bodyPr>
          <a:lstStyle/>
          <a:p>
            <a:pPr indent="0" lvl="0" marL="0" marR="0" rtl="0" algn="ctr">
              <a:lnSpc>
                <a:spcPct val="90000"/>
              </a:lnSpc>
              <a:spcBef>
                <a:spcPts val="0"/>
              </a:spcBef>
              <a:spcAft>
                <a:spcPts val="600"/>
              </a:spcAft>
              <a:buNone/>
            </a:pPr>
            <a:r>
              <a:rPr b="0" i="0" lang="en-US" sz="7800" u="none" cap="none" strike="noStrike">
                <a:solidFill>
                  <a:schemeClr val="dk1"/>
                </a:solidFill>
                <a:latin typeface="Arial"/>
                <a:ea typeface="Arial"/>
                <a:cs typeface="Arial"/>
                <a:sym typeface="Arial"/>
              </a:rPr>
              <a:t>REPASO FUNCIONES Y PROCEDIMIENTOS</a:t>
            </a:r>
            <a:endParaRPr b="0" i="0" sz="7800" u="none" cap="none" strike="noStrike">
              <a:solidFill>
                <a:schemeClr val="dk1"/>
              </a:solidFill>
              <a:latin typeface="Arial"/>
              <a:ea typeface="Arial"/>
              <a:cs typeface="Arial"/>
              <a:sym typeface="Arial"/>
            </a:endParaRPr>
          </a:p>
        </p:txBody>
      </p:sp>
      <p:grpSp>
        <p:nvGrpSpPr>
          <p:cNvPr id="168" name="Google Shape;168;p4"/>
          <p:cNvGrpSpPr/>
          <p:nvPr/>
        </p:nvGrpSpPr>
        <p:grpSpPr>
          <a:xfrm>
            <a:off x="1259225" y="3505130"/>
            <a:ext cx="15769549" cy="5004955"/>
            <a:chOff x="1925" y="761930"/>
            <a:chExt cx="15769549" cy="5004955"/>
          </a:xfrm>
        </p:grpSpPr>
        <p:sp>
          <p:nvSpPr>
            <p:cNvPr id="169" name="Google Shape;169;p4"/>
            <p:cNvSpPr/>
            <p:nvPr/>
          </p:nvSpPr>
          <p:spPr>
            <a:xfrm>
              <a:off x="1925" y="761930"/>
              <a:ext cx="6758378" cy="4291570"/>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4"/>
            <p:cNvSpPr/>
            <p:nvPr/>
          </p:nvSpPr>
          <p:spPr>
            <a:xfrm>
              <a:off x="752856" y="1475315"/>
              <a:ext cx="6758378" cy="4291570"/>
            </a:xfrm>
            <a:prstGeom prst="roundRect">
              <a:avLst>
                <a:gd fmla="val 10000" name="adj"/>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txBox="1"/>
            <p:nvPr/>
          </p:nvSpPr>
          <p:spPr>
            <a:xfrm>
              <a:off x="878552" y="1601011"/>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Function</a:t>
              </a:r>
              <a:r>
                <a:rPr b="0" i="0" lang="en-US" sz="2400" u="none" cap="none" strike="noStrike">
                  <a:solidFill>
                    <a:srgbClr val="000000"/>
                  </a:solidFill>
                  <a:latin typeface="Arial"/>
                  <a:ea typeface="Arial"/>
                  <a:cs typeface="Arial"/>
                  <a:sym typeface="Arial"/>
                </a:rPr>
                <a:t>: Pueden ser invocados por su nombre desde otros procedimientos, pueden recibir argumentos y siempre devuelven un valor con el nombre de la función.</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Sintaxis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[Modificador de acceso] </a:t>
              </a:r>
              <a:r>
                <a:rPr b="1" i="0" lang="en-US" sz="2400" u="none" cap="none" strike="noStrike">
                  <a:solidFill>
                    <a:srgbClr val="000000"/>
                  </a:solidFill>
                  <a:latin typeface="Arial"/>
                  <a:ea typeface="Arial"/>
                  <a:cs typeface="Arial"/>
                  <a:sym typeface="Arial"/>
                </a:rPr>
                <a:t>Function</a:t>
              </a:r>
              <a:r>
                <a:rPr b="0" i="0" lang="en-US" sz="2400" u="none" cap="none" strike="noStrike">
                  <a:solidFill>
                    <a:srgbClr val="000000"/>
                  </a:solidFill>
                  <a:latin typeface="Arial"/>
                  <a:ea typeface="Arial"/>
                  <a:cs typeface="Arial"/>
                  <a:sym typeface="Arial"/>
                </a:rPr>
                <a:t> nombre_funcion(argumentos) As tipo</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Instrucciones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Nombre_Funcion = valor a retornar</a:t>
              </a:r>
              <a:endParaRPr/>
            </a:p>
            <a:p>
              <a:pPr indent="0" lvl="0" marL="0" marR="0" rtl="0" algn="ctr">
                <a:lnSpc>
                  <a:spcPct val="90000"/>
                </a:lnSpc>
                <a:spcBef>
                  <a:spcPts val="84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End Function</a:t>
              </a:r>
              <a:endParaRPr b="0" i="0" sz="2400" u="none" cap="none" strike="noStrike">
                <a:solidFill>
                  <a:srgbClr val="000000"/>
                </a:solidFill>
                <a:latin typeface="Arial"/>
                <a:ea typeface="Arial"/>
                <a:cs typeface="Arial"/>
                <a:sym typeface="Arial"/>
              </a:endParaRPr>
            </a:p>
          </p:txBody>
        </p:sp>
        <p:sp>
          <p:nvSpPr>
            <p:cNvPr id="172" name="Google Shape;172;p4"/>
            <p:cNvSpPr/>
            <p:nvPr/>
          </p:nvSpPr>
          <p:spPr>
            <a:xfrm>
              <a:off x="8262165" y="761930"/>
              <a:ext cx="6758378" cy="4291570"/>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9013096" y="1475315"/>
              <a:ext cx="6758378" cy="4291570"/>
            </a:xfrm>
            <a:prstGeom prst="roundRect">
              <a:avLst>
                <a:gd fmla="val 10000" name="adj"/>
              </a:avLst>
            </a:prstGeom>
            <a:solidFill>
              <a:schemeClr val="lt1">
                <a:alpha val="89803"/>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txBox="1"/>
            <p:nvPr/>
          </p:nvSpPr>
          <p:spPr>
            <a:xfrm>
              <a:off x="9138792" y="1601011"/>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Sub</a:t>
              </a:r>
              <a:r>
                <a:rPr b="0" i="0" lang="en-US" sz="2400" u="none" cap="none" strike="noStrike">
                  <a:solidFill>
                    <a:srgbClr val="000000"/>
                  </a:solidFill>
                  <a:latin typeface="Arial"/>
                  <a:ea typeface="Arial"/>
                  <a:cs typeface="Arial"/>
                  <a:sym typeface="Arial"/>
                </a:rPr>
                <a:t>: También pueden ser invocados por su nombre desde otros procedimientos, pueden recibir argumentos, pero no devuelven valores.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Sintaxis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[Modificador de acceso] </a:t>
              </a:r>
              <a:r>
                <a:rPr b="1" i="0" lang="en-US" sz="2400" u="none" cap="none" strike="noStrike">
                  <a:solidFill>
                    <a:srgbClr val="000000"/>
                  </a:solidFill>
                  <a:latin typeface="Arial"/>
                  <a:ea typeface="Arial"/>
                  <a:cs typeface="Arial"/>
                  <a:sym typeface="Arial"/>
                </a:rPr>
                <a:t>Sub</a:t>
              </a:r>
              <a:r>
                <a:rPr b="0" i="0" lang="en-US" sz="2400" u="none" cap="none" strike="noStrike">
                  <a:solidFill>
                    <a:srgbClr val="000000"/>
                  </a:solidFill>
                  <a:latin typeface="Arial"/>
                  <a:ea typeface="Arial"/>
                  <a:cs typeface="Arial"/>
                  <a:sym typeface="Arial"/>
                </a:rPr>
                <a:t> nombre_sub(argumentos)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Instrucciones</a:t>
              </a:r>
              <a:endParaRPr/>
            </a:p>
            <a:p>
              <a:pPr indent="0" lvl="0" marL="0" marR="0" rtl="0" algn="ctr">
                <a:lnSpc>
                  <a:spcPct val="90000"/>
                </a:lnSpc>
                <a:spcBef>
                  <a:spcPts val="84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End Sub</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id="179" name="Google Shape;179;p22"/>
          <p:cNvSpPr/>
          <p:nvPr/>
        </p:nvSpPr>
        <p:spPr>
          <a:xfrm>
            <a:off x="-1" y="0"/>
            <a:ext cx="18283427"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80" name="Google Shape;180;p22"/>
          <p:cNvSpPr txBox="1"/>
          <p:nvPr/>
        </p:nvSpPr>
        <p:spPr>
          <a:xfrm>
            <a:off x="1257300" y="835782"/>
            <a:ext cx="15773400" cy="1700248"/>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CONTROLES BASICOS</a:t>
            </a:r>
            <a:endParaRPr b="0" i="0" sz="6600" u="none" cap="none" strike="noStrike">
              <a:solidFill>
                <a:schemeClr val="dk1"/>
              </a:solidFill>
              <a:latin typeface="Arial"/>
              <a:ea typeface="Arial"/>
              <a:cs typeface="Arial"/>
              <a:sym typeface="Arial"/>
            </a:endParaRPr>
          </a:p>
        </p:txBody>
      </p:sp>
      <p:grpSp>
        <p:nvGrpSpPr>
          <p:cNvPr id="181" name="Google Shape;181;p22"/>
          <p:cNvGrpSpPr/>
          <p:nvPr/>
        </p:nvGrpSpPr>
        <p:grpSpPr>
          <a:xfrm>
            <a:off x="1259225" y="2853698"/>
            <a:ext cx="15769548" cy="6307819"/>
            <a:chOff x="1925" y="110498"/>
            <a:chExt cx="15769548" cy="6307819"/>
          </a:xfrm>
        </p:grpSpPr>
        <p:sp>
          <p:nvSpPr>
            <p:cNvPr id="182" name="Google Shape;182;p22"/>
            <p:cNvSpPr/>
            <p:nvPr/>
          </p:nvSpPr>
          <p:spPr>
            <a:xfrm>
              <a:off x="1925" y="110498"/>
              <a:ext cx="6307819" cy="6307819"/>
            </a:xfrm>
            <a:prstGeom prst="ellipse">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txBox="1"/>
            <p:nvPr/>
          </p:nvSpPr>
          <p:spPr>
            <a:xfrm>
              <a:off x="925684" y="1034257"/>
              <a:ext cx="4460301" cy="4460301"/>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Cuando un procedimiento no se califica explicitamente con las palabras reservadas “PUBLIC” o “PRIVATE” es, por omisión, publico en todos los modulos.</a:t>
              </a:r>
              <a:endParaRPr/>
            </a:p>
          </p:txBody>
        </p:sp>
        <p:sp>
          <p:nvSpPr>
            <p:cNvPr id="184" name="Google Shape;184;p22"/>
            <p:cNvSpPr/>
            <p:nvPr/>
          </p:nvSpPr>
          <p:spPr>
            <a:xfrm rot="5400000">
              <a:off x="6830140" y="2428621"/>
              <a:ext cx="2207736" cy="1671572"/>
            </a:xfrm>
            <a:prstGeom prst="triangle">
              <a:avLst>
                <a:gd fmla="val 50000" name="adj"/>
              </a:avLst>
            </a:prstGeom>
            <a:solidFill>
              <a:srgbClr val="A7AF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2"/>
            <p:cNvSpPr/>
            <p:nvPr/>
          </p:nvSpPr>
          <p:spPr>
            <a:xfrm>
              <a:off x="9463654" y="110498"/>
              <a:ext cx="6307819" cy="6307819"/>
            </a:xfrm>
            <a:prstGeom prst="ellipse">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2"/>
            <p:cNvSpPr txBox="1"/>
            <p:nvPr/>
          </p:nvSpPr>
          <p:spPr>
            <a:xfrm>
              <a:off x="10387413" y="1034257"/>
              <a:ext cx="4460301" cy="4460301"/>
            </a:xfrm>
            <a:prstGeom prst="rect">
              <a:avLst/>
            </a:prstGeom>
            <a:noFill/>
            <a:ln>
              <a:noFill/>
            </a:ln>
          </p:spPr>
          <p:txBody>
            <a:bodyPr anchorCtr="0" anchor="ctr" bIns="30475" lIns="30475" spcFirstLastPara="1" rIns="30475" wrap="square" tIns="3047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Logicamente el caracter publico de un procedimiento puede ser cambiado a privado, modificando asi su accesibilidad. Por ejemplo, el siguiente procedimiento escrito en cualquier modulo es publico:</a:t>
              </a:r>
              <a:endParaRPr/>
            </a:p>
            <a:p>
              <a:pPr indent="0" lvl="0" marL="0" marR="0" rtl="0" algn="ctr">
                <a:lnSpc>
                  <a:spcPct val="90000"/>
                </a:lnSpc>
                <a:spcBef>
                  <a:spcPts val="84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Sub MiProc()</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‘Declaraciones y sentencias</a:t>
              </a:r>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chemeClr val="lt1"/>
                  </a:solidFill>
                  <a:latin typeface="Arial"/>
                  <a:ea typeface="Arial"/>
                  <a:cs typeface="Arial"/>
                  <a:sym typeface="Arial"/>
                </a:rPr>
                <a:t>End Sub</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23"/>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92" name="Google Shape;192;p23"/>
          <p:cNvSpPr txBox="1"/>
          <p:nvPr/>
        </p:nvSpPr>
        <p:spPr>
          <a:xfrm>
            <a:off x="1257300" y="547687"/>
            <a:ext cx="8090041" cy="198834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4400" u="none" cap="none" strike="noStrike">
                <a:solidFill>
                  <a:schemeClr val="dk1"/>
                </a:solidFill>
                <a:latin typeface="Arial"/>
                <a:ea typeface="Arial"/>
                <a:cs typeface="Arial"/>
                <a:sym typeface="Arial"/>
              </a:rPr>
              <a:t>CONTROLES BASICOS</a:t>
            </a:r>
            <a:endParaRPr b="0" i="0" sz="4400" u="none" cap="none" strike="noStrike">
              <a:solidFill>
                <a:schemeClr val="dk1"/>
              </a:solidFill>
              <a:latin typeface="Arial"/>
              <a:ea typeface="Arial"/>
              <a:cs typeface="Arial"/>
              <a:sym typeface="Arial"/>
            </a:endParaRPr>
          </a:p>
        </p:txBody>
      </p:sp>
      <p:sp>
        <p:nvSpPr>
          <p:cNvPr id="193" name="Google Shape;193;p23"/>
          <p:cNvSpPr/>
          <p:nvPr/>
        </p:nvSpPr>
        <p:spPr>
          <a:xfrm>
            <a:off x="15297985" y="1"/>
            <a:ext cx="1732713" cy="937541"/>
          </a:xfrm>
          <a:custGeom>
            <a:rect b="b" l="l" r="r" t="t"/>
            <a:pathLst>
              <a:path extrusionOk="0" h="625027" w="1155142">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4" name="Google Shape;194;p23"/>
          <p:cNvSpPr/>
          <p:nvPr/>
        </p:nvSpPr>
        <p:spPr>
          <a:xfrm>
            <a:off x="10212277" y="5135938"/>
            <a:ext cx="811233" cy="811233"/>
          </a:xfrm>
          <a:prstGeom prst="ellipse">
            <a:avLst/>
          </a:prstGeom>
          <a:noFill/>
          <a:ln cap="flat" cmpd="sng" w="1270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5" name="Google Shape;195;p23"/>
          <p:cNvSpPr/>
          <p:nvPr/>
        </p:nvSpPr>
        <p:spPr>
          <a:xfrm>
            <a:off x="10124403" y="1"/>
            <a:ext cx="3100422" cy="2432819"/>
          </a:xfrm>
          <a:custGeom>
            <a:rect b="b" l="l" r="r" t="t"/>
            <a:pathLst>
              <a:path extrusionOk="0" h="1621879" w="2066948">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196" name="Google Shape;196;p23"/>
          <p:cNvCxnSpPr/>
          <p:nvPr/>
        </p:nvCxnSpPr>
        <p:spPr>
          <a:xfrm>
            <a:off x="18208117" y="1541859"/>
            <a:ext cx="0" cy="2396562"/>
          </a:xfrm>
          <a:prstGeom prst="straightConnector1">
            <a:avLst/>
          </a:prstGeom>
          <a:noFill/>
          <a:ln cap="rnd" cmpd="sng" w="127000">
            <a:solidFill>
              <a:schemeClr val="accent4"/>
            </a:solidFill>
            <a:prstDash val="dash"/>
            <a:round/>
            <a:headEnd len="sm" w="sm" type="none"/>
            <a:tailEnd len="sm" w="sm" type="none"/>
          </a:ln>
        </p:spPr>
      </p:cxnSp>
      <p:sp>
        <p:nvSpPr>
          <p:cNvPr id="197" name="Google Shape;197;p23"/>
          <p:cNvSpPr/>
          <p:nvPr/>
        </p:nvSpPr>
        <p:spPr>
          <a:xfrm rot="-1136562">
            <a:off x="11184870" y="7750023"/>
            <a:ext cx="2753587" cy="3037177"/>
          </a:xfrm>
          <a:custGeom>
            <a:rect b="b" l="l" r="r" t="t"/>
            <a:pathLst>
              <a:path extrusionOk="0" h="2024785" w="183572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23"/>
          <p:cNvSpPr/>
          <p:nvPr/>
        </p:nvSpPr>
        <p:spPr>
          <a:xfrm>
            <a:off x="10214290" y="9050692"/>
            <a:ext cx="2986596" cy="1236308"/>
          </a:xfrm>
          <a:custGeom>
            <a:rect b="b" l="l" r="r" t="t"/>
            <a:pathLst>
              <a:path extrusionOk="0" h="824205" w="1991064">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9" name="Google Shape;199;p23"/>
          <p:cNvSpPr/>
          <p:nvPr/>
        </p:nvSpPr>
        <p:spPr>
          <a:xfrm>
            <a:off x="16277544" y="8278794"/>
            <a:ext cx="2010457" cy="2008207"/>
          </a:xfrm>
          <a:custGeom>
            <a:rect b="b" l="l" r="r" t="t"/>
            <a:pathLst>
              <a:path extrusionOk="0" h="1338805" w="13403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200" name="Google Shape;200;p23"/>
          <p:cNvGrpSpPr/>
          <p:nvPr/>
        </p:nvGrpSpPr>
        <p:grpSpPr>
          <a:xfrm>
            <a:off x="1257300" y="2738437"/>
            <a:ext cx="8090041" cy="6527006"/>
            <a:chOff x="0" y="0"/>
            <a:chExt cx="8090041" cy="6527006"/>
          </a:xfrm>
        </p:grpSpPr>
        <p:cxnSp>
          <p:nvCxnSpPr>
            <p:cNvPr id="201" name="Google Shape;201;p23"/>
            <p:cNvCxnSpPr/>
            <p:nvPr/>
          </p:nvCxnSpPr>
          <p:spPr>
            <a:xfrm>
              <a:off x="0" y="0"/>
              <a:ext cx="8090041" cy="0"/>
            </a:xfrm>
            <a:prstGeom prst="straightConnector1">
              <a:avLst/>
            </a:prstGeom>
            <a:solidFill>
              <a:srgbClr val="1D497D"/>
            </a:solidFill>
            <a:ln cap="flat" cmpd="sng" w="25400">
              <a:solidFill>
                <a:srgbClr val="1D497D"/>
              </a:solidFill>
              <a:prstDash val="solid"/>
              <a:round/>
              <a:headEnd len="sm" w="sm" type="none"/>
              <a:tailEnd len="sm" w="sm" type="none"/>
            </a:ln>
            <a:effectLst>
              <a:outerShdw blurRad="40000" rotWithShape="0" dir="5400000" dist="20000">
                <a:srgbClr val="000000">
                  <a:alpha val="37647"/>
                </a:srgbClr>
              </a:outerShdw>
            </a:effectLst>
          </p:spPr>
        </p:cxnSp>
        <p:sp>
          <p:nvSpPr>
            <p:cNvPr id="202" name="Google Shape;202;p23"/>
            <p:cNvSpPr/>
            <p:nvPr/>
          </p:nvSpPr>
          <p:spPr>
            <a:xfrm>
              <a:off x="0" y="0"/>
              <a:ext cx="8090041" cy="32635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3"/>
            <p:cNvSpPr txBox="1"/>
            <p:nvPr/>
          </p:nvSpPr>
          <p:spPr>
            <a:xfrm>
              <a:off x="0" y="0"/>
              <a:ext cx="8090041" cy="3263503"/>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Consecuentemente, un procedimiento publico (Public) puede invocarse desde cualqueir parte de la aplicacion, pero un procedimiento  privado (Private) solo pude ser llamado desde otros procedimientos que esten en el mismo modulo,</a:t>
              </a:r>
              <a:endParaRPr/>
            </a:p>
          </p:txBody>
        </p:sp>
        <p:cxnSp>
          <p:nvCxnSpPr>
            <p:cNvPr id="204" name="Google Shape;204;p23"/>
            <p:cNvCxnSpPr/>
            <p:nvPr/>
          </p:nvCxnSpPr>
          <p:spPr>
            <a:xfrm>
              <a:off x="0" y="3263503"/>
              <a:ext cx="8090041" cy="0"/>
            </a:xfrm>
            <a:prstGeom prst="straightConnector1">
              <a:avLst/>
            </a:prstGeom>
            <a:solidFill>
              <a:srgbClr val="1D497D"/>
            </a:solidFill>
            <a:ln cap="flat" cmpd="sng" w="25400">
              <a:solidFill>
                <a:srgbClr val="1D497D"/>
              </a:solidFill>
              <a:prstDash val="solid"/>
              <a:round/>
              <a:headEnd len="sm" w="sm" type="none"/>
              <a:tailEnd len="sm" w="sm" type="none"/>
            </a:ln>
            <a:effectLst>
              <a:outerShdw blurRad="40000" rotWithShape="0" dir="5400000" dist="20000">
                <a:srgbClr val="000000">
                  <a:alpha val="37647"/>
                </a:srgbClr>
              </a:outerShdw>
            </a:effectLst>
          </p:spPr>
        </p:cxnSp>
        <p:sp>
          <p:nvSpPr>
            <p:cNvPr id="205" name="Google Shape;205;p23"/>
            <p:cNvSpPr/>
            <p:nvPr/>
          </p:nvSpPr>
          <p:spPr>
            <a:xfrm>
              <a:off x="0" y="3263503"/>
              <a:ext cx="8090041" cy="326350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3"/>
            <p:cNvSpPr txBox="1"/>
            <p:nvPr/>
          </p:nvSpPr>
          <p:spPr>
            <a:xfrm>
              <a:off x="0" y="3263503"/>
              <a:ext cx="8090041" cy="3263503"/>
            </a:xfrm>
            <a:prstGeom prst="rect">
              <a:avLst/>
            </a:prstGeom>
            <a:noFill/>
            <a:ln>
              <a:noFill/>
            </a:ln>
          </p:spPr>
          <p:txBody>
            <a:bodyPr anchorCtr="0" anchor="t" bIns="121900" lIns="121900" spcFirstLastPara="1" rIns="121900" wrap="square" tIns="121900">
              <a:noAutofit/>
            </a:bodyPr>
            <a:lstStyle/>
            <a:p>
              <a:pPr indent="0" lvl="0" marL="0" marR="0" rtl="0" algn="l">
                <a:lnSpc>
                  <a:spcPct val="90000"/>
                </a:lnSpc>
                <a:spcBef>
                  <a:spcPts val="0"/>
                </a:spcBef>
                <a:spcAft>
                  <a:spcPts val="0"/>
                </a:spcAft>
                <a:buClr>
                  <a:srgbClr val="000000"/>
                </a:buClr>
                <a:buSzPts val="3200"/>
                <a:buFont typeface="Arial"/>
                <a:buNone/>
              </a:pPr>
              <a:r>
                <a:rPr b="0" i="0" lang="en-US" sz="3200" u="none" cap="none" strike="noStrike">
                  <a:solidFill>
                    <a:srgbClr val="000000"/>
                  </a:solidFill>
                  <a:latin typeface="Arial"/>
                  <a:ea typeface="Arial"/>
                  <a:cs typeface="Arial"/>
                  <a:sym typeface="Arial"/>
                </a:rPr>
                <a:t>Cuando un procedimiento es llamado para su ejecucion, Visual Basic busca ese procedimiento en el modulo donde nos encontremos. Si no lo encuentra, entonces continua la busqueda en el resto de los modulos de la aplicacion</a:t>
              </a:r>
              <a:endParaRPr b="0" i="0" sz="3200" u="none" cap="none" strike="noStrike">
                <a:solidFill>
                  <a:srgbClr val="000000"/>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10" name="Shape 210"/>
        <p:cNvGrpSpPr/>
        <p:nvPr/>
      </p:nvGrpSpPr>
      <p:grpSpPr>
        <a:xfrm>
          <a:off x="0" y="0"/>
          <a:ext cx="0" cy="0"/>
          <a:chOff x="0" y="0"/>
          <a:chExt cx="0" cy="0"/>
        </a:xfrm>
      </p:grpSpPr>
      <p:sp>
        <p:nvSpPr>
          <p:cNvPr id="211" name="Google Shape;211;p24"/>
          <p:cNvSpPr txBox="1"/>
          <p:nvPr/>
        </p:nvSpPr>
        <p:spPr>
          <a:xfrm>
            <a:off x="1257300" y="547687"/>
            <a:ext cx="15773400" cy="198834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4400" u="none" cap="none" strike="noStrike">
                <a:solidFill>
                  <a:schemeClr val="lt1"/>
                </a:solidFill>
                <a:latin typeface="Arial"/>
                <a:ea typeface="Arial"/>
                <a:cs typeface="Arial"/>
                <a:sym typeface="Arial"/>
              </a:rPr>
              <a:t>VARIABLES, </a:t>
            </a:r>
            <a:r>
              <a:rPr lang="en-US" sz="4400">
                <a:solidFill>
                  <a:schemeClr val="lt1"/>
                </a:solidFill>
              </a:rPr>
              <a:t>DEFINICIÓN</a:t>
            </a:r>
            <a:r>
              <a:rPr b="0" i="0" lang="en-US" sz="4400" u="none" cap="none" strike="noStrike">
                <a:solidFill>
                  <a:schemeClr val="lt1"/>
                </a:solidFill>
                <a:latin typeface="Arial"/>
                <a:ea typeface="Arial"/>
                <a:cs typeface="Arial"/>
                <a:sym typeface="Arial"/>
              </a:rPr>
              <a:t> Y ENTORNO</a:t>
            </a:r>
            <a:endParaRPr b="0" i="0" sz="4400" u="none" cap="none" strike="noStrike">
              <a:solidFill>
                <a:schemeClr val="lt1"/>
              </a:solidFill>
              <a:latin typeface="Arial"/>
              <a:ea typeface="Arial"/>
              <a:cs typeface="Arial"/>
              <a:sym typeface="Arial"/>
            </a:endParaRPr>
          </a:p>
        </p:txBody>
      </p:sp>
      <p:grpSp>
        <p:nvGrpSpPr>
          <p:cNvPr id="212" name="Google Shape;212;p24"/>
          <p:cNvGrpSpPr/>
          <p:nvPr/>
        </p:nvGrpSpPr>
        <p:grpSpPr>
          <a:xfrm>
            <a:off x="1259225" y="3499463"/>
            <a:ext cx="15769549" cy="5004954"/>
            <a:chOff x="1925" y="761026"/>
            <a:chExt cx="15769549" cy="5004954"/>
          </a:xfrm>
        </p:grpSpPr>
        <p:sp>
          <p:nvSpPr>
            <p:cNvPr id="213" name="Google Shape;213;p24"/>
            <p:cNvSpPr/>
            <p:nvPr/>
          </p:nvSpPr>
          <p:spPr>
            <a:xfrm>
              <a:off x="1925" y="761026"/>
              <a:ext cx="6758378" cy="4291570"/>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4"/>
            <p:cNvSpPr/>
            <p:nvPr/>
          </p:nvSpPr>
          <p:spPr>
            <a:xfrm>
              <a:off x="752856" y="1474410"/>
              <a:ext cx="6758378" cy="4291570"/>
            </a:xfrm>
            <a:prstGeom prst="roundRect">
              <a:avLst>
                <a:gd fmla="val 10000" name="adj"/>
              </a:avLst>
            </a:prstGeom>
            <a:solidFill>
              <a:srgbClr val="EEECE0">
                <a:alpha val="89803"/>
              </a:srgbClr>
            </a:solidFill>
            <a:ln cap="flat" cmpd="sng" w="25400">
              <a:solidFill>
                <a:srgbClr val="1D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4"/>
            <p:cNvSpPr txBox="1"/>
            <p:nvPr/>
          </p:nvSpPr>
          <p:spPr>
            <a:xfrm>
              <a:off x="878552" y="1600106"/>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Los tipos de variables dependen del lenguaje de programación cada lenguaje tiene sus propios tipos de datos y forma de definir variables.</a:t>
              </a:r>
              <a:endParaRPr/>
            </a:p>
            <a:p>
              <a:pPr indent="0" lvl="0" marL="0" marR="0" rtl="0" algn="ctr">
                <a:lnSpc>
                  <a:spcPct val="90000"/>
                </a:lnSpc>
                <a:spcBef>
                  <a:spcPts val="84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El tipado puede ser estático, cuando los tipos de variables se establecen al momento que se declaren o dinámico cuando el tipo se determina y se asigna durante la ejecución del programa.</a:t>
              </a:r>
              <a:endParaRPr b="0" i="0" sz="2400" u="none" cap="none" strike="noStrike">
                <a:solidFill>
                  <a:srgbClr val="000000"/>
                </a:solidFill>
                <a:latin typeface="Arial"/>
                <a:ea typeface="Arial"/>
                <a:cs typeface="Arial"/>
                <a:sym typeface="Arial"/>
              </a:endParaRPr>
            </a:p>
          </p:txBody>
        </p:sp>
        <p:sp>
          <p:nvSpPr>
            <p:cNvPr id="216" name="Google Shape;216;p24"/>
            <p:cNvSpPr/>
            <p:nvPr/>
          </p:nvSpPr>
          <p:spPr>
            <a:xfrm>
              <a:off x="8262165" y="761026"/>
              <a:ext cx="6758378" cy="4291570"/>
            </a:xfrm>
            <a:prstGeom prst="roundRect">
              <a:avLst>
                <a:gd fmla="val 10000" name="adj"/>
              </a:avLst>
            </a:prstGeom>
            <a:solidFill>
              <a:srgbClr val="1D497D"/>
            </a:solidFill>
            <a:ln cap="flat" cmpd="sng" w="25400">
              <a:solidFill>
                <a:srgbClr val="EEE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4"/>
            <p:cNvSpPr/>
            <p:nvPr/>
          </p:nvSpPr>
          <p:spPr>
            <a:xfrm>
              <a:off x="9013096" y="1474410"/>
              <a:ext cx="6758378" cy="4291570"/>
            </a:xfrm>
            <a:prstGeom prst="roundRect">
              <a:avLst>
                <a:gd fmla="val 10000" name="adj"/>
              </a:avLst>
            </a:prstGeom>
            <a:solidFill>
              <a:srgbClr val="EEECE0">
                <a:alpha val="89803"/>
              </a:srgbClr>
            </a:solidFill>
            <a:ln cap="flat" cmpd="sng" w="25400">
              <a:solidFill>
                <a:srgbClr val="1D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4"/>
            <p:cNvSpPr txBox="1"/>
            <p:nvPr/>
          </p:nvSpPr>
          <p:spPr>
            <a:xfrm>
              <a:off x="9138792" y="1600106"/>
              <a:ext cx="6506986" cy="4040178"/>
            </a:xfrm>
            <a:prstGeom prst="rect">
              <a:avLst/>
            </a:prstGeom>
            <a:noFill/>
            <a:ln>
              <a:noFill/>
            </a:ln>
          </p:spPr>
          <p:txBody>
            <a:bodyPr anchorCtr="0" anchor="ctr" bIns="91425" lIns="91425" spcFirstLastPara="1" rIns="91425" wrap="square" tIns="91425">
              <a:noAutofit/>
            </a:bodyPr>
            <a:lstStyle/>
            <a:p>
              <a:pPr indent="0" lvl="0" marL="0" marR="0" rtl="0" algn="ctr">
                <a:lnSpc>
                  <a:spcPct val="90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Algunos tipos de variables más comunes son:</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numéricas (Números Enteros)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punto flotante (Números Decimales)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caracteres (Símbolos o Caracteres)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de cadena de caracteres (Palabras y Textos)</a:t>
              </a:r>
              <a:endParaRPr/>
            </a:p>
            <a:p>
              <a:pPr indent="0" lvl="0" marL="0" marR="0" rtl="0" algn="l">
                <a:lnSpc>
                  <a:spcPct val="90000"/>
                </a:lnSpc>
                <a:spcBef>
                  <a:spcPts val="84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 Variables lógicas o booleanas (Verdadero o Falso)</a:t>
              </a:r>
              <a:endParaRPr b="0" i="0" sz="2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25"/>
          <p:cNvSpPr/>
          <p:nvPr/>
        </p:nvSpPr>
        <p:spPr>
          <a:xfrm>
            <a:off x="-1" y="0"/>
            <a:ext cx="182835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4" name="Google Shape;224;p25"/>
          <p:cNvSpPr txBox="1"/>
          <p:nvPr/>
        </p:nvSpPr>
        <p:spPr>
          <a:xfrm>
            <a:off x="1257300" y="835492"/>
            <a:ext cx="15773400" cy="170054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REPASO CONDICIONES Y SELECT CASE</a:t>
            </a:r>
            <a:endParaRPr b="0" i="0" sz="6000" u="none" cap="none" strike="noStrike">
              <a:solidFill>
                <a:schemeClr val="dk1"/>
              </a:solidFill>
              <a:latin typeface="Arial"/>
              <a:ea typeface="Arial"/>
              <a:cs typeface="Arial"/>
              <a:sym typeface="Arial"/>
            </a:endParaRPr>
          </a:p>
        </p:txBody>
      </p:sp>
      <p:grpSp>
        <p:nvGrpSpPr>
          <p:cNvPr id="225" name="Google Shape;225;p25"/>
          <p:cNvGrpSpPr/>
          <p:nvPr/>
        </p:nvGrpSpPr>
        <p:grpSpPr>
          <a:xfrm>
            <a:off x="1259225" y="3499463"/>
            <a:ext cx="15769549" cy="5004954"/>
            <a:chOff x="1925" y="761026"/>
            <a:chExt cx="15769549" cy="5004954"/>
          </a:xfrm>
        </p:grpSpPr>
        <p:sp>
          <p:nvSpPr>
            <p:cNvPr id="226" name="Google Shape;226;p25"/>
            <p:cNvSpPr/>
            <p:nvPr/>
          </p:nvSpPr>
          <p:spPr>
            <a:xfrm>
              <a:off x="192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5"/>
            <p:cNvSpPr/>
            <p:nvPr/>
          </p:nvSpPr>
          <p:spPr>
            <a:xfrm>
              <a:off x="75285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
            <p:cNvSpPr txBox="1"/>
            <p:nvPr/>
          </p:nvSpPr>
          <p:spPr>
            <a:xfrm>
              <a:off x="878552" y="1600106"/>
              <a:ext cx="6506986" cy="404017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Las estructuras condicionales nos permiten ejecutar una serie de instrucciones si cumple una determinada condición que nosotros le indiquemos.</a:t>
              </a:r>
              <a:endParaRPr/>
            </a:p>
            <a:p>
              <a:pPr indent="0" lvl="0" marL="0" marR="0" rtl="0" algn="ctr">
                <a:lnSpc>
                  <a:spcPct val="90000"/>
                </a:lnSpc>
                <a:spcBef>
                  <a:spcPts val="945"/>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Es importante recordar que la condición debe dar un resultado booleano, por lo que lo mas normal es usar operadores relacionales y condicionales.</a:t>
              </a:r>
              <a:endParaRPr b="0" i="0" sz="2700" u="none" cap="none" strike="noStrike">
                <a:solidFill>
                  <a:srgbClr val="000000"/>
                </a:solidFill>
                <a:latin typeface="Arial"/>
                <a:ea typeface="Arial"/>
                <a:cs typeface="Arial"/>
                <a:sym typeface="Arial"/>
              </a:endParaRPr>
            </a:p>
          </p:txBody>
        </p:sp>
        <p:sp>
          <p:nvSpPr>
            <p:cNvPr id="229" name="Google Shape;229;p25"/>
            <p:cNvSpPr/>
            <p:nvPr/>
          </p:nvSpPr>
          <p:spPr>
            <a:xfrm>
              <a:off x="8262165" y="761026"/>
              <a:ext cx="6758378" cy="429157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
            <p:cNvSpPr/>
            <p:nvPr/>
          </p:nvSpPr>
          <p:spPr>
            <a:xfrm>
              <a:off x="9013096" y="1474410"/>
              <a:ext cx="6758378" cy="4291570"/>
            </a:xfrm>
            <a:prstGeom prst="roundRect">
              <a:avLst>
                <a:gd fmla="val 10000" name="adj"/>
              </a:avLst>
            </a:prstGeom>
            <a:solidFill>
              <a:schemeClr val="lt1">
                <a:alpha val="89803"/>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
            <p:cNvSpPr txBox="1"/>
            <p:nvPr/>
          </p:nvSpPr>
          <p:spPr>
            <a:xfrm>
              <a:off x="9138792" y="1600106"/>
              <a:ext cx="6506986" cy="4040178"/>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Existen varios tipos de estructuras condicionales:</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IF-ELSE</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IF-ELSEIF</a:t>
              </a:r>
              <a:endParaRPr/>
            </a:p>
            <a:p>
              <a:pPr indent="0" lvl="0" marL="0" marR="0" rtl="0" algn="ctr">
                <a:lnSpc>
                  <a:spcPct val="90000"/>
                </a:lnSpc>
                <a:spcBef>
                  <a:spcPts val="945"/>
                </a:spcBef>
                <a:spcAft>
                  <a:spcPts val="0"/>
                </a:spcAft>
                <a:buClr>
                  <a:srgbClr val="000000"/>
                </a:buClr>
                <a:buSzPts val="2700"/>
                <a:buFont typeface="Arial"/>
                <a:buNone/>
              </a:pPr>
              <a:r>
                <a:rPr b="0" i="0" lang="en-US" sz="2700" u="none" cap="none" strike="noStrike">
                  <a:solidFill>
                    <a:srgbClr val="000000"/>
                  </a:solidFill>
                  <a:latin typeface="Arial"/>
                  <a:ea typeface="Arial"/>
                  <a:cs typeface="Arial"/>
                  <a:sym typeface="Arial"/>
                </a:rPr>
                <a:t>SELECT</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5" name="Shape 235"/>
        <p:cNvGrpSpPr/>
        <p:nvPr/>
      </p:nvGrpSpPr>
      <p:grpSpPr>
        <a:xfrm>
          <a:off x="0" y="0"/>
          <a:ext cx="0" cy="0"/>
          <a:chOff x="0" y="0"/>
          <a:chExt cx="0" cy="0"/>
        </a:xfrm>
      </p:grpSpPr>
      <p:sp>
        <p:nvSpPr>
          <p:cNvPr id="236" name="Google Shape;236;p26"/>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26"/>
          <p:cNvSpPr/>
          <p:nvPr/>
        </p:nvSpPr>
        <p:spPr>
          <a:xfrm flipH="1">
            <a:off x="12865080" y="5003800"/>
            <a:ext cx="4937760" cy="48006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8" name="Google Shape;238;p26"/>
          <p:cNvSpPr/>
          <p:nvPr/>
        </p:nvSpPr>
        <p:spPr>
          <a:xfrm>
            <a:off x="962661" y="934912"/>
            <a:ext cx="16357579" cy="8411823"/>
          </a:xfrm>
          <a:prstGeom prst="rect">
            <a:avLst/>
          </a:prstGeom>
          <a:noFill/>
          <a:ln cap="flat" cmpd="sng" w="19050">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9" name="Google Shape;239;p26"/>
          <p:cNvSpPr txBox="1"/>
          <p:nvPr/>
        </p:nvSpPr>
        <p:spPr>
          <a:xfrm>
            <a:off x="1685034" y="1782955"/>
            <a:ext cx="14976922" cy="239584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700" u="none" cap="none" strike="noStrike">
                <a:solidFill>
                  <a:schemeClr val="dk1"/>
                </a:solidFill>
                <a:latin typeface="Arial"/>
                <a:ea typeface="Arial"/>
                <a:cs typeface="Arial"/>
                <a:sym typeface="Arial"/>
              </a:rPr>
              <a:t>REPASO CONDICIONES Y SELECT CASE</a:t>
            </a:r>
            <a:endParaRPr b="0" i="0" sz="7700" u="none" cap="none" strike="noStrike">
              <a:solidFill>
                <a:schemeClr val="dk1"/>
              </a:solidFill>
              <a:latin typeface="Arial"/>
              <a:ea typeface="Arial"/>
              <a:cs typeface="Arial"/>
              <a:sym typeface="Arial"/>
            </a:endParaRPr>
          </a:p>
        </p:txBody>
      </p:sp>
      <p:pic>
        <p:nvPicPr>
          <p:cNvPr id="240" name="Google Shape;240;p26"/>
          <p:cNvPicPr preferRelativeResize="0"/>
          <p:nvPr/>
        </p:nvPicPr>
        <p:blipFill rotWithShape="1">
          <a:blip r:embed="rId3">
            <a:alphaModFix/>
          </a:blip>
          <a:srcRect b="0" l="0" r="0" t="0"/>
          <a:stretch/>
        </p:blipFill>
        <p:spPr>
          <a:xfrm>
            <a:off x="1685035" y="5539018"/>
            <a:ext cx="5300978" cy="2069241"/>
          </a:xfrm>
          <a:prstGeom prst="rect">
            <a:avLst/>
          </a:prstGeom>
          <a:noFill/>
          <a:ln>
            <a:noFill/>
          </a:ln>
        </p:spPr>
      </p:pic>
      <p:grpSp>
        <p:nvGrpSpPr>
          <p:cNvPr id="241" name="Google Shape;241;p26"/>
          <p:cNvGrpSpPr/>
          <p:nvPr/>
        </p:nvGrpSpPr>
        <p:grpSpPr>
          <a:xfrm>
            <a:off x="7882890" y="4497417"/>
            <a:ext cx="6357385" cy="4092296"/>
            <a:chOff x="0" y="0"/>
            <a:chExt cx="6357385" cy="4092296"/>
          </a:xfrm>
        </p:grpSpPr>
        <p:cxnSp>
          <p:nvCxnSpPr>
            <p:cNvPr id="242" name="Google Shape;242;p26"/>
            <p:cNvCxnSpPr/>
            <p:nvPr/>
          </p:nvCxnSpPr>
          <p:spPr>
            <a:xfrm>
              <a:off x="0" y="0"/>
              <a:ext cx="6357385" cy="0"/>
            </a:xfrm>
            <a:prstGeom prst="straightConnector1">
              <a:avLst/>
            </a:prstGeom>
            <a:solidFill>
              <a:srgbClr val="49ACC5"/>
            </a:solidFill>
            <a:ln cap="flat" cmpd="sng" w="25400">
              <a:solidFill>
                <a:srgbClr val="49ACC5"/>
              </a:solidFill>
              <a:prstDash val="solid"/>
              <a:round/>
              <a:headEnd len="sm" w="sm" type="none"/>
              <a:tailEnd len="sm" w="sm" type="none"/>
            </a:ln>
            <a:effectLst>
              <a:outerShdw blurRad="40000" rotWithShape="0" dir="5400000" dist="20000">
                <a:srgbClr val="000000">
                  <a:alpha val="37647"/>
                </a:srgbClr>
              </a:outerShdw>
            </a:effectLst>
          </p:spPr>
        </p:cxnSp>
        <p:sp>
          <p:nvSpPr>
            <p:cNvPr id="243" name="Google Shape;243;p26"/>
            <p:cNvSpPr/>
            <p:nvPr/>
          </p:nvSpPr>
          <p:spPr>
            <a:xfrm>
              <a:off x="0" y="0"/>
              <a:ext cx="6357385" cy="20461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6"/>
            <p:cNvSpPr txBox="1"/>
            <p:nvPr/>
          </p:nvSpPr>
          <p:spPr>
            <a:xfrm>
              <a:off x="0" y="0"/>
              <a:ext cx="6357385" cy="20461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If, indicamos una condición si esta es verdadera se ejecuta el código interno, sino “No” se ejecuta las instrucciones de dentro.</a:t>
              </a:r>
              <a:endParaRPr/>
            </a:p>
            <a:p>
              <a:pPr indent="0" lvl="0" marL="0" marR="0" rtl="0" algn="l">
                <a:lnSpc>
                  <a:spcPct val="90000"/>
                </a:lnSpc>
                <a:spcBef>
                  <a:spcPts val="735"/>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a:p>
              <a:pPr indent="0" lvl="0" marL="0" marR="0" rtl="0" algn="l">
                <a:lnSpc>
                  <a:spcPct val="90000"/>
                </a:lnSpc>
                <a:spcBef>
                  <a:spcPts val="735"/>
                </a:spcBef>
                <a:spcAft>
                  <a:spcPts val="0"/>
                </a:spcAft>
                <a:buClr>
                  <a:srgbClr val="000000"/>
                </a:buClr>
                <a:buSzPts val="2100"/>
                <a:buFont typeface="Arial"/>
                <a:buNone/>
              </a:pPr>
              <a:r>
                <a:rPr b="0" i="0" lang="en-US" sz="2100" u="none" cap="none" strike="noStrike">
                  <a:solidFill>
                    <a:srgbClr val="000000"/>
                  </a:solidFill>
                  <a:latin typeface="Arial"/>
                  <a:ea typeface="Arial"/>
                  <a:cs typeface="Arial"/>
                  <a:sym typeface="Arial"/>
                </a:rPr>
                <a:t>Se suele leer como &lt;&lt; Si se cumple esta condición haz esto &gt;&gt;</a:t>
              </a:r>
              <a:endParaRPr b="0" i="0" sz="2100" u="none" cap="none" strike="noStrike">
                <a:solidFill>
                  <a:srgbClr val="000000"/>
                </a:solidFill>
                <a:latin typeface="Arial"/>
                <a:ea typeface="Arial"/>
                <a:cs typeface="Arial"/>
                <a:sym typeface="Arial"/>
              </a:endParaRPr>
            </a:p>
          </p:txBody>
        </p:sp>
        <p:cxnSp>
          <p:nvCxnSpPr>
            <p:cNvPr id="245" name="Google Shape;245;p26"/>
            <p:cNvCxnSpPr/>
            <p:nvPr/>
          </p:nvCxnSpPr>
          <p:spPr>
            <a:xfrm>
              <a:off x="0" y="2046148"/>
              <a:ext cx="6357385" cy="0"/>
            </a:xfrm>
            <a:prstGeom prst="straightConnector1">
              <a:avLst/>
            </a:prstGeom>
            <a:solidFill>
              <a:srgbClr val="49ACC5"/>
            </a:solidFill>
            <a:ln cap="flat" cmpd="sng" w="25400">
              <a:solidFill>
                <a:srgbClr val="49ACC5"/>
              </a:solidFill>
              <a:prstDash val="solid"/>
              <a:round/>
              <a:headEnd len="sm" w="sm" type="none"/>
              <a:tailEnd len="sm" w="sm" type="none"/>
            </a:ln>
            <a:effectLst>
              <a:outerShdw blurRad="40000" rotWithShape="0" dir="5400000" dist="20000">
                <a:srgbClr val="000000">
                  <a:alpha val="37647"/>
                </a:srgbClr>
              </a:outerShdw>
            </a:effectLst>
          </p:spPr>
        </p:cxnSp>
        <p:sp>
          <p:nvSpPr>
            <p:cNvPr id="246" name="Google Shape;246;p26"/>
            <p:cNvSpPr/>
            <p:nvPr/>
          </p:nvSpPr>
          <p:spPr>
            <a:xfrm>
              <a:off x="0" y="2046148"/>
              <a:ext cx="6357385" cy="2046148"/>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
            <p:cNvSpPr txBox="1"/>
            <p:nvPr/>
          </p:nvSpPr>
          <p:spPr>
            <a:xfrm>
              <a:off x="0" y="2046148"/>
              <a:ext cx="6357385" cy="20461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27"/>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3" name="Google Shape;253;p27"/>
          <p:cNvSpPr/>
          <p:nvPr/>
        </p:nvSpPr>
        <p:spPr>
          <a:xfrm flipH="1">
            <a:off x="12865080" y="5003800"/>
            <a:ext cx="4937760" cy="48006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4" name="Google Shape;254;p27"/>
          <p:cNvSpPr/>
          <p:nvPr/>
        </p:nvSpPr>
        <p:spPr>
          <a:xfrm>
            <a:off x="962661" y="934912"/>
            <a:ext cx="16357579" cy="8411823"/>
          </a:xfrm>
          <a:prstGeom prst="rect">
            <a:avLst/>
          </a:prstGeom>
          <a:noFill/>
          <a:ln cap="flat" cmpd="sng" w="19050">
            <a:solidFill>
              <a:srgbClr val="3F3F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5" name="Google Shape;255;p27"/>
          <p:cNvSpPr txBox="1"/>
          <p:nvPr/>
        </p:nvSpPr>
        <p:spPr>
          <a:xfrm>
            <a:off x="1685034" y="1782955"/>
            <a:ext cx="14976922" cy="2395842"/>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600"/>
              </a:spcAft>
              <a:buNone/>
            </a:pPr>
            <a:r>
              <a:rPr b="0" i="0" lang="en-US" sz="7700" u="none" cap="none" strike="noStrike">
                <a:solidFill>
                  <a:schemeClr val="dk1"/>
                </a:solidFill>
                <a:latin typeface="Arial"/>
                <a:ea typeface="Arial"/>
                <a:cs typeface="Arial"/>
                <a:sym typeface="Arial"/>
              </a:rPr>
              <a:t>REPASO CONDICIONES Y SELECT CASE</a:t>
            </a:r>
            <a:endParaRPr b="0" i="0" sz="7700" u="none" cap="none" strike="noStrike">
              <a:solidFill>
                <a:schemeClr val="dk1"/>
              </a:solidFill>
              <a:latin typeface="Arial"/>
              <a:ea typeface="Arial"/>
              <a:cs typeface="Arial"/>
              <a:sym typeface="Arial"/>
            </a:endParaRPr>
          </a:p>
        </p:txBody>
      </p:sp>
      <p:pic>
        <p:nvPicPr>
          <p:cNvPr descr="A computer screen shot of white text&#10;&#10;AI-generated content may be incorrect." id="256" name="Google Shape;256;p27"/>
          <p:cNvPicPr preferRelativeResize="0"/>
          <p:nvPr/>
        </p:nvPicPr>
        <p:blipFill rotWithShape="1">
          <a:blip r:embed="rId3">
            <a:alphaModFix/>
          </a:blip>
          <a:srcRect b="0" l="0" r="0" t="0"/>
          <a:stretch/>
        </p:blipFill>
        <p:spPr>
          <a:xfrm>
            <a:off x="1685035" y="5306013"/>
            <a:ext cx="5300978" cy="2535250"/>
          </a:xfrm>
          <a:prstGeom prst="rect">
            <a:avLst/>
          </a:prstGeom>
          <a:noFill/>
          <a:ln>
            <a:noFill/>
          </a:ln>
        </p:spPr>
      </p:pic>
      <p:grpSp>
        <p:nvGrpSpPr>
          <p:cNvPr id="257" name="Google Shape;257;p27"/>
          <p:cNvGrpSpPr/>
          <p:nvPr/>
        </p:nvGrpSpPr>
        <p:grpSpPr>
          <a:xfrm>
            <a:off x="7882890" y="4497417"/>
            <a:ext cx="6357385" cy="4092297"/>
            <a:chOff x="0" y="0"/>
            <a:chExt cx="6357385" cy="4092297"/>
          </a:xfrm>
        </p:grpSpPr>
        <p:cxnSp>
          <p:nvCxnSpPr>
            <p:cNvPr id="258" name="Google Shape;258;p27"/>
            <p:cNvCxnSpPr/>
            <p:nvPr/>
          </p:nvCxnSpPr>
          <p:spPr>
            <a:xfrm>
              <a:off x="0" y="0"/>
              <a:ext cx="6357385" cy="0"/>
            </a:xfrm>
            <a:prstGeom prst="straightConnector1">
              <a:avLst/>
            </a:prstGeom>
            <a:gradFill>
              <a:gsLst>
                <a:gs pos="0">
                  <a:srgbClr val="D03F3B"/>
                </a:gs>
                <a:gs pos="100000">
                  <a:srgbClr val="FF9995"/>
                </a:gs>
              </a:gsLst>
              <a:lin ang="16200000" scaled="0"/>
            </a:gradFill>
            <a:ln cap="flat" cmpd="sng" w="9525">
              <a:solidFill>
                <a:srgbClr val="BF504D"/>
              </a:solidFill>
              <a:prstDash val="solid"/>
              <a:round/>
              <a:headEnd len="sm" w="sm" type="none"/>
              <a:tailEnd len="sm" w="sm" type="none"/>
            </a:ln>
            <a:effectLst>
              <a:outerShdw blurRad="40000" rotWithShape="0" dir="5400000" dist="23000">
                <a:srgbClr val="000000">
                  <a:alpha val="34901"/>
                </a:srgbClr>
              </a:outerShdw>
            </a:effectLst>
          </p:spPr>
        </p:cxnSp>
        <p:sp>
          <p:nvSpPr>
            <p:cNvPr id="259" name="Google Shape;259;p27"/>
            <p:cNvSpPr/>
            <p:nvPr/>
          </p:nvSpPr>
          <p:spPr>
            <a:xfrm>
              <a:off x="0" y="0"/>
              <a:ext cx="6357385" cy="409229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txBox="1"/>
            <p:nvPr/>
          </p:nvSpPr>
          <p:spPr>
            <a:xfrm>
              <a:off x="0" y="0"/>
              <a:ext cx="6357385" cy="4092297"/>
            </a:xfrm>
            <a:prstGeom prst="rect">
              <a:avLst/>
            </a:prstGeom>
            <a:noFill/>
            <a:ln>
              <a:noFill/>
            </a:ln>
          </p:spPr>
          <p:txBody>
            <a:bodyPr anchorCtr="0" anchor="t" bIns="125725" lIns="125725" spcFirstLastPara="1" rIns="125725" wrap="square" tIns="125725">
              <a:noAutofit/>
            </a:bodyPr>
            <a:lstStyle/>
            <a:p>
              <a:pPr indent="0" lvl="0" marL="0" marR="0" rtl="0" algn="l">
                <a:lnSpc>
                  <a:spcPct val="90000"/>
                </a:lnSpc>
                <a:spcBef>
                  <a:spcPts val="0"/>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If-Else, esto sirve para que la condición del if no es verdadera, ejecute otras instrucciones que estarán dentro del else.</a:t>
              </a:r>
              <a:endParaRPr/>
            </a:p>
            <a:p>
              <a:pPr indent="0" lvl="0" marL="0" marR="0" rtl="0" algn="l">
                <a:lnSpc>
                  <a:spcPct val="90000"/>
                </a:lnSpc>
                <a:spcBef>
                  <a:spcPts val="1155"/>
                </a:spcBef>
                <a:spcAft>
                  <a:spcPts val="0"/>
                </a:spcAft>
                <a:buClr>
                  <a:srgbClr val="000000"/>
                </a:buClr>
                <a:buSzPts val="3300"/>
                <a:buFont typeface="Arial"/>
                <a:buNone/>
              </a:pPr>
              <a:r>
                <a:t/>
              </a:r>
              <a:endParaRPr b="0" i="0" sz="3300" u="none" cap="none" strike="noStrike">
                <a:solidFill>
                  <a:srgbClr val="000000"/>
                </a:solidFill>
                <a:latin typeface="Arial"/>
                <a:ea typeface="Arial"/>
                <a:cs typeface="Arial"/>
                <a:sym typeface="Arial"/>
              </a:endParaRPr>
            </a:p>
            <a:p>
              <a:pPr indent="0" lvl="0" marL="0" marR="0" rtl="0" algn="l">
                <a:lnSpc>
                  <a:spcPct val="90000"/>
                </a:lnSpc>
                <a:spcBef>
                  <a:spcPts val="1155"/>
                </a:spcBef>
                <a:spcAft>
                  <a:spcPts val="0"/>
                </a:spcAft>
                <a:buClr>
                  <a:srgbClr val="000000"/>
                </a:buClr>
                <a:buSzPts val="3300"/>
                <a:buFont typeface="Arial"/>
                <a:buNone/>
              </a:pPr>
              <a:r>
                <a:rPr b="0" i="0" lang="en-US" sz="3300" u="none" cap="none" strike="noStrike">
                  <a:solidFill>
                    <a:srgbClr val="000000"/>
                  </a:solidFill>
                  <a:latin typeface="Arial"/>
                  <a:ea typeface="Arial"/>
                  <a:cs typeface="Arial"/>
                  <a:sym typeface="Arial"/>
                </a:rPr>
                <a:t>Se suele leer como &lt;&lt; Si se cumple esta condición haz esto y sino haz esto &gt;&gt;</a:t>
              </a:r>
              <a:endParaRPr b="0" i="0" sz="33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28"/>
          <p:cNvSpPr/>
          <p:nvPr/>
        </p:nvSpPr>
        <p:spPr>
          <a:xfrm>
            <a:off x="0" y="0"/>
            <a:ext cx="18287998" cy="102860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6" name="Google Shape;266;p28"/>
          <p:cNvSpPr txBox="1"/>
          <p:nvPr/>
        </p:nvSpPr>
        <p:spPr>
          <a:xfrm>
            <a:off x="1193292" y="580395"/>
            <a:ext cx="15212698" cy="195083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100" u="none" cap="none" strike="noStrike">
                <a:solidFill>
                  <a:schemeClr val="dk1"/>
                </a:solidFill>
                <a:latin typeface="Arial"/>
                <a:ea typeface="Arial"/>
                <a:cs typeface="Arial"/>
                <a:sym typeface="Arial"/>
              </a:rPr>
              <a:t>REPASO CONDICIONES Y SELECT CASE</a:t>
            </a:r>
            <a:endParaRPr b="0" i="0" sz="6100" u="none" cap="none" strike="noStrike">
              <a:solidFill>
                <a:schemeClr val="dk1"/>
              </a:solidFill>
              <a:latin typeface="Arial"/>
              <a:ea typeface="Arial"/>
              <a:cs typeface="Arial"/>
              <a:sym typeface="Arial"/>
            </a:endParaRPr>
          </a:p>
        </p:txBody>
      </p:sp>
      <p:sp>
        <p:nvSpPr>
          <p:cNvPr id="267" name="Google Shape;267;p28"/>
          <p:cNvSpPr/>
          <p:nvPr/>
        </p:nvSpPr>
        <p:spPr>
          <a:xfrm rot="10800000">
            <a:off x="-3" y="2998267"/>
            <a:ext cx="17181892" cy="117254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8" name="Google Shape;268;p28"/>
          <p:cNvSpPr/>
          <p:nvPr/>
        </p:nvSpPr>
        <p:spPr>
          <a:xfrm>
            <a:off x="0" y="3304618"/>
            <a:ext cx="17075043" cy="64019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computer program&#10;&#10;AI-generated content may be incorrect." id="269" name="Google Shape;269;p28">
            <a:hlinkClick r:id="rId3"/>
          </p:cNvPr>
          <p:cNvPicPr preferRelativeResize="0"/>
          <p:nvPr/>
        </p:nvPicPr>
        <p:blipFill rotWithShape="1">
          <a:blip r:embed="rId4">
            <a:alphaModFix/>
          </a:blip>
          <a:srcRect b="0" l="0" r="0" t="0"/>
          <a:stretch/>
        </p:blipFill>
        <p:spPr>
          <a:xfrm>
            <a:off x="952942" y="4960075"/>
            <a:ext cx="7725416" cy="3225360"/>
          </a:xfrm>
          <a:prstGeom prst="rect">
            <a:avLst/>
          </a:prstGeom>
          <a:noFill/>
          <a:ln>
            <a:noFill/>
          </a:ln>
        </p:spPr>
      </p:pic>
      <p:sp>
        <p:nvSpPr>
          <p:cNvPr id="270" name="Google Shape;270;p28"/>
          <p:cNvSpPr/>
          <p:nvPr/>
        </p:nvSpPr>
        <p:spPr>
          <a:xfrm rot="5400000">
            <a:off x="16842060" y="3469541"/>
            <a:ext cx="1172550" cy="22857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271" name="Google Shape;271;p28"/>
          <p:cNvGrpSpPr/>
          <p:nvPr/>
        </p:nvGrpSpPr>
        <p:grpSpPr>
          <a:xfrm>
            <a:off x="9609643" y="3899263"/>
            <a:ext cx="6796347" cy="5459175"/>
            <a:chOff x="0" y="0"/>
            <a:chExt cx="6796347" cy="5459175"/>
          </a:xfrm>
        </p:grpSpPr>
        <p:cxnSp>
          <p:nvCxnSpPr>
            <p:cNvPr id="272" name="Google Shape;272;p28"/>
            <p:cNvCxnSpPr/>
            <p:nvPr/>
          </p:nvCxnSpPr>
          <p:spPr>
            <a:xfrm>
              <a:off x="0" y="0"/>
              <a:ext cx="6796347" cy="0"/>
            </a:xfrm>
            <a:prstGeom prst="straightConnector1">
              <a:avLst/>
            </a:prstGeom>
            <a:gradFill>
              <a:gsLst>
                <a:gs pos="0">
                  <a:srgbClr val="0E478B"/>
                </a:gs>
                <a:gs pos="100000">
                  <a:srgbClr val="A7B5DF"/>
                </a:gs>
              </a:gsLst>
              <a:lin ang="16200000" scaled="0"/>
            </a:gradFill>
            <a:ln cap="flat" cmpd="sng" w="9525">
              <a:solidFill>
                <a:srgbClr val="1D497D"/>
              </a:solidFill>
              <a:prstDash val="solid"/>
              <a:round/>
              <a:headEnd len="sm" w="sm" type="none"/>
              <a:tailEnd len="sm" w="sm" type="none"/>
            </a:ln>
            <a:effectLst>
              <a:outerShdw blurRad="40000" rotWithShape="0" dir="5400000" dist="23000">
                <a:srgbClr val="000000">
                  <a:alpha val="34901"/>
                </a:srgbClr>
              </a:outerShdw>
            </a:effectLst>
          </p:spPr>
        </p:cxnSp>
        <p:sp>
          <p:nvSpPr>
            <p:cNvPr id="273" name="Google Shape;273;p28"/>
            <p:cNvSpPr/>
            <p:nvPr/>
          </p:nvSpPr>
          <p:spPr>
            <a:xfrm>
              <a:off x="0" y="0"/>
              <a:ext cx="6796347" cy="545917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8"/>
            <p:cNvSpPr txBox="1"/>
            <p:nvPr/>
          </p:nvSpPr>
          <p:spPr>
            <a:xfrm>
              <a:off x="0" y="0"/>
              <a:ext cx="6796347" cy="5459175"/>
            </a:xfrm>
            <a:prstGeom prst="rect">
              <a:avLst/>
            </a:prstGeom>
            <a:noFill/>
            <a:ln>
              <a:noFill/>
            </a:ln>
          </p:spPr>
          <p:txBody>
            <a:bodyPr anchorCtr="0" anchor="t" bIns="137150" lIns="137150" spcFirstLastPara="1" rIns="137150" wrap="square" tIns="137150">
              <a:noAutofit/>
            </a:bodyPr>
            <a:lstStyle/>
            <a:p>
              <a:pPr indent="0" lvl="0" marL="0" marR="0" rtl="0" algn="l">
                <a:lnSpc>
                  <a:spcPct val="90000"/>
                </a:lnSpc>
                <a:spcBef>
                  <a:spcPts val="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If-ElseIF, esta instrucción nos permite, que si no se cumple la condición podamos indicar otra condición para hacerlo aún </a:t>
              </a:r>
              <a:r>
                <a:rPr lang="en-US" sz="3600"/>
                <a:t>más</a:t>
              </a:r>
              <a:r>
                <a:rPr b="0" i="0" lang="en-US" sz="3600" u="none" cap="none" strike="noStrike">
                  <a:solidFill>
                    <a:srgbClr val="000000"/>
                  </a:solidFill>
                  <a:latin typeface="Arial"/>
                  <a:ea typeface="Arial"/>
                  <a:cs typeface="Arial"/>
                  <a:sym typeface="Arial"/>
                </a:rPr>
                <a:t> </a:t>
              </a:r>
              <a:r>
                <a:rPr lang="en-US" sz="3600"/>
                <a:t>específico</a:t>
              </a:r>
              <a:r>
                <a:rPr b="0" i="0" lang="en-US" sz="3600" u="none" cap="none" strike="noStrike">
                  <a:solidFill>
                    <a:srgbClr val="000000"/>
                  </a:solidFill>
                  <a:latin typeface="Arial"/>
                  <a:ea typeface="Arial"/>
                  <a:cs typeface="Arial"/>
                  <a:sym typeface="Arial"/>
                </a:rPr>
                <a:t>.</a:t>
              </a:r>
              <a:endParaRPr/>
            </a:p>
            <a:p>
              <a:pPr indent="0" lvl="0" marL="0" marR="0" rtl="0" algn="l">
                <a:lnSpc>
                  <a:spcPct val="90000"/>
                </a:lnSpc>
                <a:spcBef>
                  <a:spcPts val="1260"/>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a:p>
              <a:pPr indent="0" lvl="0" marL="0" marR="0" rtl="0" algn="l">
                <a:lnSpc>
                  <a:spcPct val="90000"/>
                </a:lnSpc>
                <a:spcBef>
                  <a:spcPts val="1260"/>
                </a:spcBef>
                <a:spcAft>
                  <a:spcPts val="0"/>
                </a:spcAft>
                <a:buClr>
                  <a:srgbClr val="000000"/>
                </a:buClr>
                <a:buSzPts val="3600"/>
                <a:buFont typeface="Arial"/>
                <a:buNone/>
              </a:pPr>
              <a:r>
                <a:rPr b="0" i="0" lang="en-US" sz="3600" u="none" cap="none" strike="noStrike">
                  <a:solidFill>
                    <a:srgbClr val="000000"/>
                  </a:solidFill>
                  <a:latin typeface="Arial"/>
                  <a:ea typeface="Arial"/>
                  <a:cs typeface="Arial"/>
                  <a:sym typeface="Arial"/>
                </a:rPr>
                <a:t>Se suele leer como &lt;&lt; Si se cumple esta condición haz esto y sino si cumple esta condición haz esto &gt;&gt;</a:t>
              </a:r>
              <a:endParaRPr b="0" i="0" sz="36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29"/>
          <p:cNvSpPr/>
          <p:nvPr/>
        </p:nvSpPr>
        <p:spPr>
          <a:xfrm>
            <a:off x="0" y="0"/>
            <a:ext cx="18287998" cy="1028604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0" name="Google Shape;280;p29"/>
          <p:cNvSpPr txBox="1"/>
          <p:nvPr/>
        </p:nvSpPr>
        <p:spPr>
          <a:xfrm>
            <a:off x="1193292" y="580395"/>
            <a:ext cx="15212698" cy="195083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100" u="none" cap="none" strike="noStrike">
                <a:solidFill>
                  <a:schemeClr val="dk1"/>
                </a:solidFill>
                <a:latin typeface="Arial"/>
                <a:ea typeface="Arial"/>
                <a:cs typeface="Arial"/>
                <a:sym typeface="Arial"/>
              </a:rPr>
              <a:t>REPASO CONDICIONES Y SELECT CASE</a:t>
            </a:r>
            <a:endParaRPr b="0" i="0" sz="6100" u="none" cap="none" strike="noStrike">
              <a:solidFill>
                <a:schemeClr val="dk1"/>
              </a:solidFill>
              <a:latin typeface="Arial"/>
              <a:ea typeface="Arial"/>
              <a:cs typeface="Arial"/>
              <a:sym typeface="Arial"/>
            </a:endParaRPr>
          </a:p>
        </p:txBody>
      </p:sp>
      <p:sp>
        <p:nvSpPr>
          <p:cNvPr id="281" name="Google Shape;281;p29"/>
          <p:cNvSpPr/>
          <p:nvPr/>
        </p:nvSpPr>
        <p:spPr>
          <a:xfrm rot="10800000">
            <a:off x="-3" y="2998267"/>
            <a:ext cx="17181892" cy="117254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2" name="Google Shape;282;p29"/>
          <p:cNvSpPr/>
          <p:nvPr/>
        </p:nvSpPr>
        <p:spPr>
          <a:xfrm>
            <a:off x="0" y="3304618"/>
            <a:ext cx="17075043" cy="64019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A screenshot of a computer&#10;&#10;Description automatically generated" id="283" name="Google Shape;283;p29"/>
          <p:cNvPicPr preferRelativeResize="0"/>
          <p:nvPr/>
        </p:nvPicPr>
        <p:blipFill rotWithShape="1">
          <a:blip r:embed="rId3">
            <a:alphaModFix/>
          </a:blip>
          <a:srcRect b="0" l="0" r="0" t="0"/>
          <a:stretch/>
        </p:blipFill>
        <p:spPr>
          <a:xfrm>
            <a:off x="952942" y="5066299"/>
            <a:ext cx="7725416" cy="3012911"/>
          </a:xfrm>
          <a:prstGeom prst="rect">
            <a:avLst/>
          </a:prstGeom>
          <a:noFill/>
          <a:ln>
            <a:noFill/>
          </a:ln>
        </p:spPr>
      </p:pic>
      <p:sp>
        <p:nvSpPr>
          <p:cNvPr id="284" name="Google Shape;284;p29"/>
          <p:cNvSpPr/>
          <p:nvPr/>
        </p:nvSpPr>
        <p:spPr>
          <a:xfrm rot="5400000">
            <a:off x="16842060" y="3469541"/>
            <a:ext cx="1172550" cy="228573"/>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285" name="Google Shape;285;p29"/>
          <p:cNvGrpSpPr/>
          <p:nvPr/>
        </p:nvGrpSpPr>
        <p:grpSpPr>
          <a:xfrm>
            <a:off x="9609643" y="3899263"/>
            <a:ext cx="6796347" cy="5459175"/>
            <a:chOff x="0" y="0"/>
            <a:chExt cx="6796347" cy="5459175"/>
          </a:xfrm>
        </p:grpSpPr>
        <p:cxnSp>
          <p:nvCxnSpPr>
            <p:cNvPr id="286" name="Google Shape;286;p29"/>
            <p:cNvCxnSpPr/>
            <p:nvPr/>
          </p:nvCxnSpPr>
          <p:spPr>
            <a:xfrm>
              <a:off x="0" y="0"/>
              <a:ext cx="6796347" cy="0"/>
            </a:xfrm>
            <a:prstGeom prst="straightConnector1">
              <a:avLst/>
            </a:prstGeom>
            <a:solidFill>
              <a:srgbClr val="49ACC5"/>
            </a:solidFill>
            <a:ln cap="flat" cmpd="sng" w="25400">
              <a:solidFill>
                <a:srgbClr val="49ACC5"/>
              </a:solidFill>
              <a:prstDash val="solid"/>
              <a:round/>
              <a:headEnd len="sm" w="sm" type="none"/>
              <a:tailEnd len="sm" w="sm" type="none"/>
            </a:ln>
          </p:spPr>
        </p:cxnSp>
        <p:sp>
          <p:nvSpPr>
            <p:cNvPr id="287" name="Google Shape;287;p29"/>
            <p:cNvSpPr/>
            <p:nvPr/>
          </p:nvSpPr>
          <p:spPr>
            <a:xfrm>
              <a:off x="0" y="0"/>
              <a:ext cx="6796347" cy="545917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9"/>
            <p:cNvSpPr txBox="1"/>
            <p:nvPr/>
          </p:nvSpPr>
          <p:spPr>
            <a:xfrm>
              <a:off x="0" y="0"/>
              <a:ext cx="6796347" cy="5459175"/>
            </a:xfrm>
            <a:prstGeom prst="rect">
              <a:avLst/>
            </a:prstGeom>
            <a:noFill/>
            <a:ln>
              <a:noFill/>
            </a:ln>
          </p:spPr>
          <p:txBody>
            <a:bodyPr anchorCtr="0" anchor="t" bIns="129525" lIns="129525" spcFirstLastPara="1" rIns="129525" wrap="square" tIns="129525">
              <a:noAutofit/>
            </a:bodyPr>
            <a:lstStyle/>
            <a:p>
              <a:pPr indent="0" lvl="0" marL="0" marR="0" rtl="0" algn="l">
                <a:lnSpc>
                  <a:spcPct val="90000"/>
                </a:lnSpc>
                <a:spcBef>
                  <a:spcPts val="0"/>
                </a:spcBef>
                <a:spcAft>
                  <a:spcPts val="0"/>
                </a:spcAft>
                <a:buClr>
                  <a:srgbClr val="000000"/>
                </a:buClr>
                <a:buSzPts val="3400"/>
                <a:buFont typeface="Arial"/>
                <a:buNone/>
              </a:pPr>
              <a:r>
                <a:rPr b="0" i="0" lang="en-US" sz="3400" u="none" cap="none" strike="noStrike">
                  <a:solidFill>
                    <a:srgbClr val="000000"/>
                  </a:solidFill>
                  <a:latin typeface="Arial"/>
                  <a:ea typeface="Arial"/>
                  <a:cs typeface="Arial"/>
                  <a:sym typeface="Arial"/>
                </a:rPr>
                <a:t>Select, esta estructura condicional de selección múltiple, le damos un valor (puede ser una variable) y una lista de casos y si cumple alguno de los casos ejecuta las instrucciones asociadas a ella, en caso de que ninguna sea podemos indicarle que hace por defecto, normalmente se usa para indicar de u error con un mensaje.</a:t>
              </a:r>
              <a:endParaRPr b="0" i="0" sz="3400" u="none" cap="none" strike="noStrike">
                <a:solidFill>
                  <a:srgbClr val="000000"/>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30"/>
          <p:cNvSpPr/>
          <p:nvPr/>
        </p:nvSpPr>
        <p:spPr>
          <a:xfrm>
            <a:off x="0" y="0"/>
            <a:ext cx="18288000"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4" name="Google Shape;294;p30"/>
          <p:cNvSpPr txBox="1"/>
          <p:nvPr/>
        </p:nvSpPr>
        <p:spPr>
          <a:xfrm>
            <a:off x="538758" y="1717153"/>
            <a:ext cx="5586325" cy="434464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000" u="none" cap="none" strike="noStrike">
                <a:solidFill>
                  <a:schemeClr val="dk1"/>
                </a:solidFill>
                <a:latin typeface="Arial"/>
                <a:ea typeface="Arial"/>
                <a:cs typeface="Arial"/>
                <a:sym typeface="Arial"/>
              </a:rPr>
              <a:t>REPASO CONDICIONES Y SELECT CASE</a:t>
            </a:r>
            <a:endParaRPr b="0" i="0" sz="6000" u="none" cap="none" strike="noStrike">
              <a:solidFill>
                <a:schemeClr val="dk1"/>
              </a:solidFill>
              <a:latin typeface="Arial"/>
              <a:ea typeface="Arial"/>
              <a:cs typeface="Arial"/>
              <a:sym typeface="Arial"/>
            </a:endParaRPr>
          </a:p>
        </p:txBody>
      </p:sp>
      <p:sp>
        <p:nvSpPr>
          <p:cNvPr id="295" name="Google Shape;295;p30"/>
          <p:cNvSpPr/>
          <p:nvPr/>
        </p:nvSpPr>
        <p:spPr>
          <a:xfrm rot="5400000">
            <a:off x="1032374" y="520187"/>
            <a:ext cx="219456" cy="10561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screenshot of a computer program&#10;&#10;AI-generated content may be incorrect." id="296" name="Google Shape;296;p30"/>
          <p:cNvPicPr preferRelativeResize="0"/>
          <p:nvPr/>
        </p:nvPicPr>
        <p:blipFill rotWithShape="1">
          <a:blip r:embed="rId3">
            <a:alphaModFix/>
          </a:blip>
          <a:srcRect b="0" l="0" r="0" t="0"/>
          <a:stretch/>
        </p:blipFill>
        <p:spPr>
          <a:xfrm>
            <a:off x="6789226" y="1070932"/>
            <a:ext cx="5513832" cy="3384728"/>
          </a:xfrm>
          <a:prstGeom prst="rect">
            <a:avLst/>
          </a:prstGeom>
          <a:noFill/>
          <a:ln>
            <a:noFill/>
          </a:ln>
        </p:spPr>
      </p:pic>
      <p:pic>
        <p:nvPicPr>
          <p:cNvPr descr="A computer screen shot of a code&#10;&#10;AI-generated content may be incorrect." id="297" name="Google Shape;297;p30"/>
          <p:cNvPicPr preferRelativeResize="0"/>
          <p:nvPr/>
        </p:nvPicPr>
        <p:blipFill rotWithShape="1">
          <a:blip r:embed="rId4">
            <a:alphaModFix/>
          </a:blip>
          <a:srcRect b="0" l="0" r="0" t="0"/>
          <a:stretch/>
        </p:blipFill>
        <p:spPr>
          <a:xfrm>
            <a:off x="12467844" y="1181269"/>
            <a:ext cx="5513832" cy="3164055"/>
          </a:xfrm>
          <a:prstGeom prst="rect">
            <a:avLst/>
          </a:prstGeom>
          <a:noFill/>
          <a:ln>
            <a:noFill/>
          </a:ln>
        </p:spPr>
      </p:pic>
      <p:sp>
        <p:nvSpPr>
          <p:cNvPr id="298" name="Google Shape;298;p30"/>
          <p:cNvSpPr/>
          <p:nvPr/>
        </p:nvSpPr>
        <p:spPr>
          <a:xfrm>
            <a:off x="538756" y="6266622"/>
            <a:ext cx="5560289" cy="27432"/>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pic>
        <p:nvPicPr>
          <p:cNvPr descr="A screenshot of a computer program&#10;&#10;AI-generated content may be incorrect." id="299" name="Google Shape;299;p30"/>
          <p:cNvPicPr preferRelativeResize="0"/>
          <p:nvPr/>
        </p:nvPicPr>
        <p:blipFill rotWithShape="1">
          <a:blip r:embed="rId5">
            <a:alphaModFix/>
          </a:blip>
          <a:srcRect b="0" l="0" r="0" t="0"/>
          <a:stretch/>
        </p:blipFill>
        <p:spPr>
          <a:xfrm>
            <a:off x="6789226" y="6149651"/>
            <a:ext cx="5513832" cy="2359682"/>
          </a:xfrm>
          <a:prstGeom prst="rect">
            <a:avLst/>
          </a:prstGeom>
          <a:noFill/>
          <a:ln>
            <a:noFill/>
          </a:ln>
        </p:spPr>
      </p:pic>
      <p:pic>
        <p:nvPicPr>
          <p:cNvPr descr="A screenshot of a computer program&#10;&#10;AI-generated content may be incorrect." id="300" name="Google Shape;300;p30"/>
          <p:cNvPicPr preferRelativeResize="0"/>
          <p:nvPr/>
        </p:nvPicPr>
        <p:blipFill rotWithShape="1">
          <a:blip r:embed="rId6">
            <a:alphaModFix/>
          </a:blip>
          <a:srcRect b="0" l="0" r="0" t="0"/>
          <a:stretch/>
        </p:blipFill>
        <p:spPr>
          <a:xfrm>
            <a:off x="12465499" y="5948135"/>
            <a:ext cx="5513832" cy="27627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sp>
        <p:nvSpPr>
          <p:cNvPr id="305" name="Google Shape;305;p31"/>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6" name="Google Shape;306;p31"/>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000" u="none" cap="none" strike="noStrike">
                <a:solidFill>
                  <a:srgbClr val="FFFFFF"/>
                </a:solidFill>
                <a:latin typeface="Arial"/>
                <a:ea typeface="Arial"/>
                <a:cs typeface="Arial"/>
                <a:sym typeface="Arial"/>
              </a:rPr>
              <a:t>CONTROLES BASICOS DE VISUAL BASIC .NET</a:t>
            </a:r>
            <a:endParaRPr b="0" i="0" sz="5000" u="none" cap="none" strike="noStrike">
              <a:solidFill>
                <a:srgbClr val="FFFFFF"/>
              </a:solidFill>
              <a:latin typeface="Arial"/>
              <a:ea typeface="Arial"/>
              <a:cs typeface="Arial"/>
              <a:sym typeface="Arial"/>
            </a:endParaRPr>
          </a:p>
        </p:txBody>
      </p:sp>
      <p:pic>
        <p:nvPicPr>
          <p:cNvPr descr="A screenshot of a computer&#10;&#10;Description automatically generated" id="307" name="Google Shape;307;p31">
            <a:hlinkClick r:id="rId3"/>
          </p:cNvPr>
          <p:cNvPicPr preferRelativeResize="0"/>
          <p:nvPr/>
        </p:nvPicPr>
        <p:blipFill rotWithShape="1">
          <a:blip r:embed="rId4">
            <a:alphaModFix/>
          </a:blip>
          <a:srcRect b="47985" l="0" r="0" t="0"/>
          <a:stretch/>
        </p:blipFill>
        <p:spPr>
          <a:xfrm>
            <a:off x="6390103" y="1479830"/>
            <a:ext cx="11680261" cy="64461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1" name="Shape 311"/>
        <p:cNvGrpSpPr/>
        <p:nvPr/>
      </p:nvGrpSpPr>
      <p:grpSpPr>
        <a:xfrm>
          <a:off x="0" y="0"/>
          <a:ext cx="0" cy="0"/>
          <a:chOff x="0" y="0"/>
          <a:chExt cx="0" cy="0"/>
        </a:xfrm>
      </p:grpSpPr>
      <p:sp>
        <p:nvSpPr>
          <p:cNvPr id="312" name="Google Shape;312;p32"/>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3" name="Google Shape;313;p32"/>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000" u="none" cap="none" strike="noStrike">
                <a:solidFill>
                  <a:srgbClr val="FFFFFF"/>
                </a:solidFill>
                <a:latin typeface="Arial"/>
                <a:ea typeface="Arial"/>
                <a:cs typeface="Arial"/>
                <a:sym typeface="Arial"/>
              </a:rPr>
              <a:t>CONTROLES BASICOS DE VISUAL BASIC .NET</a:t>
            </a:r>
            <a:endParaRPr b="0" i="0" sz="5000" u="none" cap="none" strike="noStrike">
              <a:solidFill>
                <a:srgbClr val="FFFFFF"/>
              </a:solidFill>
              <a:latin typeface="Arial"/>
              <a:ea typeface="Arial"/>
              <a:cs typeface="Arial"/>
              <a:sym typeface="Arial"/>
            </a:endParaRPr>
          </a:p>
        </p:txBody>
      </p:sp>
      <p:pic>
        <p:nvPicPr>
          <p:cNvPr descr="A screenshot of a computer&#10;&#10;AI-generated content may be incorrect." id="314" name="Google Shape;314;p32">
            <a:hlinkClick r:id="rId3"/>
          </p:cNvPr>
          <p:cNvPicPr preferRelativeResize="0"/>
          <p:nvPr/>
        </p:nvPicPr>
        <p:blipFill rotWithShape="1">
          <a:blip r:embed="rId4">
            <a:alphaModFix/>
          </a:blip>
          <a:srcRect b="0" l="0" r="0" t="51749"/>
          <a:stretch/>
        </p:blipFill>
        <p:spPr>
          <a:xfrm>
            <a:off x="6220875" y="1567543"/>
            <a:ext cx="12067125" cy="617772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type="title"/>
          </p:nvPr>
        </p:nvSpPr>
        <p:spPr>
          <a:xfrm>
            <a:off x="867657" y="8537306"/>
            <a:ext cx="16544424" cy="85010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4400"/>
              <a:buNone/>
            </a:pPr>
            <a:r>
              <a:rPr lang="en-US"/>
              <a:t>Ejemplo </a:t>
            </a:r>
            <a:r>
              <a:rPr lang="en-US"/>
              <a:t>práctico</a:t>
            </a:r>
            <a:endParaRPr/>
          </a:p>
        </p:txBody>
      </p:sp>
      <p:sp>
        <p:nvSpPr>
          <p:cNvPr id="320" name="Google Shape;320;p33"/>
          <p:cNvSpPr txBox="1"/>
          <p:nvPr/>
        </p:nvSpPr>
        <p:spPr>
          <a:xfrm>
            <a:off x="1758851" y="899588"/>
            <a:ext cx="14762100" cy="6594900"/>
          </a:xfrm>
          <a:prstGeom prst="rect">
            <a:avLst/>
          </a:prstGeom>
          <a:noFill/>
          <a:ln>
            <a:noFill/>
          </a:ln>
        </p:spPr>
        <p:txBody>
          <a:bodyPr anchorCtr="0" anchor="t" bIns="45700" lIns="91425" spcFirstLastPara="1" rIns="91425" wrap="square" tIns="45700">
            <a:spAutoFit/>
          </a:bodyPr>
          <a:lstStyle/>
          <a:p>
            <a:pPr indent="-372905" lvl="0" marL="372905" marR="0" rtl="0" algn="l">
              <a:lnSpc>
                <a:spcPct val="100000"/>
              </a:lnSpc>
              <a:spcBef>
                <a:spcPts val="0"/>
              </a:spcBef>
              <a:spcAft>
                <a:spcPts val="0"/>
              </a:spcAft>
              <a:buClr>
                <a:srgbClr val="000000"/>
              </a:buClr>
              <a:buSzPts val="2349"/>
              <a:buFont typeface="Arial"/>
              <a:buChar char="•"/>
            </a:pPr>
            <a:r>
              <a:rPr b="0" i="0" lang="en-US" sz="2349" u="none" cap="none" strike="noStrike">
                <a:solidFill>
                  <a:schemeClr val="dk1"/>
                </a:solidFill>
                <a:latin typeface="Arial"/>
                <a:ea typeface="Arial"/>
                <a:cs typeface="Arial"/>
                <a:sym typeface="Arial"/>
              </a:rPr>
              <a:t>Una compañía de seguros para autos ofrece dos tipos de póliza:</a:t>
            </a:r>
            <a:endParaRPr/>
          </a:p>
          <a:p>
            <a:pPr indent="-372905" lvl="1" marL="1058705" marR="0" rtl="0" algn="l">
              <a:lnSpc>
                <a:spcPct val="100000"/>
              </a:lnSpc>
              <a:spcBef>
                <a:spcPts val="900"/>
              </a:spcBef>
              <a:spcAft>
                <a:spcPts val="0"/>
              </a:spcAft>
              <a:buClr>
                <a:srgbClr val="000000"/>
              </a:buClr>
              <a:buSzPts val="2349"/>
              <a:buFont typeface="Arial"/>
              <a:buChar char="•"/>
            </a:pPr>
            <a:r>
              <a:rPr b="0" i="0" lang="en-US" sz="2349" u="none" cap="none" strike="noStrike">
                <a:solidFill>
                  <a:srgbClr val="000000"/>
                </a:solidFill>
                <a:latin typeface="Arial"/>
                <a:ea typeface="Arial"/>
                <a:cs typeface="Arial"/>
                <a:sym typeface="Arial"/>
              </a:rPr>
              <a:t>Cobertura </a:t>
            </a:r>
            <a:r>
              <a:rPr lang="en-US" sz="2349"/>
              <a:t>Amplia</a:t>
            </a:r>
            <a:r>
              <a:rPr b="0" i="0" lang="en-US" sz="2349" u="none" cap="none" strike="noStrike">
                <a:solidFill>
                  <a:srgbClr val="000000"/>
                </a:solidFill>
                <a:latin typeface="Arial"/>
                <a:ea typeface="Arial"/>
                <a:cs typeface="Arial"/>
                <a:sym typeface="Arial"/>
              </a:rPr>
              <a:t> (A)</a:t>
            </a:r>
            <a:r>
              <a:rPr b="0" i="0" lang="en-US" sz="2349" u="none" cap="none" strike="noStrike">
                <a:solidFill>
                  <a:schemeClr val="dk1"/>
                </a:solidFill>
                <a:latin typeface="Arial"/>
                <a:ea typeface="Arial"/>
                <a:cs typeface="Arial"/>
                <a:sym typeface="Arial"/>
              </a:rPr>
              <a:t>.</a:t>
            </a:r>
            <a:endParaRPr/>
          </a:p>
          <a:p>
            <a:pPr indent="-372905" lvl="1" marL="1058705" marR="0" rtl="0" algn="l">
              <a:lnSpc>
                <a:spcPct val="100000"/>
              </a:lnSpc>
              <a:spcBef>
                <a:spcPts val="900"/>
              </a:spcBef>
              <a:spcAft>
                <a:spcPts val="0"/>
              </a:spcAft>
              <a:buClr>
                <a:srgbClr val="000000"/>
              </a:buClr>
              <a:buSzPts val="2349"/>
              <a:buFont typeface="Arial"/>
              <a:buChar char="•"/>
            </a:pPr>
            <a:r>
              <a:rPr b="0" i="0" lang="en-US" sz="2349" u="none" cap="none" strike="noStrike">
                <a:solidFill>
                  <a:srgbClr val="000000"/>
                </a:solidFill>
                <a:latin typeface="Arial"/>
                <a:ea typeface="Arial"/>
                <a:cs typeface="Arial"/>
                <a:sym typeface="Arial"/>
              </a:rPr>
              <a:t>Daños a terceros (B).</a:t>
            </a:r>
            <a:endParaRPr/>
          </a:p>
          <a:p>
            <a:pPr indent="0" lvl="1" marL="0" marR="0" rtl="0" algn="l">
              <a:lnSpc>
                <a:spcPct val="100000"/>
              </a:lnSpc>
              <a:spcBef>
                <a:spcPts val="900"/>
              </a:spcBef>
              <a:spcAft>
                <a:spcPts val="0"/>
              </a:spcAft>
              <a:buNone/>
            </a:pPr>
            <a:r>
              <a:t/>
            </a:r>
            <a:endParaRPr b="0" i="0" sz="2349"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Para </a:t>
            </a:r>
            <a:r>
              <a:rPr lang="en-US" sz="2100"/>
              <a:t>el</a:t>
            </a:r>
            <a:r>
              <a:rPr b="0" i="0" lang="en-US" sz="2100" u="none" cap="none" strike="noStrike">
                <a:solidFill>
                  <a:srgbClr val="000000"/>
                </a:solidFill>
                <a:latin typeface="Arial"/>
                <a:ea typeface="Arial"/>
                <a:cs typeface="Arial"/>
                <a:sym typeface="Arial"/>
              </a:rPr>
              <a:t> plan A la cuota base es de </a:t>
            </a:r>
            <a:r>
              <a:rPr lang="en-US" sz="2100"/>
              <a:t>Q</a:t>
            </a:r>
            <a:r>
              <a:rPr b="0" i="0" lang="en-US" sz="2100" u="none" cap="none" strike="noStrike">
                <a:solidFill>
                  <a:srgbClr val="000000"/>
                </a:solidFill>
                <a:latin typeface="Arial"/>
                <a:ea typeface="Arial"/>
                <a:cs typeface="Arial"/>
                <a:sym typeface="Arial"/>
              </a:rPr>
              <a:t> 500.00 y para el plan B de </a:t>
            </a:r>
            <a:r>
              <a:rPr lang="en-US" sz="2100"/>
              <a:t>Q</a:t>
            </a:r>
            <a:r>
              <a:rPr b="0" i="0" lang="en-US" sz="2100" u="none" cap="none" strike="noStrike">
                <a:solidFill>
                  <a:srgbClr val="000000"/>
                </a:solidFill>
                <a:latin typeface="Arial"/>
                <a:ea typeface="Arial"/>
                <a:cs typeface="Arial"/>
                <a:sym typeface="Arial"/>
              </a:rPr>
              <a:t> 250.00</a:t>
            </a:r>
            <a:endParaRPr/>
          </a:p>
          <a:p>
            <a:pPr indent="0" lvl="0" marL="0" marR="0" rtl="0" algn="l">
              <a:lnSpc>
                <a:spcPct val="100000"/>
              </a:lnSpc>
              <a:spcBef>
                <a:spcPts val="900"/>
              </a:spcBef>
              <a:spcAft>
                <a:spcPts val="0"/>
              </a:spcAft>
              <a:buNone/>
            </a:pPr>
            <a:r>
              <a:t/>
            </a:r>
            <a:endParaRPr b="0" i="0" sz="2100"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Ambos planes se les carga 10% del costo</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Si la persona que conduce bebe alcohol</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5% si utiliza lentes</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5% si padece alguna enfermedad</a:t>
            </a:r>
            <a:endParaRPr/>
          </a:p>
          <a:p>
            <a:pPr indent="-372905" lvl="1" marL="10587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Si tiene más de 40 años se le carga 20% de lo contrario sólo 10%</a:t>
            </a:r>
            <a:endParaRPr/>
          </a:p>
          <a:p>
            <a:pPr indent="0" lvl="1" marL="0" marR="0" rtl="0" algn="l">
              <a:lnSpc>
                <a:spcPct val="100000"/>
              </a:lnSpc>
              <a:spcBef>
                <a:spcPts val="900"/>
              </a:spcBef>
              <a:spcAft>
                <a:spcPts val="0"/>
              </a:spcAft>
              <a:buNone/>
            </a:pPr>
            <a:r>
              <a:t/>
            </a:r>
            <a:endParaRPr b="0" i="0" sz="2100" u="none" cap="none" strike="noStrike">
              <a:solidFill>
                <a:srgbClr val="000000"/>
              </a:solidFill>
              <a:latin typeface="Arial"/>
              <a:ea typeface="Arial"/>
              <a:cs typeface="Arial"/>
              <a:sym typeface="Arial"/>
            </a:endParaRPr>
          </a:p>
          <a:p>
            <a:pPr indent="-372905" lvl="0" marL="372905" marR="0" rtl="0" algn="l">
              <a:lnSpc>
                <a:spcPct val="100000"/>
              </a:lnSpc>
              <a:spcBef>
                <a:spcPts val="900"/>
              </a:spcBef>
              <a:spcAft>
                <a:spcPts val="0"/>
              </a:spcAft>
              <a:buClr>
                <a:srgbClr val="000000"/>
              </a:buClr>
              <a:buSzPts val="2100"/>
              <a:buFont typeface="Arial"/>
              <a:buChar char="•"/>
            </a:pPr>
            <a:r>
              <a:rPr b="0" i="0" lang="en-US" sz="2100" u="none" cap="none" strike="noStrike">
                <a:solidFill>
                  <a:srgbClr val="000000"/>
                </a:solidFill>
                <a:latin typeface="Arial"/>
                <a:ea typeface="Arial"/>
                <a:cs typeface="Arial"/>
                <a:sym typeface="Arial"/>
              </a:rPr>
              <a:t>El programa se le solicita que ingrese los datos del cliente siendo estos: Nombre, tipo de licencia, DPI, No. Licencia y género.</a:t>
            </a:r>
            <a:endParaRPr/>
          </a:p>
          <a:p>
            <a:pPr indent="-239555" lvl="0" marL="372905" marR="0" rtl="0" algn="l">
              <a:lnSpc>
                <a:spcPct val="100000"/>
              </a:lnSpc>
              <a:spcBef>
                <a:spcPts val="900"/>
              </a:spcBef>
              <a:spcAft>
                <a:spcPts val="0"/>
              </a:spcAft>
              <a:buClr>
                <a:srgbClr val="000000"/>
              </a:buClr>
              <a:buSzPts val="2100"/>
              <a:buFont typeface="Arial"/>
              <a:buNone/>
            </a:pPr>
            <a:r>
              <a:t/>
            </a:r>
            <a:endParaRPr b="0" i="0" sz="21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26" name="Google Shape;326;p6"/>
          <p:cNvSpPr txBox="1"/>
          <p:nvPr/>
        </p:nvSpPr>
        <p:spPr>
          <a:xfrm>
            <a:off x="2507390" y="3538103"/>
            <a:ext cx="11773386" cy="2843855"/>
          </a:xfrm>
          <a:prstGeom prst="rect">
            <a:avLst/>
          </a:prstGeom>
          <a:noFill/>
          <a:ln>
            <a:noFill/>
          </a:ln>
        </p:spPr>
        <p:txBody>
          <a:bodyPr anchorCtr="0" anchor="t" bIns="0" lIns="0" spcFirstLastPara="1" rIns="0" wrap="square" tIns="0">
            <a:spAutoFit/>
          </a:bodyPr>
          <a:lstStyle/>
          <a:p>
            <a:pPr indent="-457200" lvl="0" marL="457200" marR="0" rtl="0" algn="l">
              <a:lnSpc>
                <a:spcPct val="140019"/>
              </a:lnSpc>
              <a:spcBef>
                <a:spcPts val="0"/>
              </a:spcBef>
              <a:spcAft>
                <a:spcPts val="0"/>
              </a:spcAft>
              <a:buClr>
                <a:srgbClr val="000000"/>
              </a:buClr>
              <a:buSzPts val="4400"/>
              <a:buFont typeface="Arial"/>
              <a:buChar char="•"/>
            </a:pPr>
            <a:r>
              <a:rPr b="0" i="0" lang="en-US" sz="4400" u="none" cap="none" strike="noStrike">
                <a:solidFill>
                  <a:srgbClr val="131416"/>
                </a:solidFill>
                <a:latin typeface="Arial"/>
                <a:ea typeface="Arial"/>
                <a:cs typeface="Arial"/>
                <a:sym typeface="Arial"/>
              </a:rPr>
              <a:t>USO DE FUNCIONES Y PROCEDIMIENTOS</a:t>
            </a:r>
            <a:endParaRPr/>
          </a:p>
          <a:p>
            <a:pPr indent="-285750" lvl="0" marL="285750" marR="0" rtl="0" algn="l">
              <a:lnSpc>
                <a:spcPct val="140019"/>
              </a:lnSpc>
              <a:spcBef>
                <a:spcPts val="0"/>
              </a:spcBef>
              <a:spcAft>
                <a:spcPts val="0"/>
              </a:spcAft>
              <a:buClr>
                <a:srgbClr val="000000"/>
              </a:buClr>
              <a:buSzPts val="4400"/>
              <a:buFont typeface="Arial"/>
              <a:buChar char="•"/>
            </a:pPr>
            <a:r>
              <a:rPr b="0" i="0" lang="en-US" sz="4400" u="none" cap="none" strike="noStrike">
                <a:solidFill>
                  <a:srgbClr val="131416"/>
                </a:solidFill>
                <a:latin typeface="Arial"/>
                <a:ea typeface="Arial"/>
                <a:cs typeface="Arial"/>
                <a:sym typeface="Arial"/>
              </a:rPr>
              <a:t>USO DE CONDICIONES Y SELECT CASE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0" name="Shape 330"/>
        <p:cNvGrpSpPr/>
        <p:nvPr/>
      </p:nvGrpSpPr>
      <p:grpSpPr>
        <a:xfrm>
          <a:off x="0" y="0"/>
          <a:ext cx="0" cy="0"/>
          <a:chOff x="0" y="0"/>
          <a:chExt cx="0" cy="0"/>
        </a:xfrm>
      </p:grpSpPr>
      <p:sp>
        <p:nvSpPr>
          <p:cNvPr id="331" name="Google Shape;331;p7"/>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2" name="Google Shape;332;p7"/>
          <p:cNvSpPr txBox="1"/>
          <p:nvPr/>
        </p:nvSpPr>
        <p:spPr>
          <a:xfrm>
            <a:off x="3295651" y="1102924"/>
            <a:ext cx="7467599" cy="474756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7800" u="none" cap="none" strike="noStrike">
                <a:solidFill>
                  <a:schemeClr val="dk1"/>
                </a:solidFill>
                <a:latin typeface="Arial"/>
                <a:ea typeface="Arial"/>
                <a:cs typeface="Arial"/>
                <a:sym typeface="Arial"/>
              </a:rPr>
              <a:t>DISCIPLINA</a:t>
            </a:r>
            <a:endParaRPr/>
          </a:p>
        </p:txBody>
      </p:sp>
      <p:sp>
        <p:nvSpPr>
          <p:cNvPr id="333" name="Google Shape;333;p7"/>
          <p:cNvSpPr txBox="1"/>
          <p:nvPr/>
        </p:nvSpPr>
        <p:spPr>
          <a:xfrm>
            <a:off x="3295651" y="6117634"/>
            <a:ext cx="7467599" cy="308798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None/>
            </a:pPr>
            <a:r>
              <a:t/>
            </a:r>
            <a:endParaRPr b="0" i="0" sz="2400" u="none" cap="none" strike="noStrike">
              <a:solidFill>
                <a:schemeClr val="dk1"/>
              </a:solidFill>
              <a:latin typeface="Arial"/>
              <a:ea typeface="Arial"/>
              <a:cs typeface="Arial"/>
              <a:sym typeface="Arial"/>
            </a:endParaRPr>
          </a:p>
        </p:txBody>
      </p:sp>
      <p:pic>
        <p:nvPicPr>
          <p:cNvPr descr="Wreath" id="334" name="Google Shape;334;p7"/>
          <p:cNvPicPr preferRelativeResize="0"/>
          <p:nvPr/>
        </p:nvPicPr>
        <p:blipFill rotWithShape="1">
          <a:blip r:embed="rId3">
            <a:alphaModFix/>
          </a:blip>
          <a:srcRect b="0" l="0" r="0" t="0"/>
          <a:stretch/>
        </p:blipFill>
        <p:spPr>
          <a:xfrm>
            <a:off x="1076323" y="4164928"/>
            <a:ext cx="1933577" cy="1933577"/>
          </a:xfrm>
          <a:prstGeom prst="rect">
            <a:avLst/>
          </a:prstGeom>
          <a:noFill/>
          <a:ln>
            <a:noFill/>
          </a:ln>
        </p:spPr>
      </p:pic>
      <p:pic>
        <p:nvPicPr>
          <p:cNvPr descr="Wreath" id="335" name="Google Shape;335;p7"/>
          <p:cNvPicPr preferRelativeResize="0"/>
          <p:nvPr/>
        </p:nvPicPr>
        <p:blipFill rotWithShape="1">
          <a:blip r:embed="rId3">
            <a:alphaModFix amt="15000"/>
          </a:blip>
          <a:srcRect b="0" l="0" r="0" t="0"/>
          <a:stretch/>
        </p:blipFill>
        <p:spPr>
          <a:xfrm>
            <a:off x="9911722" y="1074610"/>
            <a:ext cx="8117015" cy="8117015"/>
          </a:xfrm>
          <a:prstGeom prst="rect">
            <a:avLst/>
          </a:prstGeom>
          <a:noFill/>
          <a:ln>
            <a:noFill/>
          </a:ln>
        </p:spPr>
      </p:pic>
      <p:sp>
        <p:nvSpPr>
          <p:cNvPr id="336" name="Google Shape;336;p7"/>
          <p:cNvSpPr txBox="1"/>
          <p:nvPr/>
        </p:nvSpPr>
        <p:spPr>
          <a:xfrm>
            <a:off x="5056655" y="6413479"/>
            <a:ext cx="9856773" cy="143462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600"/>
              </a:spcAft>
              <a:buClr>
                <a:srgbClr val="000000"/>
              </a:buClr>
              <a:buSzPts val="3151"/>
              <a:buFont typeface="Arial"/>
              <a:buNone/>
            </a:pPr>
            <a:r>
              <a:rPr b="0" i="0" lang="en-US" sz="3151" u="none" cap="none" strike="noStrike">
                <a:solidFill>
                  <a:srgbClr val="131416"/>
                </a:solidFill>
                <a:latin typeface="Arial"/>
                <a:ea typeface="Arial"/>
                <a:cs typeface="Arial"/>
                <a:sym typeface="Arial"/>
              </a:rPr>
              <a:t>Frase: El repaso constante fortalece lo aprendido y forma caracter.</a:t>
            </a:r>
            <a:endParaRPr b="0" i="0" sz="3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34"/>
                                        </p:tgtEl>
                                        <p:attrNameLst>
                                          <p:attrName>style.visibility</p:attrName>
                                        </p:attrNameLst>
                                      </p:cBhvr>
                                      <p:to>
                                        <p:strVal val="visible"/>
                                      </p:to>
                                    </p:set>
                                    <p:animEffect filter="fade" transition="in">
                                      <p:cBhvr>
                                        <p:cTn dur="700"/>
                                        <p:tgtEl>
                                          <p:spTgt spid="334"/>
                                        </p:tgtEl>
                                      </p:cBhvr>
                                    </p:animEffect>
                                  </p:childTnLst>
                                </p:cTn>
                              </p:par>
                              <p:par>
                                <p:cTn fill="hold" nodeType="withEffect" presetClass="entr" presetID="10" presetSubtype="0">
                                  <p:stCondLst>
                                    <p:cond delay="500"/>
                                  </p:stCondLst>
                                  <p:childTnLst>
                                    <p:set>
                                      <p:cBhvr>
                                        <p:cTn dur="1" fill="hold">
                                          <p:stCondLst>
                                            <p:cond delay="0"/>
                                          </p:stCondLst>
                                        </p:cTn>
                                        <p:tgtEl>
                                          <p:spTgt spid="335"/>
                                        </p:tgtEl>
                                        <p:attrNameLst>
                                          <p:attrName>style.visibility</p:attrName>
                                        </p:attrNameLst>
                                      </p:cBhvr>
                                      <p:to>
                                        <p:strVal val="visible"/>
                                      </p:to>
                                    </p:set>
                                    <p:animEffect filter="fade" transition="in">
                                      <p:cBhvr>
                                        <p:cTn dur="700"/>
                                        <p:tgtEl>
                                          <p:spTgt spid="3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42" name="Google Shape;342;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43" name="Google Shape;343;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