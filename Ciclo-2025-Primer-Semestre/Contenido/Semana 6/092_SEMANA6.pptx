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y="10287000" cx="18288000"/>
  <p:notesSz cx="6858000" cy="9144000"/>
  <p:embeddedFontLst>
    <p:embeddedFont>
      <p:font typeface="Lobster"/>
      <p:regular r:id="rId22"/>
    </p:embeddedFont>
    <p:embeddedFont>
      <p:font typeface="Pacifico"/>
      <p:regular r:id="rId23"/>
    </p:embeddedFont>
    <p:embeddedFont>
      <p:font typeface="Open Sans"/>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8" roundtripDataSignature="AMtx7mhmLC4PV+tbkcgMXp8td4GSy7Fk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font" Target="fonts/Lobster-regular.fntdata"/><Relationship Id="rId21" Type="http://schemas.openxmlformats.org/officeDocument/2006/relationships/slide" Target="slides/slide14.xml"/><Relationship Id="rId24" Type="http://schemas.openxmlformats.org/officeDocument/2006/relationships/font" Target="fonts/OpenSans-regular.fntdata"/><Relationship Id="rId23" Type="http://schemas.openxmlformats.org/officeDocument/2006/relationships/font" Target="fonts/Pacific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font" Target="fonts/OpenSans-italic.fntdata"/><Relationship Id="rId25" Type="http://schemas.openxmlformats.org/officeDocument/2006/relationships/font" Target="fonts/OpenSans-bold.fntdata"/><Relationship Id="rId28" Type="http://customschemas.google.com/relationships/presentationmetadata" Target="metadata"/><Relationship Id="rId27" Type="http://schemas.openxmlformats.org/officeDocument/2006/relationships/font" Target="fonts/OpenSans-bold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7" name="Google Shape;87;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7" name="Google Shape;97;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1" name="Google Shape;131;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 name="Google Shape;14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3" name="Google Shape;183;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2" name="Google Shape;202;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 name="Google Shape;215;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9" name="Google Shape;229;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1" name="Google Shape;241;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4" name="Google Shape;254;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7" name="Google Shape;267;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3" name="Google Shape;273;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3" name="Google Shape;283;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9" name="Google Shape;28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4" name="Google Shape;24;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 name="Shape 27"/>
        <p:cNvGrpSpPr/>
        <p:nvPr/>
      </p:nvGrpSpPr>
      <p:grpSpPr>
        <a:xfrm>
          <a:off x="0" y="0"/>
          <a:ext cx="0" cy="0"/>
          <a:chOff x="0" y="0"/>
          <a:chExt cx="0" cy="0"/>
        </a:xfrm>
      </p:grpSpPr>
      <p:sp>
        <p:nvSpPr>
          <p:cNvPr id="28" name="Google Shape;28;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0" name="Google Shape;30;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1" name="Google Shape;31;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9" name="Shape 39"/>
        <p:cNvGrpSpPr/>
        <p:nvPr/>
      </p:nvGrpSpPr>
      <p:grpSpPr>
        <a:xfrm>
          <a:off x="0" y="0"/>
          <a:ext cx="0" cy="0"/>
          <a:chOff x="0" y="0"/>
          <a:chExt cx="0" cy="0"/>
        </a:xfrm>
      </p:grpSpPr>
      <p:sp>
        <p:nvSpPr>
          <p:cNvPr id="40" name="Google Shape;40;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42" name="Google Shape;42;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43" name="Google Shape;43;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6" name="Shape 46"/>
        <p:cNvGrpSpPr/>
        <p:nvPr/>
      </p:nvGrpSpPr>
      <p:grpSpPr>
        <a:xfrm>
          <a:off x="0" y="0"/>
          <a:ext cx="0" cy="0"/>
          <a:chOff x="0" y="0"/>
          <a:chExt cx="0" cy="0"/>
        </a:xfrm>
      </p:grpSpPr>
      <p:sp>
        <p:nvSpPr>
          <p:cNvPr id="47" name="Google Shape;47;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9"/>
          <p:cNvSpPr/>
          <p:nvPr>
            <p:ph idx="2" type="pic"/>
          </p:nvPr>
        </p:nvSpPr>
        <p:spPr>
          <a:xfrm>
            <a:off x="1792288" y="612775"/>
            <a:ext cx="5486400" cy="4114800"/>
          </a:xfrm>
          <a:prstGeom prst="rect">
            <a:avLst/>
          </a:prstGeom>
          <a:noFill/>
          <a:ln>
            <a:noFill/>
          </a:ln>
        </p:spPr>
      </p:sp>
      <p:sp>
        <p:nvSpPr>
          <p:cNvPr id="49" name="Google Shape;49;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0" name="Google Shape;50;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3" name="Shape 53"/>
        <p:cNvGrpSpPr/>
        <p:nvPr/>
      </p:nvGrpSpPr>
      <p:grpSpPr>
        <a:xfrm>
          <a:off x="0" y="0"/>
          <a:ext cx="0" cy="0"/>
          <a:chOff x="0" y="0"/>
          <a:chExt cx="0" cy="0"/>
        </a:xfrm>
      </p:grpSpPr>
      <p:sp>
        <p:nvSpPr>
          <p:cNvPr id="54" name="Google Shape;54;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6" name="Google Shape;56;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59" name="Shape 59"/>
        <p:cNvGrpSpPr/>
        <p:nvPr/>
      </p:nvGrpSpPr>
      <p:grpSpPr>
        <a:xfrm>
          <a:off x="0" y="0"/>
          <a:ext cx="0" cy="0"/>
          <a:chOff x="0" y="0"/>
          <a:chExt cx="0" cy="0"/>
        </a:xfrm>
      </p:grpSpPr>
      <p:sp>
        <p:nvSpPr>
          <p:cNvPr id="60" name="Google Shape;60;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2" name="Google Shape;62;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1" name="Shape 71"/>
        <p:cNvGrpSpPr/>
        <p:nvPr/>
      </p:nvGrpSpPr>
      <p:grpSpPr>
        <a:xfrm>
          <a:off x="0" y="0"/>
          <a:ext cx="0" cy="0"/>
          <a:chOff x="0" y="0"/>
          <a:chExt cx="0" cy="0"/>
        </a:xfrm>
      </p:grpSpPr>
      <p:sp>
        <p:nvSpPr>
          <p:cNvPr id="72" name="Google Shape;72;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1" name="Shape 81"/>
        <p:cNvGrpSpPr/>
        <p:nvPr/>
      </p:nvGrpSpPr>
      <p:grpSpPr>
        <a:xfrm>
          <a:off x="0" y="0"/>
          <a:ext cx="0" cy="0"/>
          <a:chOff x="0" y="0"/>
          <a:chExt cx="0" cy="0"/>
        </a:xfrm>
      </p:grpSpPr>
      <p:sp>
        <p:nvSpPr>
          <p:cNvPr id="82" name="Google Shape;82;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5" name="Shape 65"/>
        <p:cNvGrpSpPr/>
        <p:nvPr/>
      </p:nvGrpSpPr>
      <p:grpSpPr>
        <a:xfrm>
          <a:off x="0" y="0"/>
          <a:ext cx="0" cy="0"/>
          <a:chOff x="0" y="0"/>
          <a:chExt cx="0" cy="0"/>
        </a:xfrm>
      </p:grpSpPr>
      <p:sp>
        <p:nvSpPr>
          <p:cNvPr id="66" name="Google Shape;66;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7" name="Google Shape;67;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8" name="Google Shape;68;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 name="Shape 75"/>
        <p:cNvGrpSpPr/>
        <p:nvPr/>
      </p:nvGrpSpPr>
      <p:grpSpPr>
        <a:xfrm>
          <a:off x="0" y="0"/>
          <a:ext cx="0" cy="0"/>
          <a:chOff x="0" y="0"/>
          <a:chExt cx="0" cy="0"/>
        </a:xfrm>
      </p:grpSpPr>
      <p:sp>
        <p:nvSpPr>
          <p:cNvPr id="76" name="Google Shape;76;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7" name="Google Shape;77;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78" name="Google Shape;78;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9" name="Google Shape;79;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0" name="Google Shape;80;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0" name="Google Shape;90;p1"/>
          <p:cNvSpPr txBox="1"/>
          <p:nvPr/>
        </p:nvSpPr>
        <p:spPr>
          <a:xfrm>
            <a:off x="1028700" y="5979021"/>
            <a:ext cx="6351814" cy="215443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131416"/>
                </a:solidFill>
                <a:latin typeface="Open Sans"/>
                <a:ea typeface="Open Sans"/>
                <a:cs typeface="Open Sans"/>
                <a:sym typeface="Open Sans"/>
              </a:rPr>
              <a:t>092 Programacion</a:t>
            </a:r>
            <a:endParaRPr b="1" i="0" sz="5000" u="none" cap="none" strike="noStrike">
              <a:solidFill>
                <a:srgbClr val="131416"/>
              </a:solidFill>
              <a:latin typeface="Open Sans"/>
              <a:ea typeface="Open Sans"/>
              <a:cs typeface="Open Sans"/>
              <a:sym typeface="Open Sans"/>
            </a:endParaRPr>
          </a:p>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131416"/>
                </a:solidFill>
                <a:latin typeface="Open Sans"/>
                <a:ea typeface="Open Sans"/>
                <a:cs typeface="Open Sans"/>
                <a:sym typeface="Open Sans"/>
              </a:rPr>
              <a:t>De Computadoras 2</a:t>
            </a:r>
            <a:endParaRPr b="1" i="0" sz="5000" u="none" cap="none" strike="noStrike">
              <a:solidFill>
                <a:srgbClr val="131416"/>
              </a:solidFill>
              <a:latin typeface="Open Sans"/>
              <a:ea typeface="Open Sans"/>
              <a:cs typeface="Open Sans"/>
              <a:sym typeface="Open Sans"/>
            </a:endParaRPr>
          </a:p>
        </p:txBody>
      </p:sp>
      <p:sp>
        <p:nvSpPr>
          <p:cNvPr id="91" name="Google Shape;91;p1"/>
          <p:cNvSpPr txBox="1"/>
          <p:nvPr/>
        </p:nvSpPr>
        <p:spPr>
          <a:xfrm>
            <a:off x="2956500" y="2132508"/>
            <a:ext cx="12375000" cy="396416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200"/>
              <a:buFont typeface="Arial"/>
              <a:buNone/>
            </a:pPr>
            <a:r>
              <a:rPr b="1" i="0" lang="en-US" sz="9200" u="none" cap="none" strike="noStrike">
                <a:solidFill>
                  <a:srgbClr val="131416"/>
                </a:solidFill>
                <a:latin typeface="Open Sans"/>
                <a:ea typeface="Open Sans"/>
                <a:cs typeface="Open Sans"/>
                <a:sym typeface="Open Sans"/>
              </a:rPr>
              <a:t>PROCEDIMIENTO Y FUNCIONES</a:t>
            </a:r>
            <a:endParaRPr b="0" i="0" sz="1400" u="none" cap="none" strike="noStrike">
              <a:solidFill>
                <a:srgbClr val="000000"/>
              </a:solidFill>
              <a:latin typeface="Arial"/>
              <a:ea typeface="Arial"/>
              <a:cs typeface="Arial"/>
              <a:sym typeface="Arial"/>
            </a:endParaRPr>
          </a:p>
        </p:txBody>
      </p:sp>
      <p:sp>
        <p:nvSpPr>
          <p:cNvPr id="92" name="Google Shape;92;p1"/>
          <p:cNvSpPr txBox="1"/>
          <p:nvPr/>
        </p:nvSpPr>
        <p:spPr>
          <a:xfrm>
            <a:off x="1063303" y="8745251"/>
            <a:ext cx="6981379"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Ingenieria de Ciencias Y Sistemas</a:t>
            </a:r>
            <a:endParaRPr b="1" i="0" sz="2499" u="none" cap="none" strike="noStrike">
              <a:solidFill>
                <a:srgbClr val="131416"/>
              </a:solidFill>
              <a:latin typeface="Open Sans"/>
              <a:ea typeface="Open Sans"/>
              <a:cs typeface="Open Sans"/>
              <a:sym typeface="Open Sans"/>
            </a:endParaRPr>
          </a:p>
        </p:txBody>
      </p:sp>
      <p:sp>
        <p:nvSpPr>
          <p:cNvPr id="93" name="Google Shape;93;p1"/>
          <p:cNvSpPr txBox="1"/>
          <p:nvPr/>
        </p:nvSpPr>
        <p:spPr>
          <a:xfrm>
            <a:off x="1028700" y="9210675"/>
            <a:ext cx="6667500" cy="42227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Ingenieria</a:t>
            </a:r>
            <a:endParaRPr b="1" i="0" sz="2499" u="none" cap="none" strike="noStrike">
              <a:solidFill>
                <a:srgbClr val="131416"/>
              </a:solidFill>
              <a:latin typeface="Open Sans"/>
              <a:ea typeface="Open Sans"/>
              <a:cs typeface="Open Sans"/>
              <a:sym typeface="Open Sans"/>
            </a:endParaRPr>
          </a:p>
        </p:txBody>
      </p:sp>
      <p:sp>
        <p:nvSpPr>
          <p:cNvPr id="94" name="Google Shape;94;p1"/>
          <p:cNvSpPr txBox="1"/>
          <p:nvPr/>
        </p:nvSpPr>
        <p:spPr>
          <a:xfrm>
            <a:off x="228600" y="9588254"/>
            <a:ext cx="8115300" cy="419346"/>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grpSp>
        <p:nvGrpSpPr>
          <p:cNvPr id="99" name="Google Shape;99;p2"/>
          <p:cNvGrpSpPr/>
          <p:nvPr/>
        </p:nvGrpSpPr>
        <p:grpSpPr>
          <a:xfrm>
            <a:off x="764447" y="4544825"/>
            <a:ext cx="5709916" cy="845385"/>
            <a:chOff x="0" y="-65837"/>
            <a:chExt cx="2430999" cy="359923"/>
          </a:xfrm>
        </p:grpSpPr>
        <p:sp>
          <p:nvSpPr>
            <p:cNvPr id="100" name="Google Shape;100;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1" name="Google Shape;101;p2"/>
            <p:cNvSpPr txBox="1"/>
            <p:nvPr/>
          </p:nvSpPr>
          <p:spPr>
            <a:xfrm>
              <a:off x="367885" y="-65837"/>
              <a:ext cx="2063114"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Dudas de clase o generales</a:t>
              </a:r>
              <a:endParaRPr b="0" i="0" sz="1400" u="none" cap="none" strike="noStrike">
                <a:solidFill>
                  <a:srgbClr val="000000"/>
                </a:solidFill>
                <a:latin typeface="Arial"/>
                <a:ea typeface="Arial"/>
                <a:cs typeface="Arial"/>
                <a:sym typeface="Arial"/>
              </a:endParaRPr>
            </a:p>
          </p:txBody>
        </p:sp>
      </p:grpSp>
      <p:sp>
        <p:nvSpPr>
          <p:cNvPr id="102" name="Google Shape;102;p2"/>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03" name="Google Shape;103;p2"/>
          <p:cNvGrpSpPr/>
          <p:nvPr/>
        </p:nvGrpSpPr>
        <p:grpSpPr>
          <a:xfrm>
            <a:off x="1866989" y="3013983"/>
            <a:ext cx="4115190" cy="1556484"/>
            <a:chOff x="0" y="-76200"/>
            <a:chExt cx="1083836" cy="409938"/>
          </a:xfrm>
        </p:grpSpPr>
        <p:sp>
          <p:nvSpPr>
            <p:cNvPr id="104" name="Google Shape;104;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5" name="Google Shape;105;p2"/>
            <p:cNvSpPr txBox="1"/>
            <p:nvPr/>
          </p:nvSpPr>
          <p:spPr>
            <a:xfrm>
              <a:off x="0" y="-762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RECORDATORIOS</a:t>
              </a:r>
              <a:endParaRPr b="0" i="0" sz="1400" u="none" cap="none" strike="noStrike">
                <a:solidFill>
                  <a:srgbClr val="000000"/>
                </a:solidFill>
                <a:latin typeface="Arial"/>
                <a:ea typeface="Arial"/>
                <a:cs typeface="Arial"/>
                <a:sym typeface="Arial"/>
              </a:endParaRPr>
            </a:p>
          </p:txBody>
        </p:sp>
      </p:grpSp>
      <p:sp>
        <p:nvSpPr>
          <p:cNvPr id="106" name="Google Shape;106;p2"/>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7" name="Google Shape;107;p2"/>
          <p:cNvSpPr txBox="1"/>
          <p:nvPr/>
        </p:nvSpPr>
        <p:spPr>
          <a:xfrm>
            <a:off x="651749" y="490900"/>
            <a:ext cx="7710301" cy="23089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Pacifico"/>
                <a:ea typeface="Pacifico"/>
                <a:cs typeface="Pacifico"/>
                <a:sym typeface="Pacifico"/>
              </a:rPr>
              <a:t>Agenda</a:t>
            </a:r>
            <a:endParaRPr b="0" i="0" sz="1400" u="none" cap="none" strike="noStrike">
              <a:solidFill>
                <a:srgbClr val="000000"/>
              </a:solidFill>
              <a:latin typeface="Pacifico"/>
              <a:ea typeface="Pacifico"/>
              <a:cs typeface="Pacifico"/>
              <a:sym typeface="Pacifico"/>
            </a:endParaRPr>
          </a:p>
        </p:txBody>
      </p:sp>
      <p:sp>
        <p:nvSpPr>
          <p:cNvPr id="108" name="Google Shape;108;p2"/>
          <p:cNvSpPr txBox="1"/>
          <p:nvPr/>
        </p:nvSpPr>
        <p:spPr>
          <a:xfrm>
            <a:off x="10105990" y="390767"/>
            <a:ext cx="84168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Lobster"/>
                <a:ea typeface="Lobster"/>
                <a:cs typeface="Lobster"/>
                <a:sym typeface="Lobster"/>
              </a:rPr>
              <a:t>Recursos</a:t>
            </a:r>
            <a:endParaRPr b="0" i="0" sz="1400" u="none" cap="none" strike="noStrike">
              <a:solidFill>
                <a:srgbClr val="000000"/>
              </a:solidFill>
              <a:latin typeface="Lobster"/>
              <a:ea typeface="Lobster"/>
              <a:cs typeface="Lobster"/>
              <a:sym typeface="Lobster"/>
            </a:endParaRPr>
          </a:p>
        </p:txBody>
      </p:sp>
      <p:sp>
        <p:nvSpPr>
          <p:cNvPr id="109" name="Google Shape;109;p2"/>
          <p:cNvSpPr/>
          <p:nvPr/>
        </p:nvSpPr>
        <p:spPr>
          <a:xfrm>
            <a:off x="11739805" y="3232617"/>
            <a:ext cx="5353646" cy="1267162"/>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10" name="Google Shape;110;p2"/>
          <p:cNvGrpSpPr/>
          <p:nvPr/>
        </p:nvGrpSpPr>
        <p:grpSpPr>
          <a:xfrm>
            <a:off x="11739805" y="4598683"/>
            <a:ext cx="5353646" cy="1701145"/>
            <a:chOff x="0" y="-114300"/>
            <a:chExt cx="1410014" cy="448038"/>
          </a:xfrm>
        </p:grpSpPr>
        <p:sp>
          <p:nvSpPr>
            <p:cNvPr id="111" name="Google Shape;111;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2" name="Google Shape;112;p2"/>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none" cap="none" strike="noStrike">
                  <a:solidFill>
                    <a:srgbClr val="000000"/>
                  </a:solidFill>
                  <a:latin typeface="Arial"/>
                  <a:ea typeface="Arial"/>
                  <a:cs typeface="Arial"/>
                  <a:sym typeface="Arial"/>
                </a:rPr>
                <a:t>Ver en el apartado material de apoyo en Uedi</a:t>
              </a:r>
              <a:endParaRPr b="0" i="0" sz="1400" u="none" cap="none" strike="noStrike">
                <a:solidFill>
                  <a:srgbClr val="000000"/>
                </a:solidFill>
                <a:latin typeface="Arial"/>
                <a:ea typeface="Arial"/>
                <a:cs typeface="Arial"/>
                <a:sym typeface="Arial"/>
              </a:endParaRPr>
            </a:p>
          </p:txBody>
        </p:sp>
      </p:grpSp>
      <p:grpSp>
        <p:nvGrpSpPr>
          <p:cNvPr id="113" name="Google Shape;113;p2"/>
          <p:cNvGrpSpPr/>
          <p:nvPr/>
        </p:nvGrpSpPr>
        <p:grpSpPr>
          <a:xfrm>
            <a:off x="176619" y="5444302"/>
            <a:ext cx="4613551" cy="845385"/>
            <a:chOff x="0" y="-76200"/>
            <a:chExt cx="1964221" cy="359923"/>
          </a:xfrm>
        </p:grpSpPr>
        <p:sp>
          <p:nvSpPr>
            <p:cNvPr id="114" name="Google Shape;114;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5" name="Google Shape;115;p2"/>
            <p:cNvSpPr txBox="1"/>
            <p:nvPr/>
          </p:nvSpPr>
          <p:spPr>
            <a:xfrm>
              <a:off x="64883"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Anuncios</a:t>
              </a:r>
              <a:endParaRPr b="0" i="0" sz="1400" u="none" cap="none" strike="noStrike">
                <a:solidFill>
                  <a:srgbClr val="000000"/>
                </a:solidFill>
                <a:latin typeface="Arial"/>
                <a:ea typeface="Arial"/>
                <a:cs typeface="Arial"/>
                <a:sym typeface="Arial"/>
              </a:endParaRPr>
            </a:p>
          </p:txBody>
        </p:sp>
      </p:grpSp>
      <p:grpSp>
        <p:nvGrpSpPr>
          <p:cNvPr id="116" name="Google Shape;116;p2"/>
          <p:cNvGrpSpPr/>
          <p:nvPr/>
        </p:nvGrpSpPr>
        <p:grpSpPr>
          <a:xfrm>
            <a:off x="176619" y="6425875"/>
            <a:ext cx="5433658" cy="845385"/>
            <a:chOff x="0" y="-76200"/>
            <a:chExt cx="2313383" cy="359923"/>
          </a:xfrm>
        </p:grpSpPr>
        <p:sp>
          <p:nvSpPr>
            <p:cNvPr id="117" name="Google Shape;117;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8" name="Google Shape;118;p2"/>
            <p:cNvSpPr txBox="1"/>
            <p:nvPr/>
          </p:nvSpPr>
          <p:spPr>
            <a:xfrm>
              <a:off x="463462"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Contenido Laboratorio</a:t>
              </a:r>
              <a:endParaRPr b="0" i="0" sz="1400" u="none" cap="none" strike="noStrike">
                <a:solidFill>
                  <a:srgbClr val="000000"/>
                </a:solidFill>
                <a:latin typeface="Arial"/>
                <a:ea typeface="Arial"/>
                <a:cs typeface="Arial"/>
                <a:sym typeface="Arial"/>
              </a:endParaRPr>
            </a:p>
          </p:txBody>
        </p:sp>
      </p:grpSp>
      <p:grpSp>
        <p:nvGrpSpPr>
          <p:cNvPr id="119" name="Google Shape;119;p2"/>
          <p:cNvGrpSpPr/>
          <p:nvPr/>
        </p:nvGrpSpPr>
        <p:grpSpPr>
          <a:xfrm>
            <a:off x="176619" y="7349457"/>
            <a:ext cx="5237713" cy="845385"/>
            <a:chOff x="0" y="-76200"/>
            <a:chExt cx="2229959" cy="359923"/>
          </a:xfrm>
        </p:grpSpPr>
        <p:sp>
          <p:nvSpPr>
            <p:cNvPr id="120" name="Google Shape;120;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1" name="Google Shape;121;p2"/>
            <p:cNvSpPr txBox="1"/>
            <p:nvPr/>
          </p:nvSpPr>
          <p:spPr>
            <a:xfrm>
              <a:off x="380038"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Lectura Explicativa</a:t>
              </a:r>
              <a:endParaRPr b="0" i="0" sz="1400" u="none" cap="none" strike="noStrike">
                <a:solidFill>
                  <a:srgbClr val="000000"/>
                </a:solidFill>
                <a:latin typeface="Arial"/>
                <a:ea typeface="Arial"/>
                <a:cs typeface="Arial"/>
                <a:sym typeface="Arial"/>
              </a:endParaRPr>
            </a:p>
          </p:txBody>
        </p:sp>
      </p:grpSp>
      <p:grpSp>
        <p:nvGrpSpPr>
          <p:cNvPr id="122" name="Google Shape;122;p2"/>
          <p:cNvGrpSpPr/>
          <p:nvPr/>
        </p:nvGrpSpPr>
        <p:grpSpPr>
          <a:xfrm>
            <a:off x="176619" y="8412915"/>
            <a:ext cx="4998222" cy="845385"/>
            <a:chOff x="0" y="-76200"/>
            <a:chExt cx="2127995" cy="359923"/>
          </a:xfrm>
        </p:grpSpPr>
        <p:sp>
          <p:nvSpPr>
            <p:cNvPr id="123" name="Google Shape;123;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4" name="Google Shape;124;p2"/>
            <p:cNvSpPr txBox="1"/>
            <p:nvPr/>
          </p:nvSpPr>
          <p:spPr>
            <a:xfrm>
              <a:off x="278074"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Dudas del tema</a:t>
              </a:r>
              <a:endParaRPr b="0" i="0" sz="1400" u="none" cap="none" strike="noStrike">
                <a:solidFill>
                  <a:srgbClr val="000000"/>
                </a:solidFill>
                <a:latin typeface="Arial"/>
                <a:ea typeface="Arial"/>
                <a:cs typeface="Arial"/>
                <a:sym typeface="Arial"/>
              </a:endParaRPr>
            </a:p>
          </p:txBody>
        </p:sp>
      </p:grpSp>
      <p:sp>
        <p:nvSpPr>
          <p:cNvPr id="125" name="Google Shape;125;p2"/>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6" name="Google Shape;126;p2"/>
          <p:cNvSpPr/>
          <p:nvPr/>
        </p:nvSpPr>
        <p:spPr>
          <a:xfrm>
            <a:off x="878654" y="660485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7" name="Google Shape;127;p2"/>
          <p:cNvSpPr/>
          <p:nvPr/>
        </p:nvSpPr>
        <p:spPr>
          <a:xfrm>
            <a:off x="878654" y="760463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8" name="Google Shape;128;p2"/>
          <p:cNvSpPr/>
          <p:nvPr/>
        </p:nvSpPr>
        <p:spPr>
          <a:xfrm>
            <a:off x="878654" y="8605540"/>
            <a:ext cx="453358" cy="550094"/>
          </a:xfrm>
          <a:custGeom>
            <a:rect b="b" l="l" r="r" t="t"/>
            <a:pathLst>
              <a:path extrusionOk="0" h="550094" w="453358">
                <a:moveTo>
                  <a:pt x="0" y="0"/>
                </a:moveTo>
                <a:lnTo>
                  <a:pt x="453359" y="0"/>
                </a:lnTo>
                <a:lnTo>
                  <a:pt x="453359" y="550095"/>
                </a:lnTo>
                <a:lnTo>
                  <a:pt x="0" y="550095"/>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2" name="Shape 132"/>
        <p:cNvGrpSpPr/>
        <p:nvPr/>
      </p:nvGrpSpPr>
      <p:grpSpPr>
        <a:xfrm>
          <a:off x="0" y="0"/>
          <a:ext cx="0" cy="0"/>
          <a:chOff x="0" y="0"/>
          <a:chExt cx="0" cy="0"/>
        </a:xfrm>
      </p:grpSpPr>
      <p:sp>
        <p:nvSpPr>
          <p:cNvPr id="133" name="Google Shape;133;p3"/>
          <p:cNvSpPr/>
          <p:nvPr/>
        </p:nvSpPr>
        <p:spPr>
          <a:xfrm>
            <a:off x="0" y="0"/>
            <a:ext cx="18288000"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4" name="Google Shape;134;p3"/>
          <p:cNvSpPr/>
          <p:nvPr/>
        </p:nvSpPr>
        <p:spPr>
          <a:xfrm flipH="1">
            <a:off x="3" y="0"/>
            <a:ext cx="18287997" cy="3255046"/>
          </a:xfrm>
          <a:prstGeom prst="rect">
            <a:avLst/>
          </a:prstGeom>
          <a:gradFill>
            <a:gsLst>
              <a:gs pos="0">
                <a:srgbClr val="000000">
                  <a:alpha val="95686"/>
                </a:srgbClr>
              </a:gs>
              <a:gs pos="100000">
                <a:srgbClr val="366092"/>
              </a:gs>
            </a:gsLst>
            <a:lin ang="19799999"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5" name="Google Shape;135;p3"/>
          <p:cNvSpPr/>
          <p:nvPr/>
        </p:nvSpPr>
        <p:spPr>
          <a:xfrm flipH="1">
            <a:off x="12124228" y="0"/>
            <a:ext cx="6145817" cy="3255991"/>
          </a:xfrm>
          <a:prstGeom prst="rect">
            <a:avLst/>
          </a:prstGeom>
          <a:gradFill>
            <a:gsLst>
              <a:gs pos="0">
                <a:srgbClr val="244061">
                  <a:alpha val="67843"/>
                </a:srgbClr>
              </a:gs>
              <a:gs pos="19000">
                <a:srgbClr val="244061">
                  <a:alpha val="67843"/>
                </a:srgbClr>
              </a:gs>
              <a:gs pos="100000">
                <a:srgbClr val="4F81BD">
                  <a:alpha val="47843"/>
                </a:srgbClr>
              </a:gs>
            </a:gsLst>
            <a:lin ang="19199999"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6" name="Google Shape;136;p3"/>
          <p:cNvSpPr/>
          <p:nvPr/>
        </p:nvSpPr>
        <p:spPr>
          <a:xfrm flipH="1" rot="-5400000">
            <a:off x="7515969" y="-7515065"/>
            <a:ext cx="3256064" cy="18288000"/>
          </a:xfrm>
          <a:prstGeom prst="rect">
            <a:avLst/>
          </a:prstGeom>
          <a:gradFill>
            <a:gsLst>
              <a:gs pos="0">
                <a:srgbClr val="366092">
                  <a:alpha val="15686"/>
                </a:srgbClr>
              </a:gs>
              <a:gs pos="23000">
                <a:srgbClr val="366092">
                  <a:alpha val="15686"/>
                </a:srgbClr>
              </a:gs>
              <a:gs pos="99000">
                <a:srgbClr val="000000">
                  <a:alpha val="44705"/>
                </a:srgbClr>
              </a:gs>
              <a:gs pos="100000">
                <a:srgbClr val="000000">
                  <a:alpha val="44705"/>
                </a:srgbClr>
              </a:gs>
            </a:gsLst>
            <a:lin ang="21000001"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7" name="Google Shape;137;p3"/>
          <p:cNvSpPr txBox="1"/>
          <p:nvPr/>
        </p:nvSpPr>
        <p:spPr>
          <a:xfrm>
            <a:off x="2075346" y="523297"/>
            <a:ext cx="14577166" cy="2364669"/>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600"/>
              </a:spcAft>
              <a:buNone/>
            </a:pPr>
            <a:r>
              <a:rPr b="0" i="0" lang="en-US" sz="6000" u="none" cap="none" strike="noStrike">
                <a:solidFill>
                  <a:srgbClr val="FFFFFF"/>
                </a:solidFill>
                <a:latin typeface="Arial"/>
                <a:ea typeface="Arial"/>
                <a:cs typeface="Arial"/>
                <a:sym typeface="Arial"/>
              </a:rPr>
              <a:t>COMPETENCIA(S) QUE DESARROLLAREMOS</a:t>
            </a:r>
            <a:endParaRPr b="0" i="0" sz="6000" u="none" cap="none" strike="noStrike">
              <a:solidFill>
                <a:srgbClr val="FFFFFF"/>
              </a:solidFill>
              <a:latin typeface="Arial"/>
              <a:ea typeface="Arial"/>
              <a:cs typeface="Arial"/>
              <a:sym typeface="Arial"/>
            </a:endParaRPr>
          </a:p>
        </p:txBody>
      </p:sp>
      <p:grpSp>
        <p:nvGrpSpPr>
          <p:cNvPr id="138" name="Google Shape;138;p3"/>
          <p:cNvGrpSpPr/>
          <p:nvPr/>
        </p:nvGrpSpPr>
        <p:grpSpPr>
          <a:xfrm>
            <a:off x="968084" y="4090443"/>
            <a:ext cx="16387741" cy="5201156"/>
            <a:chOff x="2000" y="166475"/>
            <a:chExt cx="16387741" cy="5201156"/>
          </a:xfrm>
        </p:grpSpPr>
        <p:sp>
          <p:nvSpPr>
            <p:cNvPr id="139" name="Google Shape;139;p3"/>
            <p:cNvSpPr/>
            <p:nvPr/>
          </p:nvSpPr>
          <p:spPr>
            <a:xfrm>
              <a:off x="2000" y="166475"/>
              <a:ext cx="7023317" cy="4459806"/>
            </a:xfrm>
            <a:prstGeom prst="roundRect">
              <a:avLst>
                <a:gd fmla="val 10000" name="adj"/>
              </a:avLst>
            </a:prstGeom>
            <a:solidFill>
              <a:schemeClr val="accent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3"/>
            <p:cNvSpPr/>
            <p:nvPr/>
          </p:nvSpPr>
          <p:spPr>
            <a:xfrm>
              <a:off x="782369" y="907825"/>
              <a:ext cx="7023317" cy="4459806"/>
            </a:xfrm>
            <a:prstGeom prst="roundRect">
              <a:avLst>
                <a:gd fmla="val 10000" name="adj"/>
              </a:avLst>
            </a:prstGeom>
            <a:solidFill>
              <a:schemeClr val="lt1">
                <a:alpha val="89803"/>
              </a:schemeClr>
            </a:solidFill>
            <a:ln cap="flat" cmpd="sng" w="254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3"/>
            <p:cNvSpPr txBox="1"/>
            <p:nvPr/>
          </p:nvSpPr>
          <p:spPr>
            <a:xfrm>
              <a:off x="912992" y="1038448"/>
              <a:ext cx="6762071" cy="4198560"/>
            </a:xfrm>
            <a:prstGeom prst="rect">
              <a:avLst/>
            </a:prstGeom>
            <a:noFill/>
            <a:ln>
              <a:noFill/>
            </a:ln>
          </p:spPr>
          <p:txBody>
            <a:bodyPr anchorCtr="0" anchor="ctr" bIns="125725" lIns="125725" spcFirstLastPara="1" rIns="125725" wrap="square" tIns="125725">
              <a:noAutofit/>
            </a:bodyPr>
            <a:lstStyle/>
            <a:p>
              <a:pPr indent="0" lvl="0" marL="0" marR="0" rtl="0" algn="ctr">
                <a:lnSpc>
                  <a:spcPct val="90000"/>
                </a:lnSpc>
                <a:spcBef>
                  <a:spcPts val="0"/>
                </a:spcBef>
                <a:spcAft>
                  <a:spcPts val="0"/>
                </a:spcAft>
                <a:buClr>
                  <a:srgbClr val="000000"/>
                </a:buClr>
                <a:buSzPts val="3300"/>
                <a:buFont typeface="Arial"/>
                <a:buNone/>
              </a:pPr>
              <a:r>
                <a:rPr b="0" i="0" lang="en-US" sz="3300" u="none" cap="none" strike="noStrike">
                  <a:solidFill>
                    <a:srgbClr val="000000"/>
                  </a:solidFill>
                  <a:latin typeface="Arial"/>
                  <a:ea typeface="Arial"/>
                  <a:cs typeface="Arial"/>
                  <a:sym typeface="Arial"/>
                </a:rPr>
                <a:t>Implementa Estructuras de Control  procedimientos en VB.NET mediante variables condicionales  ciclos para desarrollar soluciones informáticas que automaticen procesos de gestión de datos.</a:t>
              </a:r>
              <a:endParaRPr b="0" i="0" sz="3300" u="none" cap="none" strike="noStrike">
                <a:solidFill>
                  <a:srgbClr val="000000"/>
                </a:solidFill>
                <a:latin typeface="Arial"/>
                <a:ea typeface="Arial"/>
                <a:cs typeface="Arial"/>
                <a:sym typeface="Arial"/>
              </a:endParaRPr>
            </a:p>
          </p:txBody>
        </p:sp>
        <p:sp>
          <p:nvSpPr>
            <p:cNvPr id="142" name="Google Shape;142;p3"/>
            <p:cNvSpPr/>
            <p:nvPr/>
          </p:nvSpPr>
          <p:spPr>
            <a:xfrm>
              <a:off x="8586055" y="166475"/>
              <a:ext cx="7023317" cy="4459806"/>
            </a:xfrm>
            <a:prstGeom prst="roundRect">
              <a:avLst>
                <a:gd fmla="val 10000" name="adj"/>
              </a:avLst>
            </a:prstGeom>
            <a:solidFill>
              <a:schemeClr val="accent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3"/>
            <p:cNvSpPr/>
            <p:nvPr/>
          </p:nvSpPr>
          <p:spPr>
            <a:xfrm>
              <a:off x="9366424" y="907825"/>
              <a:ext cx="7023317" cy="4459806"/>
            </a:xfrm>
            <a:prstGeom prst="roundRect">
              <a:avLst>
                <a:gd fmla="val 10000" name="adj"/>
              </a:avLst>
            </a:prstGeom>
            <a:solidFill>
              <a:schemeClr val="lt1">
                <a:alpha val="89803"/>
              </a:schemeClr>
            </a:solidFill>
            <a:ln cap="flat" cmpd="sng" w="254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3"/>
            <p:cNvSpPr txBox="1"/>
            <p:nvPr/>
          </p:nvSpPr>
          <p:spPr>
            <a:xfrm>
              <a:off x="9497047" y="1038448"/>
              <a:ext cx="6762071" cy="4198560"/>
            </a:xfrm>
            <a:prstGeom prst="rect">
              <a:avLst/>
            </a:prstGeom>
            <a:noFill/>
            <a:ln>
              <a:noFill/>
            </a:ln>
          </p:spPr>
          <p:txBody>
            <a:bodyPr anchorCtr="0" anchor="ctr" bIns="125725" lIns="125725" spcFirstLastPara="1" rIns="125725" wrap="square" tIns="125725">
              <a:noAutofit/>
            </a:bodyPr>
            <a:lstStyle/>
            <a:p>
              <a:pPr indent="0" lvl="0" marL="0" marR="0" rtl="0" algn="ctr">
                <a:lnSpc>
                  <a:spcPct val="90000"/>
                </a:lnSpc>
                <a:spcBef>
                  <a:spcPts val="0"/>
                </a:spcBef>
                <a:spcAft>
                  <a:spcPts val="0"/>
                </a:spcAft>
                <a:buClr>
                  <a:srgbClr val="000000"/>
                </a:buClr>
                <a:buSzPts val="3300"/>
                <a:buFont typeface="Arial"/>
                <a:buNone/>
              </a:pPr>
              <a:r>
                <a:rPr b="0" i="0" lang="en-US" sz="3300" u="none" cap="none" strike="noStrike">
                  <a:solidFill>
                    <a:srgbClr val="000000"/>
                  </a:solidFill>
                  <a:latin typeface="Arial"/>
                  <a:ea typeface="Arial"/>
                  <a:cs typeface="Arial"/>
                  <a:sym typeface="Arial"/>
                </a:rPr>
                <a:t>Mejorar la calidad de soluciones iniciales de programación mediante el uso ético y responsable de herramientas tecnológicas básicas para fomentar buenas practicas en la gestión de recursos computacionales en proyectos de automatización.</a:t>
              </a:r>
              <a:endParaRPr b="0" i="0" sz="3300" u="none" cap="none" strike="noStrike">
                <a:solidFill>
                  <a:srgbClr val="000000"/>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48" name="Shape 148"/>
        <p:cNvGrpSpPr/>
        <p:nvPr/>
      </p:nvGrpSpPr>
      <p:grpSpPr>
        <a:xfrm>
          <a:off x="0" y="0"/>
          <a:ext cx="0" cy="0"/>
          <a:chOff x="0" y="0"/>
          <a:chExt cx="0" cy="0"/>
        </a:xfrm>
      </p:grpSpPr>
      <p:sp>
        <p:nvSpPr>
          <p:cNvPr id="149" name="Google Shape;149;p4"/>
          <p:cNvSpPr/>
          <p:nvPr/>
        </p:nvSpPr>
        <p:spPr>
          <a:xfrm>
            <a:off x="4572" y="0"/>
            <a:ext cx="18283428" cy="10287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0" name="Google Shape;150;p4"/>
          <p:cNvSpPr/>
          <p:nvPr/>
        </p:nvSpPr>
        <p:spPr>
          <a:xfrm>
            <a:off x="2286" y="0"/>
            <a:ext cx="18283428" cy="10287000"/>
          </a:xfrm>
          <a:prstGeom prst="rect">
            <a:avLst/>
          </a:prstGeom>
          <a:solidFill>
            <a:schemeClr val="dk1">
              <a:alpha val="5294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151" name="Google Shape;151;p4"/>
          <p:cNvGrpSpPr/>
          <p:nvPr/>
        </p:nvGrpSpPr>
        <p:grpSpPr>
          <a:xfrm rot="-5400000">
            <a:off x="252222" y="1346236"/>
            <a:ext cx="304800" cy="644652"/>
            <a:chOff x="215328" y="-46937"/>
            <a:chExt cx="304800" cy="2773841"/>
          </a:xfrm>
        </p:grpSpPr>
        <p:cxnSp>
          <p:nvCxnSpPr>
            <p:cNvPr id="152" name="Google Shape;152;p4"/>
            <p:cNvCxnSpPr/>
            <p:nvPr/>
          </p:nvCxnSpPr>
          <p:spPr>
            <a:xfrm>
              <a:off x="215328" y="-46937"/>
              <a:ext cx="0" cy="2773841"/>
            </a:xfrm>
            <a:prstGeom prst="straightConnector1">
              <a:avLst/>
            </a:prstGeom>
            <a:noFill/>
            <a:ln cap="flat" cmpd="sng" w="25400">
              <a:solidFill>
                <a:srgbClr val="538CD5">
                  <a:alpha val="49803"/>
                </a:srgbClr>
              </a:solidFill>
              <a:prstDash val="dot"/>
              <a:round/>
              <a:headEnd len="sm" w="sm" type="none"/>
              <a:tailEnd len="sm" w="sm" type="none"/>
            </a:ln>
          </p:spPr>
        </p:cxnSp>
        <p:cxnSp>
          <p:nvCxnSpPr>
            <p:cNvPr id="153" name="Google Shape;153;p4"/>
            <p:cNvCxnSpPr/>
            <p:nvPr/>
          </p:nvCxnSpPr>
          <p:spPr>
            <a:xfrm>
              <a:off x="316928" y="-46937"/>
              <a:ext cx="0" cy="2773841"/>
            </a:xfrm>
            <a:prstGeom prst="straightConnector1">
              <a:avLst/>
            </a:prstGeom>
            <a:noFill/>
            <a:ln cap="flat" cmpd="sng" w="25400">
              <a:solidFill>
                <a:srgbClr val="538CD5">
                  <a:alpha val="49803"/>
                </a:srgbClr>
              </a:solidFill>
              <a:prstDash val="dot"/>
              <a:round/>
              <a:headEnd len="sm" w="sm" type="none"/>
              <a:tailEnd len="sm" w="sm" type="none"/>
            </a:ln>
          </p:spPr>
        </p:cxnSp>
        <p:cxnSp>
          <p:nvCxnSpPr>
            <p:cNvPr id="154" name="Google Shape;154;p4"/>
            <p:cNvCxnSpPr/>
            <p:nvPr/>
          </p:nvCxnSpPr>
          <p:spPr>
            <a:xfrm>
              <a:off x="418528" y="-46937"/>
              <a:ext cx="0" cy="2773841"/>
            </a:xfrm>
            <a:prstGeom prst="straightConnector1">
              <a:avLst/>
            </a:prstGeom>
            <a:noFill/>
            <a:ln cap="flat" cmpd="sng" w="25400">
              <a:solidFill>
                <a:srgbClr val="538CD5">
                  <a:alpha val="49803"/>
                </a:srgbClr>
              </a:solidFill>
              <a:prstDash val="dot"/>
              <a:round/>
              <a:headEnd len="sm" w="sm" type="none"/>
              <a:tailEnd len="sm" w="sm" type="none"/>
            </a:ln>
          </p:spPr>
        </p:cxnSp>
        <p:cxnSp>
          <p:nvCxnSpPr>
            <p:cNvPr id="155" name="Google Shape;155;p4"/>
            <p:cNvCxnSpPr/>
            <p:nvPr/>
          </p:nvCxnSpPr>
          <p:spPr>
            <a:xfrm>
              <a:off x="520128" y="-46937"/>
              <a:ext cx="0" cy="2773841"/>
            </a:xfrm>
            <a:prstGeom prst="straightConnector1">
              <a:avLst/>
            </a:prstGeom>
            <a:noFill/>
            <a:ln cap="flat" cmpd="sng" w="25400">
              <a:solidFill>
                <a:srgbClr val="538CD5">
                  <a:alpha val="49803"/>
                </a:srgbClr>
              </a:solidFill>
              <a:prstDash val="dot"/>
              <a:round/>
              <a:headEnd len="sm" w="sm" type="none"/>
              <a:tailEnd len="sm" w="sm" type="none"/>
            </a:ln>
          </p:spPr>
        </p:cxnSp>
      </p:grpSp>
      <p:grpSp>
        <p:nvGrpSpPr>
          <p:cNvPr id="156" name="Google Shape;156;p4"/>
          <p:cNvGrpSpPr/>
          <p:nvPr/>
        </p:nvGrpSpPr>
        <p:grpSpPr>
          <a:xfrm>
            <a:off x="1" y="3113131"/>
            <a:ext cx="18594101" cy="6660966"/>
            <a:chOff x="1" y="2075420"/>
            <a:chExt cx="12396066" cy="4440643"/>
          </a:xfrm>
        </p:grpSpPr>
        <p:sp>
          <p:nvSpPr>
            <p:cNvPr id="157" name="Google Shape;157;p4"/>
            <p:cNvSpPr/>
            <p:nvPr/>
          </p:nvSpPr>
          <p:spPr>
            <a:xfrm rot="4500000">
              <a:off x="7942191" y="2507571"/>
              <a:ext cx="3563871" cy="3563871"/>
            </a:xfrm>
            <a:prstGeom prst="ellipse">
              <a:avLst/>
            </a:prstGeom>
            <a:noFill/>
            <a:ln cap="flat" cmpd="sng" w="31750">
              <a:solidFill>
                <a:srgbClr val="F4F3EC">
                  <a:alpha val="9803"/>
                </a:srgbClr>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8" name="Google Shape;158;p4"/>
            <p:cNvSpPr/>
            <p:nvPr/>
          </p:nvSpPr>
          <p:spPr>
            <a:xfrm rot="-5400000">
              <a:off x="10435065" y="4048931"/>
              <a:ext cx="1381607" cy="1381607"/>
            </a:xfrm>
            <a:prstGeom prst="ellipse">
              <a:avLst/>
            </a:prstGeom>
            <a:noFill/>
            <a:ln cap="flat" cmpd="sng" w="31750">
              <a:solidFill>
                <a:srgbClr val="F4F3EC">
                  <a:alpha val="20000"/>
                </a:srgbClr>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9" name="Google Shape;159;p4"/>
            <p:cNvSpPr/>
            <p:nvPr/>
          </p:nvSpPr>
          <p:spPr>
            <a:xfrm rot="-5400000">
              <a:off x="1" y="2075420"/>
              <a:ext cx="3144364" cy="3144364"/>
            </a:xfrm>
            <a:prstGeom prst="ellipse">
              <a:avLst/>
            </a:prstGeom>
            <a:gradFill>
              <a:gsLst>
                <a:gs pos="0">
                  <a:srgbClr val="C4BD97">
                    <a:alpha val="20000"/>
                  </a:srgbClr>
                </a:gs>
                <a:gs pos="100000">
                  <a:srgbClr val="938953">
                    <a:alpha val="9803"/>
                  </a:srgbClr>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0" name="Google Shape;160;p4"/>
            <p:cNvSpPr/>
            <p:nvPr/>
          </p:nvSpPr>
          <p:spPr>
            <a:xfrm rot="-9000000">
              <a:off x="10150845" y="4270841"/>
              <a:ext cx="1897885" cy="1897885"/>
            </a:xfrm>
            <a:prstGeom prst="ellipse">
              <a:avLst/>
            </a:prstGeom>
            <a:gradFill>
              <a:gsLst>
                <a:gs pos="0">
                  <a:srgbClr val="C4BD97">
                    <a:alpha val="9803"/>
                  </a:srgbClr>
                </a:gs>
                <a:gs pos="100000">
                  <a:srgbClr val="C4BD97">
                    <a:alpha val="20000"/>
                  </a:srgbClr>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1" name="Google Shape;161;p4"/>
            <p:cNvSpPr/>
            <p:nvPr/>
          </p:nvSpPr>
          <p:spPr>
            <a:xfrm rot="4500000">
              <a:off x="2046780" y="3040492"/>
              <a:ext cx="2579322" cy="2579322"/>
            </a:xfrm>
            <a:prstGeom prst="ellipse">
              <a:avLst/>
            </a:prstGeom>
            <a:noFill/>
            <a:ln cap="flat" cmpd="sng" w="31750">
              <a:solidFill>
                <a:srgbClr val="F4F3EC">
                  <a:alpha val="20000"/>
                </a:srgbClr>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2" name="Google Shape;162;p4"/>
            <p:cNvSpPr/>
            <p:nvPr/>
          </p:nvSpPr>
          <p:spPr>
            <a:xfrm rot="4500000">
              <a:off x="2224640" y="3193975"/>
              <a:ext cx="2243193" cy="2243193"/>
            </a:xfrm>
            <a:prstGeom prst="ellipse">
              <a:avLst/>
            </a:prstGeom>
            <a:noFill/>
            <a:ln cap="flat" cmpd="sng" w="31750">
              <a:solidFill>
                <a:srgbClr val="F4F3EC">
                  <a:alpha val="980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163" name="Google Shape;163;p4"/>
          <p:cNvSpPr/>
          <p:nvPr/>
        </p:nvSpPr>
        <p:spPr>
          <a:xfrm rot="-5400000">
            <a:off x="15657219" y="1563908"/>
            <a:ext cx="4194692" cy="1066878"/>
          </a:xfrm>
          <a:prstGeom prst="rect">
            <a:avLst/>
          </a:prstGeom>
          <a:gradFill>
            <a:gsLst>
              <a:gs pos="0">
                <a:srgbClr val="F7F6F2">
                  <a:alpha val="0"/>
                </a:srgbClr>
              </a:gs>
              <a:gs pos="100000">
                <a:srgbClr val="C4BD97">
                  <a:alpha val="9803"/>
                </a:srgbClr>
              </a:gs>
            </a:gsLst>
            <a:lin ang="8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164" name="Google Shape;164;p4"/>
          <p:cNvGrpSpPr/>
          <p:nvPr/>
        </p:nvGrpSpPr>
        <p:grpSpPr>
          <a:xfrm>
            <a:off x="16889308" y="-1280992"/>
            <a:ext cx="822960" cy="549007"/>
            <a:chOff x="7029447" y="3514725"/>
            <a:chExt cx="1285875" cy="549007"/>
          </a:xfrm>
        </p:grpSpPr>
        <p:cxnSp>
          <p:nvCxnSpPr>
            <p:cNvPr id="165" name="Google Shape;165;p4"/>
            <p:cNvCxnSpPr/>
            <p:nvPr/>
          </p:nvCxnSpPr>
          <p:spPr>
            <a:xfrm>
              <a:off x="7029447" y="3514725"/>
              <a:ext cx="1285875" cy="0"/>
            </a:xfrm>
            <a:prstGeom prst="straightConnector1">
              <a:avLst/>
            </a:prstGeom>
            <a:noFill/>
            <a:ln cap="rnd" cmpd="sng" w="31750">
              <a:solidFill>
                <a:srgbClr val="F4F3EC">
                  <a:alpha val="40000"/>
                </a:srgbClr>
              </a:solidFill>
              <a:prstDash val="dot"/>
              <a:round/>
              <a:headEnd len="sm" w="sm" type="none"/>
              <a:tailEnd len="sm" w="sm" type="none"/>
            </a:ln>
          </p:spPr>
        </p:cxnSp>
        <p:cxnSp>
          <p:nvCxnSpPr>
            <p:cNvPr id="166" name="Google Shape;166;p4"/>
            <p:cNvCxnSpPr/>
            <p:nvPr/>
          </p:nvCxnSpPr>
          <p:spPr>
            <a:xfrm>
              <a:off x="7029447" y="3697727"/>
              <a:ext cx="1285875" cy="0"/>
            </a:xfrm>
            <a:prstGeom prst="straightConnector1">
              <a:avLst/>
            </a:prstGeom>
            <a:noFill/>
            <a:ln cap="rnd" cmpd="sng" w="31750">
              <a:solidFill>
                <a:srgbClr val="F4F3EC">
                  <a:alpha val="40000"/>
                </a:srgbClr>
              </a:solidFill>
              <a:prstDash val="dot"/>
              <a:round/>
              <a:headEnd len="sm" w="sm" type="none"/>
              <a:tailEnd len="sm" w="sm" type="none"/>
            </a:ln>
          </p:spPr>
        </p:cxnSp>
        <p:cxnSp>
          <p:nvCxnSpPr>
            <p:cNvPr id="167" name="Google Shape;167;p4"/>
            <p:cNvCxnSpPr/>
            <p:nvPr/>
          </p:nvCxnSpPr>
          <p:spPr>
            <a:xfrm>
              <a:off x="7029447" y="3880729"/>
              <a:ext cx="1285875" cy="0"/>
            </a:xfrm>
            <a:prstGeom prst="straightConnector1">
              <a:avLst/>
            </a:prstGeom>
            <a:noFill/>
            <a:ln cap="rnd" cmpd="sng" w="31750">
              <a:solidFill>
                <a:srgbClr val="F4F3EC">
                  <a:alpha val="40000"/>
                </a:srgbClr>
              </a:solidFill>
              <a:prstDash val="dot"/>
              <a:round/>
              <a:headEnd len="sm" w="sm" type="none"/>
              <a:tailEnd len="sm" w="sm" type="none"/>
            </a:ln>
          </p:spPr>
        </p:cxnSp>
        <p:cxnSp>
          <p:nvCxnSpPr>
            <p:cNvPr id="168" name="Google Shape;168;p4"/>
            <p:cNvCxnSpPr/>
            <p:nvPr/>
          </p:nvCxnSpPr>
          <p:spPr>
            <a:xfrm>
              <a:off x="7029447" y="4063732"/>
              <a:ext cx="1285875" cy="0"/>
            </a:xfrm>
            <a:prstGeom prst="straightConnector1">
              <a:avLst/>
            </a:prstGeom>
            <a:noFill/>
            <a:ln cap="rnd" cmpd="sng" w="31750">
              <a:solidFill>
                <a:srgbClr val="F4F3EC">
                  <a:alpha val="40000"/>
                </a:srgbClr>
              </a:solidFill>
              <a:prstDash val="dot"/>
              <a:round/>
              <a:headEnd len="sm" w="sm" type="none"/>
              <a:tailEnd len="sm" w="sm" type="none"/>
            </a:ln>
          </p:spPr>
        </p:cxnSp>
      </p:grpSp>
      <p:sp>
        <p:nvSpPr>
          <p:cNvPr id="169" name="Google Shape;169;p4"/>
          <p:cNvSpPr/>
          <p:nvPr/>
        </p:nvSpPr>
        <p:spPr>
          <a:xfrm rot="10800000">
            <a:off x="-1" y="9211177"/>
            <a:ext cx="9143995" cy="1066878"/>
          </a:xfrm>
          <a:prstGeom prst="rect">
            <a:avLst/>
          </a:prstGeom>
          <a:gradFill>
            <a:gsLst>
              <a:gs pos="0">
                <a:srgbClr val="938953">
                  <a:alpha val="9803"/>
                </a:srgbClr>
              </a:gs>
              <a:gs pos="10000">
                <a:srgbClr val="938953">
                  <a:alpha val="9803"/>
                </a:srgbClr>
              </a:gs>
              <a:gs pos="100000">
                <a:srgbClr val="F4F3EC">
                  <a:alpha val="0"/>
                </a:srgbClr>
              </a:gs>
            </a:gsLst>
            <a:lin ang="8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170" name="Google Shape;170;p4"/>
          <p:cNvGrpSpPr/>
          <p:nvPr/>
        </p:nvGrpSpPr>
        <p:grpSpPr>
          <a:xfrm rot="5400000">
            <a:off x="2819134" y="9048092"/>
            <a:ext cx="1928813" cy="549007"/>
            <a:chOff x="7029447" y="3514725"/>
            <a:chExt cx="1285875" cy="549007"/>
          </a:xfrm>
        </p:grpSpPr>
        <p:cxnSp>
          <p:nvCxnSpPr>
            <p:cNvPr id="171" name="Google Shape;171;p4"/>
            <p:cNvCxnSpPr/>
            <p:nvPr/>
          </p:nvCxnSpPr>
          <p:spPr>
            <a:xfrm>
              <a:off x="7029447" y="3514725"/>
              <a:ext cx="1285875" cy="0"/>
            </a:xfrm>
            <a:prstGeom prst="straightConnector1">
              <a:avLst/>
            </a:prstGeom>
            <a:noFill/>
            <a:ln cap="rnd" cmpd="sng" w="31750">
              <a:solidFill>
                <a:srgbClr val="F4F3EC">
                  <a:alpha val="40000"/>
                </a:srgbClr>
              </a:solidFill>
              <a:prstDash val="dot"/>
              <a:round/>
              <a:headEnd len="sm" w="sm" type="none"/>
              <a:tailEnd len="sm" w="sm" type="none"/>
            </a:ln>
          </p:spPr>
        </p:cxnSp>
        <p:cxnSp>
          <p:nvCxnSpPr>
            <p:cNvPr id="172" name="Google Shape;172;p4"/>
            <p:cNvCxnSpPr/>
            <p:nvPr/>
          </p:nvCxnSpPr>
          <p:spPr>
            <a:xfrm>
              <a:off x="7029447" y="3697727"/>
              <a:ext cx="1285875" cy="0"/>
            </a:xfrm>
            <a:prstGeom prst="straightConnector1">
              <a:avLst/>
            </a:prstGeom>
            <a:noFill/>
            <a:ln cap="rnd" cmpd="sng" w="31750">
              <a:solidFill>
                <a:srgbClr val="F4F3EC">
                  <a:alpha val="40000"/>
                </a:srgbClr>
              </a:solidFill>
              <a:prstDash val="dot"/>
              <a:round/>
              <a:headEnd len="sm" w="sm" type="none"/>
              <a:tailEnd len="sm" w="sm" type="none"/>
            </a:ln>
          </p:spPr>
        </p:cxnSp>
        <p:cxnSp>
          <p:nvCxnSpPr>
            <p:cNvPr id="173" name="Google Shape;173;p4"/>
            <p:cNvCxnSpPr/>
            <p:nvPr/>
          </p:nvCxnSpPr>
          <p:spPr>
            <a:xfrm>
              <a:off x="7029447" y="3880729"/>
              <a:ext cx="1285875" cy="0"/>
            </a:xfrm>
            <a:prstGeom prst="straightConnector1">
              <a:avLst/>
            </a:prstGeom>
            <a:noFill/>
            <a:ln cap="rnd" cmpd="sng" w="31750">
              <a:solidFill>
                <a:srgbClr val="F4F3EC">
                  <a:alpha val="40000"/>
                </a:srgbClr>
              </a:solidFill>
              <a:prstDash val="dot"/>
              <a:round/>
              <a:headEnd len="sm" w="sm" type="none"/>
              <a:tailEnd len="sm" w="sm" type="none"/>
            </a:ln>
          </p:spPr>
        </p:cxnSp>
        <p:cxnSp>
          <p:nvCxnSpPr>
            <p:cNvPr id="174" name="Google Shape;174;p4"/>
            <p:cNvCxnSpPr/>
            <p:nvPr/>
          </p:nvCxnSpPr>
          <p:spPr>
            <a:xfrm>
              <a:off x="7029447" y="4063732"/>
              <a:ext cx="1285875" cy="0"/>
            </a:xfrm>
            <a:prstGeom prst="straightConnector1">
              <a:avLst/>
            </a:prstGeom>
            <a:noFill/>
            <a:ln cap="rnd" cmpd="sng" w="31750">
              <a:solidFill>
                <a:srgbClr val="F4F3EC">
                  <a:alpha val="40000"/>
                </a:srgbClr>
              </a:solidFill>
              <a:prstDash val="dot"/>
              <a:round/>
              <a:headEnd len="sm" w="sm" type="none"/>
              <a:tailEnd len="sm" w="sm" type="none"/>
            </a:ln>
          </p:spPr>
        </p:cxnSp>
      </p:grpSp>
      <p:sp>
        <p:nvSpPr>
          <p:cNvPr id="175" name="Google Shape;175;p4"/>
          <p:cNvSpPr txBox="1"/>
          <p:nvPr/>
        </p:nvSpPr>
        <p:spPr>
          <a:xfrm>
            <a:off x="946404" y="743988"/>
            <a:ext cx="6292710" cy="8458246"/>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600"/>
              </a:spcAft>
              <a:buNone/>
            </a:pPr>
            <a:r>
              <a:rPr b="0" i="0" lang="en-US" sz="4800" u="none" cap="none" strike="noStrike">
                <a:solidFill>
                  <a:schemeClr val="lt1"/>
                </a:solidFill>
                <a:latin typeface="Arial"/>
                <a:ea typeface="Arial"/>
                <a:cs typeface="Arial"/>
                <a:sym typeface="Arial"/>
              </a:rPr>
              <a:t>PROCEDIMIENTOS Y FUNCIONES</a:t>
            </a:r>
            <a:endParaRPr b="0" i="0" sz="4800" u="none" cap="none" strike="noStrike">
              <a:solidFill>
                <a:schemeClr val="lt1"/>
              </a:solidFill>
              <a:latin typeface="Arial"/>
              <a:ea typeface="Arial"/>
              <a:cs typeface="Arial"/>
              <a:sym typeface="Arial"/>
            </a:endParaRPr>
          </a:p>
        </p:txBody>
      </p:sp>
      <p:grpSp>
        <p:nvGrpSpPr>
          <p:cNvPr id="176" name="Google Shape;176;p4"/>
          <p:cNvGrpSpPr/>
          <p:nvPr/>
        </p:nvGrpSpPr>
        <p:grpSpPr>
          <a:xfrm>
            <a:off x="7373920" y="1662644"/>
            <a:ext cx="9380583" cy="6858720"/>
            <a:chOff x="0" y="362767"/>
            <a:chExt cx="9380583" cy="6858720"/>
          </a:xfrm>
        </p:grpSpPr>
        <p:sp>
          <p:nvSpPr>
            <p:cNvPr id="177" name="Google Shape;177;p4"/>
            <p:cNvSpPr/>
            <p:nvPr/>
          </p:nvSpPr>
          <p:spPr>
            <a:xfrm>
              <a:off x="0" y="362767"/>
              <a:ext cx="9380583" cy="3397680"/>
            </a:xfrm>
            <a:prstGeom prst="roundRect">
              <a:avLst>
                <a:gd fmla="val 16667" name="adj"/>
              </a:avLst>
            </a:prstGeom>
            <a:solidFill>
              <a:srgbClr val="49ACC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4"/>
            <p:cNvSpPr txBox="1"/>
            <p:nvPr/>
          </p:nvSpPr>
          <p:spPr>
            <a:xfrm>
              <a:off x="165861" y="528628"/>
              <a:ext cx="9048861" cy="3065958"/>
            </a:xfrm>
            <a:prstGeom prst="rect">
              <a:avLst/>
            </a:prstGeom>
            <a:noFill/>
            <a:ln>
              <a:noFill/>
            </a:ln>
          </p:spPr>
          <p:txBody>
            <a:bodyPr anchorCtr="0" anchor="ctr" bIns="83800" lIns="83800" spcFirstLastPara="1" rIns="83800" wrap="square" tIns="83800">
              <a:noAutofit/>
            </a:bodyPr>
            <a:lstStyle/>
            <a:p>
              <a:pPr indent="0" lvl="0" marL="0" marR="0" rtl="0" algn="l">
                <a:lnSpc>
                  <a:spcPct val="90000"/>
                </a:lnSpc>
                <a:spcBef>
                  <a:spcPts val="0"/>
                </a:spcBef>
                <a:spcAft>
                  <a:spcPts val="0"/>
                </a:spcAft>
                <a:buClr>
                  <a:srgbClr val="000000"/>
                </a:buClr>
                <a:buSzPts val="2200"/>
                <a:buFont typeface="Arial"/>
                <a:buNone/>
              </a:pPr>
              <a:r>
                <a:rPr b="1" i="0" lang="en-US" sz="2200" u="none" cap="none" strike="noStrike">
                  <a:solidFill>
                    <a:schemeClr val="lt1"/>
                  </a:solidFill>
                  <a:latin typeface="Arial"/>
                  <a:ea typeface="Arial"/>
                  <a:cs typeface="Arial"/>
                  <a:sym typeface="Arial"/>
                </a:rPr>
                <a:t>Function</a:t>
              </a:r>
              <a:r>
                <a:rPr b="0" i="0" lang="en-US" sz="2200" u="none" cap="none" strike="noStrike">
                  <a:solidFill>
                    <a:schemeClr val="lt1"/>
                  </a:solidFill>
                  <a:latin typeface="Arial"/>
                  <a:ea typeface="Arial"/>
                  <a:cs typeface="Arial"/>
                  <a:sym typeface="Arial"/>
                </a:rPr>
                <a:t>: Pueden ser invocados por su nombre desde otros procedimientos, pueden recibir argumentos y siempre devuelven un valor con el nombre de la función.</a:t>
              </a:r>
              <a:endParaRPr/>
            </a:p>
            <a:p>
              <a:pPr indent="0" lvl="0" marL="0" marR="0" rtl="0" algn="l">
                <a:lnSpc>
                  <a:spcPct val="90000"/>
                </a:lnSpc>
                <a:spcBef>
                  <a:spcPts val="770"/>
                </a:spcBef>
                <a:spcAft>
                  <a:spcPts val="0"/>
                </a:spcAft>
                <a:buClr>
                  <a:srgbClr val="000000"/>
                </a:buClr>
                <a:buSzPts val="2200"/>
                <a:buFont typeface="Arial"/>
                <a:buNone/>
              </a:pPr>
              <a:r>
                <a:rPr b="0" i="0" lang="en-US" sz="2200" u="none" cap="none" strike="noStrike">
                  <a:solidFill>
                    <a:schemeClr val="lt1"/>
                  </a:solidFill>
                  <a:latin typeface="Arial"/>
                  <a:ea typeface="Arial"/>
                  <a:cs typeface="Arial"/>
                  <a:sym typeface="Arial"/>
                </a:rPr>
                <a:t>Sintaxis</a:t>
              </a:r>
              <a:endParaRPr/>
            </a:p>
            <a:p>
              <a:pPr indent="0" lvl="0" marL="0" marR="0" rtl="0" algn="l">
                <a:lnSpc>
                  <a:spcPct val="90000"/>
                </a:lnSpc>
                <a:spcBef>
                  <a:spcPts val="770"/>
                </a:spcBef>
                <a:spcAft>
                  <a:spcPts val="0"/>
                </a:spcAft>
                <a:buClr>
                  <a:srgbClr val="000000"/>
                </a:buClr>
                <a:buSzPts val="2200"/>
                <a:buFont typeface="Arial"/>
                <a:buNone/>
              </a:pPr>
              <a:r>
                <a:rPr b="0" i="0" lang="en-US" sz="2200" u="none" cap="none" strike="noStrike">
                  <a:solidFill>
                    <a:schemeClr val="lt1"/>
                  </a:solidFill>
                  <a:latin typeface="Arial"/>
                  <a:ea typeface="Arial"/>
                  <a:cs typeface="Arial"/>
                  <a:sym typeface="Arial"/>
                </a:rPr>
                <a:t>[Modificador de acceso] </a:t>
              </a:r>
              <a:r>
                <a:rPr b="1" i="0" lang="en-US" sz="2200" u="none" cap="none" strike="noStrike">
                  <a:solidFill>
                    <a:schemeClr val="lt1"/>
                  </a:solidFill>
                  <a:latin typeface="Arial"/>
                  <a:ea typeface="Arial"/>
                  <a:cs typeface="Arial"/>
                  <a:sym typeface="Arial"/>
                </a:rPr>
                <a:t>Function</a:t>
              </a:r>
              <a:r>
                <a:rPr b="0" i="0" lang="en-US" sz="2200" u="none" cap="none" strike="noStrike">
                  <a:solidFill>
                    <a:schemeClr val="lt1"/>
                  </a:solidFill>
                  <a:latin typeface="Arial"/>
                  <a:ea typeface="Arial"/>
                  <a:cs typeface="Arial"/>
                  <a:sym typeface="Arial"/>
                </a:rPr>
                <a:t> nombre_funcion(argumentos) As tipo</a:t>
              </a:r>
              <a:endParaRPr/>
            </a:p>
            <a:p>
              <a:pPr indent="0" lvl="0" marL="0" marR="0" rtl="0" algn="l">
                <a:lnSpc>
                  <a:spcPct val="90000"/>
                </a:lnSpc>
                <a:spcBef>
                  <a:spcPts val="770"/>
                </a:spcBef>
                <a:spcAft>
                  <a:spcPts val="0"/>
                </a:spcAft>
                <a:buClr>
                  <a:srgbClr val="000000"/>
                </a:buClr>
                <a:buSzPts val="2200"/>
                <a:buFont typeface="Arial"/>
                <a:buNone/>
              </a:pPr>
              <a:r>
                <a:rPr b="0" i="0" lang="en-US" sz="2200" u="none" cap="none" strike="noStrike">
                  <a:solidFill>
                    <a:schemeClr val="lt1"/>
                  </a:solidFill>
                  <a:latin typeface="Arial"/>
                  <a:ea typeface="Arial"/>
                  <a:cs typeface="Arial"/>
                  <a:sym typeface="Arial"/>
                </a:rPr>
                <a:t>Instrucciones</a:t>
              </a:r>
              <a:endParaRPr/>
            </a:p>
            <a:p>
              <a:pPr indent="0" lvl="0" marL="0" marR="0" rtl="0" algn="l">
                <a:lnSpc>
                  <a:spcPct val="90000"/>
                </a:lnSpc>
                <a:spcBef>
                  <a:spcPts val="770"/>
                </a:spcBef>
                <a:spcAft>
                  <a:spcPts val="0"/>
                </a:spcAft>
                <a:buClr>
                  <a:srgbClr val="000000"/>
                </a:buClr>
                <a:buSzPts val="2200"/>
                <a:buFont typeface="Arial"/>
                <a:buNone/>
              </a:pPr>
              <a:r>
                <a:rPr b="0" i="0" lang="en-US" sz="2200" u="none" cap="none" strike="noStrike">
                  <a:solidFill>
                    <a:schemeClr val="lt1"/>
                  </a:solidFill>
                  <a:latin typeface="Arial"/>
                  <a:ea typeface="Arial"/>
                  <a:cs typeface="Arial"/>
                  <a:sym typeface="Arial"/>
                </a:rPr>
                <a:t>Nombre_Funcion = valor a retornar</a:t>
              </a:r>
              <a:endParaRPr/>
            </a:p>
            <a:p>
              <a:pPr indent="0" lvl="0" marL="0" marR="0" rtl="0" algn="l">
                <a:lnSpc>
                  <a:spcPct val="90000"/>
                </a:lnSpc>
                <a:spcBef>
                  <a:spcPts val="770"/>
                </a:spcBef>
                <a:spcAft>
                  <a:spcPts val="0"/>
                </a:spcAft>
                <a:buClr>
                  <a:srgbClr val="000000"/>
                </a:buClr>
                <a:buSzPts val="2200"/>
                <a:buFont typeface="Arial"/>
                <a:buNone/>
              </a:pPr>
              <a:r>
                <a:rPr b="1" i="0" lang="en-US" sz="2200" u="none" cap="none" strike="noStrike">
                  <a:solidFill>
                    <a:schemeClr val="lt1"/>
                  </a:solidFill>
                  <a:latin typeface="Arial"/>
                  <a:ea typeface="Arial"/>
                  <a:cs typeface="Arial"/>
                  <a:sym typeface="Arial"/>
                </a:rPr>
                <a:t>End Function</a:t>
              </a:r>
              <a:endParaRPr b="0" i="0" sz="2200" u="none" cap="none" strike="noStrike">
                <a:solidFill>
                  <a:schemeClr val="lt1"/>
                </a:solidFill>
                <a:latin typeface="Arial"/>
                <a:ea typeface="Arial"/>
                <a:cs typeface="Arial"/>
                <a:sym typeface="Arial"/>
              </a:endParaRPr>
            </a:p>
          </p:txBody>
        </p:sp>
        <p:sp>
          <p:nvSpPr>
            <p:cNvPr id="179" name="Google Shape;179;p4"/>
            <p:cNvSpPr/>
            <p:nvPr/>
          </p:nvSpPr>
          <p:spPr>
            <a:xfrm>
              <a:off x="0" y="3823807"/>
              <a:ext cx="9380583" cy="3397680"/>
            </a:xfrm>
            <a:prstGeom prst="roundRect">
              <a:avLst>
                <a:gd fmla="val 16667" name="adj"/>
              </a:avLst>
            </a:prstGeom>
            <a:solidFill>
              <a:srgbClr val="F6944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4"/>
            <p:cNvSpPr txBox="1"/>
            <p:nvPr/>
          </p:nvSpPr>
          <p:spPr>
            <a:xfrm>
              <a:off x="165861" y="3989668"/>
              <a:ext cx="9048861" cy="3065958"/>
            </a:xfrm>
            <a:prstGeom prst="rect">
              <a:avLst/>
            </a:prstGeom>
            <a:noFill/>
            <a:ln>
              <a:noFill/>
            </a:ln>
          </p:spPr>
          <p:txBody>
            <a:bodyPr anchorCtr="0" anchor="ctr" bIns="83800" lIns="83800" spcFirstLastPara="1" rIns="83800" wrap="square" tIns="83800">
              <a:noAutofit/>
            </a:bodyPr>
            <a:lstStyle/>
            <a:p>
              <a:pPr indent="0" lvl="0" marL="0" marR="0" rtl="0" algn="l">
                <a:lnSpc>
                  <a:spcPct val="90000"/>
                </a:lnSpc>
                <a:spcBef>
                  <a:spcPts val="0"/>
                </a:spcBef>
                <a:spcAft>
                  <a:spcPts val="0"/>
                </a:spcAft>
                <a:buClr>
                  <a:srgbClr val="000000"/>
                </a:buClr>
                <a:buSzPts val="2200"/>
                <a:buFont typeface="Arial"/>
                <a:buNone/>
              </a:pPr>
              <a:r>
                <a:rPr b="1" i="0" lang="en-US" sz="2200" u="none" cap="none" strike="noStrike">
                  <a:solidFill>
                    <a:schemeClr val="lt1"/>
                  </a:solidFill>
                  <a:latin typeface="Arial"/>
                  <a:ea typeface="Arial"/>
                  <a:cs typeface="Arial"/>
                  <a:sym typeface="Arial"/>
                </a:rPr>
                <a:t>Sub</a:t>
              </a:r>
              <a:r>
                <a:rPr b="0" i="0" lang="en-US" sz="2200" u="none" cap="none" strike="noStrike">
                  <a:solidFill>
                    <a:schemeClr val="lt1"/>
                  </a:solidFill>
                  <a:latin typeface="Arial"/>
                  <a:ea typeface="Arial"/>
                  <a:cs typeface="Arial"/>
                  <a:sym typeface="Arial"/>
                </a:rPr>
                <a:t>: También pueden ser invocados por su nombre desde otros procedimientos, pueden recibir argumentos, pero no devuelven valores.</a:t>
              </a:r>
              <a:endParaRPr/>
            </a:p>
            <a:p>
              <a:pPr indent="0" lvl="0" marL="0" marR="0" rtl="0" algn="l">
                <a:lnSpc>
                  <a:spcPct val="90000"/>
                </a:lnSpc>
                <a:spcBef>
                  <a:spcPts val="770"/>
                </a:spcBef>
                <a:spcAft>
                  <a:spcPts val="0"/>
                </a:spcAft>
                <a:buClr>
                  <a:srgbClr val="000000"/>
                </a:buClr>
                <a:buSzPts val="2200"/>
                <a:buFont typeface="Arial"/>
                <a:buNone/>
              </a:pPr>
              <a:r>
                <a:rPr b="0" i="0" lang="en-US" sz="2200" u="none" cap="none" strike="noStrike">
                  <a:solidFill>
                    <a:schemeClr val="lt1"/>
                  </a:solidFill>
                  <a:latin typeface="Arial"/>
                  <a:ea typeface="Arial"/>
                  <a:cs typeface="Arial"/>
                  <a:sym typeface="Arial"/>
                </a:rPr>
                <a:t>Sintaxis</a:t>
              </a:r>
              <a:endParaRPr/>
            </a:p>
            <a:p>
              <a:pPr indent="0" lvl="0" marL="0" marR="0" rtl="0" algn="l">
                <a:lnSpc>
                  <a:spcPct val="90000"/>
                </a:lnSpc>
                <a:spcBef>
                  <a:spcPts val="770"/>
                </a:spcBef>
                <a:spcAft>
                  <a:spcPts val="0"/>
                </a:spcAft>
                <a:buClr>
                  <a:srgbClr val="000000"/>
                </a:buClr>
                <a:buSzPts val="2200"/>
                <a:buFont typeface="Arial"/>
                <a:buNone/>
              </a:pPr>
              <a:r>
                <a:rPr b="0" i="0" lang="en-US" sz="2200" u="none" cap="none" strike="noStrike">
                  <a:solidFill>
                    <a:schemeClr val="lt1"/>
                  </a:solidFill>
                  <a:latin typeface="Arial"/>
                  <a:ea typeface="Arial"/>
                  <a:cs typeface="Arial"/>
                  <a:sym typeface="Arial"/>
                </a:rPr>
                <a:t>[Modificador de acceso] </a:t>
              </a:r>
              <a:r>
                <a:rPr b="1" i="0" lang="en-US" sz="2200" u="none" cap="none" strike="noStrike">
                  <a:solidFill>
                    <a:schemeClr val="lt1"/>
                  </a:solidFill>
                  <a:latin typeface="Arial"/>
                  <a:ea typeface="Arial"/>
                  <a:cs typeface="Arial"/>
                  <a:sym typeface="Arial"/>
                </a:rPr>
                <a:t>Sub</a:t>
              </a:r>
              <a:r>
                <a:rPr b="0" i="0" lang="en-US" sz="2200" u="none" cap="none" strike="noStrike">
                  <a:solidFill>
                    <a:schemeClr val="lt1"/>
                  </a:solidFill>
                  <a:latin typeface="Arial"/>
                  <a:ea typeface="Arial"/>
                  <a:cs typeface="Arial"/>
                  <a:sym typeface="Arial"/>
                </a:rPr>
                <a:t> nombre_sub(argumentos)</a:t>
              </a:r>
              <a:endParaRPr/>
            </a:p>
            <a:p>
              <a:pPr indent="0" lvl="0" marL="0" marR="0" rtl="0" algn="l">
                <a:lnSpc>
                  <a:spcPct val="90000"/>
                </a:lnSpc>
                <a:spcBef>
                  <a:spcPts val="770"/>
                </a:spcBef>
                <a:spcAft>
                  <a:spcPts val="0"/>
                </a:spcAft>
                <a:buClr>
                  <a:srgbClr val="000000"/>
                </a:buClr>
                <a:buSzPts val="2200"/>
                <a:buFont typeface="Arial"/>
                <a:buNone/>
              </a:pPr>
              <a:r>
                <a:rPr b="0" i="0" lang="en-US" sz="2200" u="none" cap="none" strike="noStrike">
                  <a:solidFill>
                    <a:schemeClr val="lt1"/>
                  </a:solidFill>
                  <a:latin typeface="Arial"/>
                  <a:ea typeface="Arial"/>
                  <a:cs typeface="Arial"/>
                  <a:sym typeface="Arial"/>
                </a:rPr>
                <a:t>Instrucciones</a:t>
              </a:r>
              <a:endParaRPr/>
            </a:p>
            <a:p>
              <a:pPr indent="0" lvl="0" marL="0" marR="0" rtl="0" algn="l">
                <a:lnSpc>
                  <a:spcPct val="90000"/>
                </a:lnSpc>
                <a:spcBef>
                  <a:spcPts val="770"/>
                </a:spcBef>
                <a:spcAft>
                  <a:spcPts val="0"/>
                </a:spcAft>
                <a:buClr>
                  <a:srgbClr val="000000"/>
                </a:buClr>
                <a:buSzPts val="2200"/>
                <a:buFont typeface="Arial"/>
                <a:buNone/>
              </a:pPr>
              <a:r>
                <a:rPr b="1" i="0" lang="en-US" sz="2200" u="none" cap="none" strike="noStrike">
                  <a:solidFill>
                    <a:schemeClr val="lt1"/>
                  </a:solidFill>
                  <a:latin typeface="Arial"/>
                  <a:ea typeface="Arial"/>
                  <a:cs typeface="Arial"/>
                  <a:sym typeface="Arial"/>
                </a:rPr>
                <a:t>End Sub</a:t>
              </a:r>
              <a:endParaRPr b="0" i="0" sz="2200" u="none" cap="none" strike="noStrike">
                <a:solidFill>
                  <a:schemeClr val="lt1"/>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4" name="Shape 184"/>
        <p:cNvGrpSpPr/>
        <p:nvPr/>
      </p:nvGrpSpPr>
      <p:grpSpPr>
        <a:xfrm>
          <a:off x="0" y="0"/>
          <a:ext cx="0" cy="0"/>
          <a:chOff x="0" y="0"/>
          <a:chExt cx="0" cy="0"/>
        </a:xfrm>
      </p:grpSpPr>
      <p:sp>
        <p:nvSpPr>
          <p:cNvPr id="185" name="Google Shape;185;p22"/>
          <p:cNvSpPr/>
          <p:nvPr/>
        </p:nvSpPr>
        <p:spPr>
          <a:xfrm>
            <a:off x="0" y="0"/>
            <a:ext cx="18287998" cy="1028604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186" name="Google Shape;186;p22"/>
          <p:cNvGrpSpPr/>
          <p:nvPr/>
        </p:nvGrpSpPr>
        <p:grpSpPr>
          <a:xfrm>
            <a:off x="1" y="1824895"/>
            <a:ext cx="1097278" cy="1010190"/>
            <a:chOff x="3940602" y="308034"/>
            <a:chExt cx="2116791" cy="3428999"/>
          </a:xfrm>
        </p:grpSpPr>
        <p:sp>
          <p:nvSpPr>
            <p:cNvPr id="187" name="Google Shape;187;p22"/>
            <p:cNvSpPr/>
            <p:nvPr/>
          </p:nvSpPr>
          <p:spPr>
            <a:xfrm>
              <a:off x="3940602"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8" name="Google Shape;188;p22"/>
            <p:cNvSpPr/>
            <p:nvPr/>
          </p:nvSpPr>
          <p:spPr>
            <a:xfrm>
              <a:off x="4715626"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9" name="Google Shape;189;p22"/>
            <p:cNvSpPr/>
            <p:nvPr/>
          </p:nvSpPr>
          <p:spPr>
            <a:xfrm>
              <a:off x="5490650"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190" name="Google Shape;190;p22"/>
          <p:cNvSpPr/>
          <p:nvPr/>
        </p:nvSpPr>
        <p:spPr>
          <a:xfrm>
            <a:off x="960118" y="920931"/>
            <a:ext cx="16361231" cy="2841174"/>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1" name="Google Shape;191;p22"/>
          <p:cNvSpPr txBox="1"/>
          <p:nvPr/>
        </p:nvSpPr>
        <p:spPr>
          <a:xfrm>
            <a:off x="1565446" y="1214847"/>
            <a:ext cx="15259515" cy="233172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600"/>
              </a:spcAft>
              <a:buNone/>
            </a:pPr>
            <a:r>
              <a:rPr b="0" i="0" lang="en-US" sz="7200" u="none" cap="none" strike="noStrike">
                <a:solidFill>
                  <a:schemeClr val="dk1"/>
                </a:solidFill>
                <a:latin typeface="Arial"/>
                <a:ea typeface="Arial"/>
                <a:cs typeface="Arial"/>
                <a:sym typeface="Arial"/>
              </a:rPr>
              <a:t>PROCEDIMIENTOS Y FUNCIONES</a:t>
            </a:r>
            <a:endParaRPr b="0" i="0" sz="7200" u="none" cap="none" strike="noStrike">
              <a:solidFill>
                <a:schemeClr val="dk1"/>
              </a:solidFill>
              <a:latin typeface="Arial"/>
              <a:ea typeface="Arial"/>
              <a:cs typeface="Arial"/>
              <a:sym typeface="Arial"/>
            </a:endParaRPr>
          </a:p>
        </p:txBody>
      </p:sp>
      <p:cxnSp>
        <p:nvCxnSpPr>
          <p:cNvPr id="192" name="Google Shape;192;p22"/>
          <p:cNvCxnSpPr/>
          <p:nvPr/>
        </p:nvCxnSpPr>
        <p:spPr>
          <a:xfrm rot="10800000">
            <a:off x="1257300" y="9727969"/>
            <a:ext cx="15773400" cy="0"/>
          </a:xfrm>
          <a:prstGeom prst="straightConnector1">
            <a:avLst/>
          </a:prstGeom>
          <a:noFill/>
          <a:ln cap="flat" cmpd="sng" w="57150">
            <a:solidFill>
              <a:schemeClr val="accent4"/>
            </a:solidFill>
            <a:prstDash val="solid"/>
            <a:round/>
            <a:headEnd len="sm" w="sm" type="none"/>
            <a:tailEnd len="sm" w="sm" type="none"/>
          </a:ln>
        </p:spPr>
      </p:cxnSp>
      <p:grpSp>
        <p:nvGrpSpPr>
          <p:cNvPr id="193" name="Google Shape;193;p22"/>
          <p:cNvGrpSpPr/>
          <p:nvPr/>
        </p:nvGrpSpPr>
        <p:grpSpPr>
          <a:xfrm>
            <a:off x="1558340" y="4527197"/>
            <a:ext cx="15164784" cy="4813014"/>
            <a:chOff x="201437" y="919"/>
            <a:chExt cx="15164784" cy="4813014"/>
          </a:xfrm>
        </p:grpSpPr>
        <p:sp>
          <p:nvSpPr>
            <p:cNvPr id="194" name="Google Shape;194;p22"/>
            <p:cNvSpPr/>
            <p:nvPr/>
          </p:nvSpPr>
          <p:spPr>
            <a:xfrm>
              <a:off x="201437" y="919"/>
              <a:ext cx="6499193" cy="4126988"/>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2"/>
            <p:cNvSpPr/>
            <p:nvPr/>
          </p:nvSpPr>
          <p:spPr>
            <a:xfrm>
              <a:off x="923569" y="686945"/>
              <a:ext cx="6499193" cy="4126988"/>
            </a:xfrm>
            <a:prstGeom prst="roundRect">
              <a:avLst>
                <a:gd fmla="val 10000" name="adj"/>
              </a:avLst>
            </a:prstGeom>
            <a:solidFill>
              <a:schemeClr val="lt1">
                <a:alpha val="89803"/>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2"/>
            <p:cNvSpPr txBox="1"/>
            <p:nvPr/>
          </p:nvSpPr>
          <p:spPr>
            <a:xfrm>
              <a:off x="1044444" y="807820"/>
              <a:ext cx="6257443" cy="3885238"/>
            </a:xfrm>
            <a:prstGeom prst="rect">
              <a:avLst/>
            </a:prstGeom>
            <a:noFill/>
            <a:ln>
              <a:noFill/>
            </a:ln>
          </p:spPr>
          <p:txBody>
            <a:bodyPr anchorCtr="0" anchor="ctr" bIns="125725" lIns="125725" spcFirstLastPara="1" rIns="125725" wrap="square" tIns="125725">
              <a:noAutofit/>
            </a:bodyPr>
            <a:lstStyle/>
            <a:p>
              <a:pPr indent="0" lvl="0" marL="0" marR="0" rtl="0" algn="ctr">
                <a:lnSpc>
                  <a:spcPct val="90000"/>
                </a:lnSpc>
                <a:spcBef>
                  <a:spcPts val="0"/>
                </a:spcBef>
                <a:spcAft>
                  <a:spcPts val="0"/>
                </a:spcAft>
                <a:buClr>
                  <a:srgbClr val="000000"/>
                </a:buClr>
                <a:buSzPts val="3300"/>
                <a:buFont typeface="Arial"/>
                <a:buNone/>
              </a:pPr>
              <a:r>
                <a:rPr b="0" i="0" lang="en-US" sz="3300" u="none" cap="none" strike="noStrike">
                  <a:solidFill>
                    <a:srgbClr val="000000"/>
                  </a:solidFill>
                  <a:latin typeface="Arial"/>
                  <a:ea typeface="Arial"/>
                  <a:cs typeface="Arial"/>
                  <a:sym typeface="Arial"/>
                </a:rPr>
                <a:t>Consecuentemente, un procedimiento publico (Public) puede invocarse desde cualqueir parte de la aplicacion, pero un procedimiento  privado (Private) solo pude ser llamado desde otros procedimientos que esten en el mismo modulo.</a:t>
              </a:r>
              <a:endParaRPr b="0" i="0" sz="3300" u="none" cap="none" strike="noStrike">
                <a:solidFill>
                  <a:srgbClr val="000000"/>
                </a:solidFill>
                <a:latin typeface="Arial"/>
                <a:ea typeface="Arial"/>
                <a:cs typeface="Arial"/>
                <a:sym typeface="Arial"/>
              </a:endParaRPr>
            </a:p>
          </p:txBody>
        </p:sp>
        <p:sp>
          <p:nvSpPr>
            <p:cNvPr id="197" name="Google Shape;197;p22"/>
            <p:cNvSpPr/>
            <p:nvPr/>
          </p:nvSpPr>
          <p:spPr>
            <a:xfrm>
              <a:off x="8144896" y="919"/>
              <a:ext cx="6499193" cy="4126988"/>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2"/>
            <p:cNvSpPr/>
            <p:nvPr/>
          </p:nvSpPr>
          <p:spPr>
            <a:xfrm>
              <a:off x="8867028" y="686945"/>
              <a:ext cx="6499193" cy="4126988"/>
            </a:xfrm>
            <a:prstGeom prst="roundRect">
              <a:avLst>
                <a:gd fmla="val 10000" name="adj"/>
              </a:avLst>
            </a:prstGeom>
            <a:solidFill>
              <a:schemeClr val="lt1">
                <a:alpha val="89803"/>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2"/>
            <p:cNvSpPr txBox="1"/>
            <p:nvPr/>
          </p:nvSpPr>
          <p:spPr>
            <a:xfrm>
              <a:off x="8987903" y="807820"/>
              <a:ext cx="6257443" cy="3885238"/>
            </a:xfrm>
            <a:prstGeom prst="rect">
              <a:avLst/>
            </a:prstGeom>
            <a:noFill/>
            <a:ln>
              <a:noFill/>
            </a:ln>
          </p:spPr>
          <p:txBody>
            <a:bodyPr anchorCtr="0" anchor="ctr" bIns="125725" lIns="125725" spcFirstLastPara="1" rIns="125725" wrap="square" tIns="125725">
              <a:noAutofit/>
            </a:bodyPr>
            <a:lstStyle/>
            <a:p>
              <a:pPr indent="0" lvl="0" marL="0" marR="0" rtl="0" algn="ctr">
                <a:lnSpc>
                  <a:spcPct val="90000"/>
                </a:lnSpc>
                <a:spcBef>
                  <a:spcPts val="0"/>
                </a:spcBef>
                <a:spcAft>
                  <a:spcPts val="0"/>
                </a:spcAft>
                <a:buClr>
                  <a:srgbClr val="000000"/>
                </a:buClr>
                <a:buSzPts val="3300"/>
                <a:buFont typeface="Arial"/>
                <a:buNone/>
              </a:pPr>
              <a:r>
                <a:rPr b="0" i="0" lang="en-US" sz="3300" u="none" cap="none" strike="noStrike">
                  <a:solidFill>
                    <a:srgbClr val="000000"/>
                  </a:solidFill>
                  <a:latin typeface="Arial"/>
                  <a:ea typeface="Arial"/>
                  <a:cs typeface="Arial"/>
                  <a:sym typeface="Arial"/>
                </a:rPr>
                <a:t>Cuando un procedimiento es llamado para su ejecucion, Visual Basic busca ese procedimiento en el modulo donde nos encontremos. Si no lo encuentra, entonces continua la busqueda en el resto de los modulos de la aplicacion</a:t>
              </a:r>
              <a:endParaRPr b="0" i="0" sz="3300" u="none" cap="none" strike="noStrike">
                <a:solidFill>
                  <a:srgbClr val="000000"/>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3" name="Shape 203"/>
        <p:cNvGrpSpPr/>
        <p:nvPr/>
      </p:nvGrpSpPr>
      <p:grpSpPr>
        <a:xfrm>
          <a:off x="0" y="0"/>
          <a:ext cx="0" cy="0"/>
          <a:chOff x="0" y="0"/>
          <a:chExt cx="0" cy="0"/>
        </a:xfrm>
      </p:grpSpPr>
      <p:sp>
        <p:nvSpPr>
          <p:cNvPr id="204" name="Google Shape;204;p23"/>
          <p:cNvSpPr/>
          <p:nvPr/>
        </p:nvSpPr>
        <p:spPr>
          <a:xfrm>
            <a:off x="0" y="0"/>
            <a:ext cx="18288000"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05" name="Google Shape;205;p23"/>
          <p:cNvSpPr/>
          <p:nvPr/>
        </p:nvSpPr>
        <p:spPr>
          <a:xfrm flipH="1" rot="3967198">
            <a:off x="12947022" y="735740"/>
            <a:ext cx="4481849" cy="4481849"/>
          </a:xfrm>
          <a:prstGeom prst="arc">
            <a:avLst>
              <a:gd fmla="val 14441841"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6" name="Google Shape;206;p23"/>
          <p:cNvSpPr txBox="1"/>
          <p:nvPr/>
        </p:nvSpPr>
        <p:spPr>
          <a:xfrm>
            <a:off x="8842443" y="719239"/>
            <a:ext cx="8188257" cy="1988345"/>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600"/>
              </a:spcAft>
              <a:buNone/>
            </a:pPr>
            <a:r>
              <a:rPr b="0" i="0" lang="en-US" sz="4400" u="none" cap="none" strike="noStrike">
                <a:solidFill>
                  <a:schemeClr val="dk1"/>
                </a:solidFill>
                <a:latin typeface="Arial"/>
                <a:ea typeface="Arial"/>
                <a:cs typeface="Arial"/>
                <a:sym typeface="Arial"/>
              </a:rPr>
              <a:t>PROCEDIMIENTOS Y FUNCIONES</a:t>
            </a:r>
            <a:endParaRPr b="0" i="0" sz="4400" u="none" cap="none" strike="noStrike">
              <a:solidFill>
                <a:schemeClr val="dk1"/>
              </a:solidFill>
              <a:latin typeface="Arial"/>
              <a:ea typeface="Arial"/>
              <a:cs typeface="Arial"/>
              <a:sym typeface="Arial"/>
            </a:endParaRPr>
          </a:p>
        </p:txBody>
      </p:sp>
      <p:sp>
        <p:nvSpPr>
          <p:cNvPr id="207" name="Google Shape;207;p23"/>
          <p:cNvSpPr/>
          <p:nvPr/>
        </p:nvSpPr>
        <p:spPr>
          <a:xfrm flipH="1">
            <a:off x="0" y="8229600"/>
            <a:ext cx="4009294" cy="2057400"/>
          </a:xfrm>
          <a:custGeom>
            <a:rect b="b" l="l" r="r" t="t"/>
            <a:pathLst>
              <a:path extrusionOk="0" h="1371600" w="2672863">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A close-up of a text&#10;&#10;AI-generated content may be incorrect." id="208" name="Google Shape;208;p23"/>
          <p:cNvPicPr preferRelativeResize="0"/>
          <p:nvPr/>
        </p:nvPicPr>
        <p:blipFill rotWithShape="1">
          <a:blip r:embed="rId3">
            <a:alphaModFix/>
          </a:blip>
          <a:srcRect b="0" l="0" r="0" t="0"/>
          <a:stretch/>
        </p:blipFill>
        <p:spPr>
          <a:xfrm>
            <a:off x="1054773" y="3206758"/>
            <a:ext cx="7166071" cy="3618866"/>
          </a:xfrm>
          <a:custGeom>
            <a:rect b="b" l="l" r="r" t="t"/>
            <a:pathLst>
              <a:path extrusionOk="0" h="5643794" w="4777381">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ln>
            <a:noFill/>
          </a:ln>
        </p:spPr>
      </p:pic>
      <p:grpSp>
        <p:nvGrpSpPr>
          <p:cNvPr id="209" name="Google Shape;209;p23"/>
          <p:cNvGrpSpPr/>
          <p:nvPr/>
        </p:nvGrpSpPr>
        <p:grpSpPr>
          <a:xfrm>
            <a:off x="8842443" y="2976664"/>
            <a:ext cx="8188257" cy="6288780"/>
            <a:chOff x="0" y="0"/>
            <a:chExt cx="8188257" cy="6288780"/>
          </a:xfrm>
        </p:grpSpPr>
        <p:cxnSp>
          <p:nvCxnSpPr>
            <p:cNvPr id="210" name="Google Shape;210;p23"/>
            <p:cNvCxnSpPr/>
            <p:nvPr/>
          </p:nvCxnSpPr>
          <p:spPr>
            <a:xfrm>
              <a:off x="0" y="0"/>
              <a:ext cx="8188257" cy="0"/>
            </a:xfrm>
            <a:prstGeom prst="straightConnector1">
              <a:avLst/>
            </a:prstGeom>
            <a:solidFill>
              <a:srgbClr val="BF504D"/>
            </a:solidFill>
            <a:ln cap="flat" cmpd="sng" w="25400">
              <a:solidFill>
                <a:srgbClr val="BF504D"/>
              </a:solidFill>
              <a:prstDash val="solid"/>
              <a:round/>
              <a:headEnd len="sm" w="sm" type="none"/>
              <a:tailEnd len="sm" w="sm" type="none"/>
            </a:ln>
          </p:spPr>
        </p:cxnSp>
        <p:sp>
          <p:nvSpPr>
            <p:cNvPr id="211" name="Google Shape;211;p23"/>
            <p:cNvSpPr/>
            <p:nvPr/>
          </p:nvSpPr>
          <p:spPr>
            <a:xfrm>
              <a:off x="0" y="0"/>
              <a:ext cx="8188257" cy="628878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3"/>
            <p:cNvSpPr txBox="1"/>
            <p:nvPr/>
          </p:nvSpPr>
          <p:spPr>
            <a:xfrm>
              <a:off x="0" y="0"/>
              <a:ext cx="8188257" cy="6288780"/>
            </a:xfrm>
            <a:prstGeom prst="rect">
              <a:avLst/>
            </a:prstGeom>
            <a:noFill/>
            <a:ln>
              <a:noFill/>
            </a:ln>
          </p:spPr>
          <p:txBody>
            <a:bodyPr anchorCtr="0" anchor="t" bIns="114300" lIns="114300" spcFirstLastPara="1" rIns="114300" wrap="square" tIns="114300">
              <a:noAutofit/>
            </a:bodyPr>
            <a:lstStyle/>
            <a:p>
              <a:pPr indent="0" lvl="0" marL="0" marR="0" rtl="0" algn="l">
                <a:lnSpc>
                  <a:spcPct val="90000"/>
                </a:lnSpc>
                <a:spcBef>
                  <a:spcPts val="0"/>
                </a:spcBef>
                <a:spcAft>
                  <a:spcPts val="0"/>
                </a:spcAft>
                <a:buClr>
                  <a:srgbClr val="000000"/>
                </a:buClr>
                <a:buSzPts val="3000"/>
                <a:buFont typeface="Arial"/>
                <a:buNone/>
              </a:pPr>
              <a:r>
                <a:rPr b="0" i="0" lang="en-US" sz="3000" u="none" cap="none" strike="noStrike">
                  <a:solidFill>
                    <a:srgbClr val="000000"/>
                  </a:solidFill>
                  <a:latin typeface="Arial"/>
                  <a:ea typeface="Arial"/>
                  <a:cs typeface="Arial"/>
                  <a:sym typeface="Arial"/>
                </a:rPr>
                <a:t>Una función es un procedimiento que cuando se ejecuta devuelve un resultado. La sintaxis correspondiente a una función es la siguiente:</a:t>
              </a:r>
              <a:endParaRPr/>
            </a:p>
            <a:p>
              <a:pPr indent="0" lvl="0" marL="0" marR="0" rtl="0" algn="l">
                <a:lnSpc>
                  <a:spcPct val="90000"/>
                </a:lnSpc>
                <a:spcBef>
                  <a:spcPts val="1050"/>
                </a:spcBef>
                <a:spcAft>
                  <a:spcPts val="0"/>
                </a:spcAft>
                <a:buClr>
                  <a:srgbClr val="000000"/>
                </a:buClr>
                <a:buSzPts val="3000"/>
                <a:buFont typeface="Arial"/>
                <a:buNone/>
              </a:pPr>
              <a:r>
                <a:t/>
              </a:r>
              <a:endParaRPr b="0" i="0" sz="3000" u="none" cap="none" strike="noStrike">
                <a:solidFill>
                  <a:srgbClr val="000000"/>
                </a:solidFill>
                <a:latin typeface="Arial"/>
                <a:ea typeface="Arial"/>
                <a:cs typeface="Arial"/>
                <a:sym typeface="Arial"/>
              </a:endParaRPr>
            </a:p>
            <a:p>
              <a:pPr indent="0" lvl="0" marL="0" marR="0" rtl="0" algn="l">
                <a:lnSpc>
                  <a:spcPct val="90000"/>
                </a:lnSpc>
                <a:spcBef>
                  <a:spcPts val="1050"/>
                </a:spcBef>
                <a:spcAft>
                  <a:spcPts val="0"/>
                </a:spcAft>
                <a:buClr>
                  <a:srgbClr val="000000"/>
                </a:buClr>
                <a:buSzPts val="3000"/>
                <a:buFont typeface="Arial"/>
                <a:buNone/>
              </a:pPr>
              <a:r>
                <a:rPr b="0" i="0" lang="en-US" sz="3000" u="none" cap="none" strike="noStrike">
                  <a:solidFill>
                    <a:srgbClr val="000000"/>
                  </a:solidFill>
                  <a:latin typeface="Arial"/>
                  <a:ea typeface="Arial"/>
                  <a:cs typeface="Arial"/>
                  <a:sym typeface="Arial"/>
                </a:rPr>
                <a:t>[Private|Public] [Static] Function nombre[(parámetros)] [As tipo]</a:t>
              </a:r>
              <a:endParaRPr/>
            </a:p>
            <a:p>
              <a:pPr indent="0" lvl="0" marL="0" marR="0" rtl="0" algn="l">
                <a:lnSpc>
                  <a:spcPct val="90000"/>
                </a:lnSpc>
                <a:spcBef>
                  <a:spcPts val="1050"/>
                </a:spcBef>
                <a:spcAft>
                  <a:spcPts val="0"/>
                </a:spcAft>
                <a:buClr>
                  <a:srgbClr val="000000"/>
                </a:buClr>
                <a:buSzPts val="3000"/>
                <a:buFont typeface="Arial"/>
                <a:buNone/>
              </a:pPr>
              <a:r>
                <a:rPr b="0" i="0" lang="en-US" sz="3000" u="none" cap="none" strike="noStrike">
                  <a:solidFill>
                    <a:srgbClr val="000000"/>
                  </a:solidFill>
                  <a:latin typeface="Arial"/>
                  <a:ea typeface="Arial"/>
                  <a:cs typeface="Arial"/>
                  <a:sym typeface="Arial"/>
                </a:rPr>
                <a:t>    [sentencias]</a:t>
              </a:r>
              <a:endParaRPr/>
            </a:p>
            <a:p>
              <a:pPr indent="0" lvl="0" marL="0" marR="0" rtl="0" algn="l">
                <a:lnSpc>
                  <a:spcPct val="90000"/>
                </a:lnSpc>
                <a:spcBef>
                  <a:spcPts val="1050"/>
                </a:spcBef>
                <a:spcAft>
                  <a:spcPts val="0"/>
                </a:spcAft>
                <a:buClr>
                  <a:srgbClr val="000000"/>
                </a:buClr>
                <a:buSzPts val="3000"/>
                <a:buFont typeface="Arial"/>
                <a:buNone/>
              </a:pPr>
              <a:r>
                <a:rPr b="0" i="0" lang="en-US" sz="3000" u="none" cap="none" strike="noStrike">
                  <a:solidFill>
                    <a:srgbClr val="000000"/>
                  </a:solidFill>
                  <a:latin typeface="Arial"/>
                  <a:ea typeface="Arial"/>
                  <a:cs typeface="Arial"/>
                  <a:sym typeface="Arial"/>
                </a:rPr>
                <a:t>    [nombre = expresión]</a:t>
              </a:r>
              <a:endParaRPr/>
            </a:p>
            <a:p>
              <a:pPr indent="0" lvl="0" marL="0" marR="0" rtl="0" algn="l">
                <a:lnSpc>
                  <a:spcPct val="90000"/>
                </a:lnSpc>
                <a:spcBef>
                  <a:spcPts val="1050"/>
                </a:spcBef>
                <a:spcAft>
                  <a:spcPts val="0"/>
                </a:spcAft>
                <a:buClr>
                  <a:srgbClr val="000000"/>
                </a:buClr>
                <a:buSzPts val="3000"/>
                <a:buFont typeface="Arial"/>
                <a:buNone/>
              </a:pPr>
              <a:r>
                <a:rPr b="0" i="0" lang="en-US" sz="3000" u="none" cap="none" strike="noStrike">
                  <a:solidFill>
                    <a:srgbClr val="000000"/>
                  </a:solidFill>
                  <a:latin typeface="Arial"/>
                  <a:ea typeface="Arial"/>
                  <a:cs typeface="Arial"/>
                  <a:sym typeface="Arial"/>
                </a:rPr>
                <a:t>    [Exit Function]</a:t>
              </a:r>
              <a:endParaRPr/>
            </a:p>
            <a:p>
              <a:pPr indent="0" lvl="0" marL="0" marR="0" rtl="0" algn="l">
                <a:lnSpc>
                  <a:spcPct val="90000"/>
                </a:lnSpc>
                <a:spcBef>
                  <a:spcPts val="1050"/>
                </a:spcBef>
                <a:spcAft>
                  <a:spcPts val="0"/>
                </a:spcAft>
                <a:buClr>
                  <a:srgbClr val="000000"/>
                </a:buClr>
                <a:buSzPts val="3000"/>
                <a:buFont typeface="Arial"/>
                <a:buNone/>
              </a:pPr>
              <a:r>
                <a:rPr b="0" i="0" lang="en-US" sz="3000" u="none" cap="none" strike="noStrike">
                  <a:solidFill>
                    <a:srgbClr val="000000"/>
                  </a:solidFill>
                  <a:latin typeface="Arial"/>
                  <a:ea typeface="Arial"/>
                  <a:cs typeface="Arial"/>
                  <a:sym typeface="Arial"/>
                </a:rPr>
                <a:t>    [sentencias]</a:t>
              </a:r>
              <a:endParaRPr/>
            </a:p>
            <a:p>
              <a:pPr indent="0" lvl="0" marL="0" marR="0" rtl="0" algn="l">
                <a:lnSpc>
                  <a:spcPct val="90000"/>
                </a:lnSpc>
                <a:spcBef>
                  <a:spcPts val="1050"/>
                </a:spcBef>
                <a:spcAft>
                  <a:spcPts val="0"/>
                </a:spcAft>
                <a:buClr>
                  <a:srgbClr val="000000"/>
                </a:buClr>
                <a:buSzPts val="3000"/>
                <a:buFont typeface="Arial"/>
                <a:buNone/>
              </a:pPr>
              <a:r>
                <a:rPr b="0" i="0" lang="en-US" sz="3000" u="none" cap="none" strike="noStrike">
                  <a:solidFill>
                    <a:srgbClr val="000000"/>
                  </a:solidFill>
                  <a:latin typeface="Arial"/>
                  <a:ea typeface="Arial"/>
                  <a:cs typeface="Arial"/>
                  <a:sym typeface="Arial"/>
                </a:rPr>
                <a:t>    [nombre = expresión]</a:t>
              </a:r>
              <a:endParaRPr/>
            </a:p>
            <a:p>
              <a:pPr indent="0" lvl="0" marL="0" marR="0" rtl="0" algn="l">
                <a:lnSpc>
                  <a:spcPct val="90000"/>
                </a:lnSpc>
                <a:spcBef>
                  <a:spcPts val="1050"/>
                </a:spcBef>
                <a:spcAft>
                  <a:spcPts val="0"/>
                </a:spcAft>
                <a:buClr>
                  <a:srgbClr val="000000"/>
                </a:buClr>
                <a:buSzPts val="3000"/>
                <a:buFont typeface="Arial"/>
                <a:buNone/>
              </a:pPr>
              <a:r>
                <a:rPr b="0" i="0" lang="en-US" sz="3000" u="none" cap="none" strike="noStrike">
                  <a:solidFill>
                    <a:srgbClr val="000000"/>
                  </a:solidFill>
                  <a:latin typeface="Arial"/>
                  <a:ea typeface="Arial"/>
                  <a:cs typeface="Arial"/>
                  <a:sym typeface="Arial"/>
                </a:rPr>
                <a:t>End Function</a:t>
              </a:r>
              <a:endParaRPr b="0" i="0" sz="3000" u="none" cap="none" strike="noStrike">
                <a:solidFill>
                  <a:srgbClr val="000000"/>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6" name="Shape 216"/>
        <p:cNvGrpSpPr/>
        <p:nvPr/>
      </p:nvGrpSpPr>
      <p:grpSpPr>
        <a:xfrm>
          <a:off x="0" y="0"/>
          <a:ext cx="0" cy="0"/>
          <a:chOff x="0" y="0"/>
          <a:chExt cx="0" cy="0"/>
        </a:xfrm>
      </p:grpSpPr>
      <p:sp>
        <p:nvSpPr>
          <p:cNvPr id="217" name="Google Shape;217;p24"/>
          <p:cNvSpPr/>
          <p:nvPr/>
        </p:nvSpPr>
        <p:spPr>
          <a:xfrm>
            <a:off x="0" y="0"/>
            <a:ext cx="18288000"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8" name="Google Shape;218;p24"/>
          <p:cNvSpPr/>
          <p:nvPr/>
        </p:nvSpPr>
        <p:spPr>
          <a:xfrm flipH="1" rot="3967198">
            <a:off x="12947022" y="735740"/>
            <a:ext cx="4481849" cy="4481849"/>
          </a:xfrm>
          <a:prstGeom prst="arc">
            <a:avLst>
              <a:gd fmla="val 14441841"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9" name="Google Shape;219;p24"/>
          <p:cNvSpPr txBox="1"/>
          <p:nvPr/>
        </p:nvSpPr>
        <p:spPr>
          <a:xfrm>
            <a:off x="8842443" y="719239"/>
            <a:ext cx="8188257" cy="1988345"/>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600"/>
              </a:spcAft>
              <a:buNone/>
            </a:pPr>
            <a:r>
              <a:rPr b="0" i="0" lang="en-US" sz="4400" u="none" cap="none" strike="noStrike">
                <a:solidFill>
                  <a:schemeClr val="dk1"/>
                </a:solidFill>
                <a:latin typeface="Arial"/>
                <a:ea typeface="Arial"/>
                <a:cs typeface="Arial"/>
                <a:sym typeface="Arial"/>
              </a:rPr>
              <a:t>PROCEDIMIENTOS Y FUNCIONES</a:t>
            </a:r>
            <a:endParaRPr b="0" i="0" sz="4400" u="none" cap="none" strike="noStrike">
              <a:solidFill>
                <a:schemeClr val="dk1"/>
              </a:solidFill>
              <a:latin typeface="Arial"/>
              <a:ea typeface="Arial"/>
              <a:cs typeface="Arial"/>
              <a:sym typeface="Arial"/>
            </a:endParaRPr>
          </a:p>
        </p:txBody>
      </p:sp>
      <p:sp>
        <p:nvSpPr>
          <p:cNvPr id="220" name="Google Shape;220;p24"/>
          <p:cNvSpPr/>
          <p:nvPr/>
        </p:nvSpPr>
        <p:spPr>
          <a:xfrm flipH="1">
            <a:off x="0" y="8229600"/>
            <a:ext cx="4009294" cy="2057400"/>
          </a:xfrm>
          <a:custGeom>
            <a:rect b="b" l="l" r="r" t="t"/>
            <a:pathLst>
              <a:path extrusionOk="0" h="1371600" w="2672863">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A close-up of black text&#10;&#10;AI-generated content may be incorrect." id="221" name="Google Shape;221;p24"/>
          <p:cNvPicPr preferRelativeResize="0"/>
          <p:nvPr/>
        </p:nvPicPr>
        <p:blipFill rotWithShape="1">
          <a:blip r:embed="rId3">
            <a:alphaModFix/>
          </a:blip>
          <a:srcRect b="0" l="0" r="0" t="0"/>
          <a:stretch/>
        </p:blipFill>
        <p:spPr>
          <a:xfrm>
            <a:off x="1054773" y="4326458"/>
            <a:ext cx="7166071" cy="1379467"/>
          </a:xfrm>
          <a:custGeom>
            <a:rect b="b" l="l" r="r" t="t"/>
            <a:pathLst>
              <a:path extrusionOk="0" h="5643794" w="4777381">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ln>
            <a:noFill/>
          </a:ln>
        </p:spPr>
      </p:pic>
      <p:grpSp>
        <p:nvGrpSpPr>
          <p:cNvPr id="222" name="Google Shape;222;p24"/>
          <p:cNvGrpSpPr/>
          <p:nvPr/>
        </p:nvGrpSpPr>
        <p:grpSpPr>
          <a:xfrm>
            <a:off x="8842443" y="5177737"/>
            <a:ext cx="8188257" cy="1886634"/>
            <a:chOff x="0" y="2201073"/>
            <a:chExt cx="8188257" cy="1886634"/>
          </a:xfrm>
        </p:grpSpPr>
        <p:sp>
          <p:nvSpPr>
            <p:cNvPr id="223" name="Google Shape;223;p24"/>
            <p:cNvSpPr/>
            <p:nvPr/>
          </p:nvSpPr>
          <p:spPr>
            <a:xfrm>
              <a:off x="0" y="2201073"/>
              <a:ext cx="8188257" cy="1886634"/>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4"/>
            <p:cNvSpPr/>
            <p:nvPr/>
          </p:nvSpPr>
          <p:spPr>
            <a:xfrm>
              <a:off x="570706" y="2625565"/>
              <a:ext cx="1037648" cy="1037648"/>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4"/>
            <p:cNvSpPr/>
            <p:nvPr/>
          </p:nvSpPr>
          <p:spPr>
            <a:xfrm>
              <a:off x="2179062" y="2201073"/>
              <a:ext cx="6009194" cy="188663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4"/>
            <p:cNvSpPr txBox="1"/>
            <p:nvPr/>
          </p:nvSpPr>
          <p:spPr>
            <a:xfrm>
              <a:off x="2179062" y="2201073"/>
              <a:ext cx="6009194" cy="1886634"/>
            </a:xfrm>
            <a:prstGeom prst="rect">
              <a:avLst/>
            </a:prstGeom>
            <a:noFill/>
            <a:ln>
              <a:noFill/>
            </a:ln>
          </p:spPr>
          <p:txBody>
            <a:bodyPr anchorCtr="0" anchor="ctr" bIns="199650" lIns="199650" spcFirstLastPara="1" rIns="199650" wrap="square" tIns="199650">
              <a:no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rgbClr val="000000"/>
                  </a:solidFill>
                  <a:latin typeface="Arial"/>
                  <a:ea typeface="Arial"/>
                  <a:cs typeface="Arial"/>
                  <a:sym typeface="Arial"/>
                </a:rPr>
                <a:t>La llamada a una </a:t>
              </a:r>
              <a:r>
                <a:rPr lang="en-US" sz="2500"/>
                <a:t>función</a:t>
              </a:r>
              <a:r>
                <a:rPr b="0" i="0" lang="en-US" sz="2500" u="none" cap="none" strike="noStrike">
                  <a:solidFill>
                    <a:srgbClr val="000000"/>
                  </a:solidFill>
                  <a:latin typeface="Arial"/>
                  <a:ea typeface="Arial"/>
                  <a:cs typeface="Arial"/>
                  <a:sym typeface="Arial"/>
                </a:rPr>
                <a:t> es de la forma</a:t>
              </a:r>
              <a:endParaRPr/>
            </a:p>
            <a:p>
              <a:pPr indent="0" lvl="0" marL="0" marR="0" rtl="0" algn="l">
                <a:lnSpc>
                  <a:spcPct val="100000"/>
                </a:lnSpc>
                <a:spcBef>
                  <a:spcPts val="875"/>
                </a:spcBef>
                <a:spcAft>
                  <a:spcPts val="0"/>
                </a:spcAft>
                <a:buClr>
                  <a:srgbClr val="000000"/>
                </a:buClr>
                <a:buSzPts val="2500"/>
                <a:buFont typeface="Arial"/>
                <a:buNone/>
              </a:pPr>
              <a:r>
                <a:rPr b="0" i="0" lang="en-US" sz="2500" u="none" cap="none" strike="noStrike">
                  <a:solidFill>
                    <a:srgbClr val="000000"/>
                  </a:solidFill>
                  <a:latin typeface="Arial"/>
                  <a:ea typeface="Arial"/>
                  <a:cs typeface="Arial"/>
                  <a:sym typeface="Arial"/>
                </a:rPr>
                <a:t>[variable = ] nombre [(argumentos)]</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5"/>
          <p:cNvSpPr txBox="1"/>
          <p:nvPr/>
        </p:nvSpPr>
        <p:spPr>
          <a:xfrm>
            <a:off x="8842443" y="719239"/>
            <a:ext cx="8188257" cy="1988345"/>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600"/>
              </a:spcAft>
              <a:buNone/>
            </a:pPr>
            <a:r>
              <a:rPr b="0" i="0" lang="en-US" sz="4400" u="none" cap="none" strike="noStrike">
                <a:solidFill>
                  <a:schemeClr val="dk1"/>
                </a:solidFill>
                <a:latin typeface="Arial"/>
                <a:ea typeface="Arial"/>
                <a:cs typeface="Arial"/>
                <a:sym typeface="Arial"/>
              </a:rPr>
              <a:t>PROCEDIMIENTOS Y FUNCIONES</a:t>
            </a:r>
            <a:endParaRPr b="0" i="0" sz="4400" u="none" cap="none" strike="noStrike">
              <a:solidFill>
                <a:schemeClr val="dk1"/>
              </a:solidFill>
              <a:latin typeface="Arial"/>
              <a:ea typeface="Arial"/>
              <a:cs typeface="Arial"/>
              <a:sym typeface="Arial"/>
            </a:endParaRPr>
          </a:p>
        </p:txBody>
      </p:sp>
      <p:grpSp>
        <p:nvGrpSpPr>
          <p:cNvPr id="232" name="Google Shape;232;p25"/>
          <p:cNvGrpSpPr/>
          <p:nvPr/>
        </p:nvGrpSpPr>
        <p:grpSpPr>
          <a:xfrm>
            <a:off x="8842443" y="4974698"/>
            <a:ext cx="8188256" cy="2292711"/>
            <a:chOff x="0" y="1998034"/>
            <a:chExt cx="8188256" cy="2292711"/>
          </a:xfrm>
        </p:grpSpPr>
        <p:sp>
          <p:nvSpPr>
            <p:cNvPr id="233" name="Google Shape;233;p25"/>
            <p:cNvSpPr/>
            <p:nvPr/>
          </p:nvSpPr>
          <p:spPr>
            <a:xfrm>
              <a:off x="0" y="1998034"/>
              <a:ext cx="2292711" cy="2292711"/>
            </a:xfrm>
            <a:prstGeom prst="ellipse">
              <a:avLst/>
            </a:prstGeom>
            <a:solidFill>
              <a:srgbClr val="E7CF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5"/>
            <p:cNvSpPr/>
            <p:nvPr/>
          </p:nvSpPr>
          <p:spPr>
            <a:xfrm>
              <a:off x="481469" y="2479503"/>
              <a:ext cx="1329772" cy="1329772"/>
            </a:xfrm>
            <a:prstGeom prst="rect">
              <a:avLst/>
            </a:prstGeom>
            <a:blipFill rotWithShape="1">
              <a:blip r:embed="rId3">
                <a:alphaModFix/>
              </a:blip>
              <a:stretch>
                <a:fillRect b="0" l="0" r="0" t="0"/>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5"/>
            <p:cNvSpPr/>
            <p:nvPr/>
          </p:nvSpPr>
          <p:spPr>
            <a:xfrm>
              <a:off x="2784007" y="1998034"/>
              <a:ext cx="5404249" cy="229271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5"/>
            <p:cNvSpPr txBox="1"/>
            <p:nvPr/>
          </p:nvSpPr>
          <p:spPr>
            <a:xfrm>
              <a:off x="2784007" y="1998034"/>
              <a:ext cx="5404249" cy="229271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La sintaxis que define un procedimiento es la siguiente:</a:t>
              </a:r>
              <a:endParaRPr/>
            </a:p>
            <a:p>
              <a:pPr indent="0" lvl="0" marL="0" marR="0" rtl="0" algn="l">
                <a:lnSpc>
                  <a:spcPct val="100000"/>
                </a:lnSpc>
                <a:spcBef>
                  <a:spcPts val="525"/>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525"/>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[Private|Public] [Static] Sub nombre[(parámetros)]</a:t>
              </a:r>
              <a:endParaRPr/>
            </a:p>
            <a:p>
              <a:pPr indent="0" lvl="0" marL="0" marR="0" rtl="0" algn="l">
                <a:lnSpc>
                  <a:spcPct val="100000"/>
                </a:lnSpc>
                <a:spcBef>
                  <a:spcPts val="525"/>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    [sentencias]</a:t>
              </a:r>
              <a:endParaRPr/>
            </a:p>
            <a:p>
              <a:pPr indent="0" lvl="0" marL="0" marR="0" rtl="0" algn="l">
                <a:lnSpc>
                  <a:spcPct val="100000"/>
                </a:lnSpc>
                <a:spcBef>
                  <a:spcPts val="525"/>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    [nombre = expresión]</a:t>
              </a:r>
              <a:endParaRPr/>
            </a:p>
            <a:p>
              <a:pPr indent="0" lvl="0" marL="0" marR="0" rtl="0" algn="l">
                <a:lnSpc>
                  <a:spcPct val="100000"/>
                </a:lnSpc>
                <a:spcBef>
                  <a:spcPts val="525"/>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    [Exit Sub]</a:t>
              </a:r>
              <a:endParaRPr/>
            </a:p>
            <a:p>
              <a:pPr indent="0" lvl="0" marL="0" marR="0" rtl="0" algn="l">
                <a:lnSpc>
                  <a:spcPct val="100000"/>
                </a:lnSpc>
                <a:spcBef>
                  <a:spcPts val="525"/>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    [sentencias]</a:t>
              </a:r>
              <a:endParaRPr/>
            </a:p>
            <a:p>
              <a:pPr indent="0" lvl="0" marL="0" marR="0" rtl="0" algn="l">
                <a:lnSpc>
                  <a:spcPct val="100000"/>
                </a:lnSpc>
                <a:spcBef>
                  <a:spcPts val="525"/>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End Sub</a:t>
              </a:r>
              <a:endParaRPr/>
            </a:p>
          </p:txBody>
        </p:sp>
      </p:grpSp>
      <p:pic>
        <p:nvPicPr>
          <p:cNvPr descr="A close up of a text&#10;&#10;AI-generated content may be incorrect." id="237" name="Google Shape;237;p25"/>
          <p:cNvPicPr preferRelativeResize="0"/>
          <p:nvPr/>
        </p:nvPicPr>
        <p:blipFill rotWithShape="1">
          <a:blip r:embed="rId4">
            <a:alphaModFix/>
          </a:blip>
          <a:srcRect b="0" l="0" r="0" t="0"/>
          <a:stretch/>
        </p:blipFill>
        <p:spPr>
          <a:xfrm>
            <a:off x="310402" y="3330807"/>
            <a:ext cx="9303845" cy="1554537"/>
          </a:xfrm>
          <a:prstGeom prst="rect">
            <a:avLst/>
          </a:prstGeom>
          <a:noFill/>
          <a:ln>
            <a:noFill/>
          </a:ln>
        </p:spPr>
      </p:pic>
      <p:pic>
        <p:nvPicPr>
          <p:cNvPr id="238" name="Google Shape;238;p25"/>
          <p:cNvPicPr preferRelativeResize="0"/>
          <p:nvPr/>
        </p:nvPicPr>
        <p:blipFill rotWithShape="1">
          <a:blip r:embed="rId5">
            <a:alphaModFix/>
          </a:blip>
          <a:srcRect b="0" l="0" r="0" t="0"/>
          <a:stretch/>
        </p:blipFill>
        <p:spPr>
          <a:xfrm>
            <a:off x="589227" y="7458355"/>
            <a:ext cx="10565415" cy="136291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2" name="Shape 242"/>
        <p:cNvGrpSpPr/>
        <p:nvPr/>
      </p:nvGrpSpPr>
      <p:grpSpPr>
        <a:xfrm>
          <a:off x="0" y="0"/>
          <a:ext cx="0" cy="0"/>
          <a:chOff x="0" y="0"/>
          <a:chExt cx="0" cy="0"/>
        </a:xfrm>
      </p:grpSpPr>
      <p:sp>
        <p:nvSpPr>
          <p:cNvPr id="243" name="Google Shape;243;p26"/>
          <p:cNvSpPr/>
          <p:nvPr/>
        </p:nvSpPr>
        <p:spPr>
          <a:xfrm>
            <a:off x="-1" y="0"/>
            <a:ext cx="18283427"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4" name="Google Shape;244;p26"/>
          <p:cNvSpPr txBox="1"/>
          <p:nvPr/>
        </p:nvSpPr>
        <p:spPr>
          <a:xfrm>
            <a:off x="1257300" y="835492"/>
            <a:ext cx="15773400" cy="170054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600"/>
              </a:spcAft>
              <a:buNone/>
            </a:pPr>
            <a:r>
              <a:rPr b="0" i="0" lang="en-US" sz="6000" u="none" cap="none" strike="noStrike">
                <a:solidFill>
                  <a:schemeClr val="dk1"/>
                </a:solidFill>
                <a:latin typeface="Arial"/>
                <a:ea typeface="Arial"/>
                <a:cs typeface="Arial"/>
                <a:sym typeface="Arial"/>
              </a:rPr>
              <a:t>PROCEDIMIENTOS Y PROCEDIMIENTOS</a:t>
            </a:r>
            <a:endParaRPr b="0" i="0" sz="6000" u="none" cap="none" strike="noStrike">
              <a:solidFill>
                <a:schemeClr val="dk1"/>
              </a:solidFill>
              <a:latin typeface="Arial"/>
              <a:ea typeface="Arial"/>
              <a:cs typeface="Arial"/>
              <a:sym typeface="Arial"/>
            </a:endParaRPr>
          </a:p>
        </p:txBody>
      </p:sp>
      <p:grpSp>
        <p:nvGrpSpPr>
          <p:cNvPr id="245" name="Google Shape;245;p26"/>
          <p:cNvGrpSpPr/>
          <p:nvPr/>
        </p:nvGrpSpPr>
        <p:grpSpPr>
          <a:xfrm>
            <a:off x="1259225" y="3499463"/>
            <a:ext cx="15769549" cy="5004954"/>
            <a:chOff x="1925" y="761026"/>
            <a:chExt cx="15769549" cy="5004954"/>
          </a:xfrm>
        </p:grpSpPr>
        <p:sp>
          <p:nvSpPr>
            <p:cNvPr id="246" name="Google Shape;246;p26"/>
            <p:cNvSpPr/>
            <p:nvPr/>
          </p:nvSpPr>
          <p:spPr>
            <a:xfrm>
              <a:off x="1925" y="761026"/>
              <a:ext cx="6758378" cy="4291570"/>
            </a:xfrm>
            <a:prstGeom prst="roundRect">
              <a:avLst>
                <a:gd fmla="val 10000" name="adj"/>
              </a:avLst>
            </a:prstGeom>
            <a:solidFill>
              <a:schemeClr val="accent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6"/>
            <p:cNvSpPr/>
            <p:nvPr/>
          </p:nvSpPr>
          <p:spPr>
            <a:xfrm>
              <a:off x="752856" y="1474410"/>
              <a:ext cx="6758378" cy="4291570"/>
            </a:xfrm>
            <a:prstGeom prst="roundRect">
              <a:avLst>
                <a:gd fmla="val 10000" name="adj"/>
              </a:avLst>
            </a:prstGeom>
            <a:solidFill>
              <a:schemeClr val="lt1">
                <a:alpha val="89803"/>
              </a:schemeClr>
            </a:solidFill>
            <a:ln cap="flat" cmpd="sng" w="254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6"/>
            <p:cNvSpPr txBox="1"/>
            <p:nvPr/>
          </p:nvSpPr>
          <p:spPr>
            <a:xfrm>
              <a:off x="878552" y="1600106"/>
              <a:ext cx="6506986" cy="4040178"/>
            </a:xfrm>
            <a:prstGeom prst="rect">
              <a:avLst/>
            </a:prstGeom>
            <a:noFill/>
            <a:ln>
              <a:noFill/>
            </a:ln>
          </p:spPr>
          <p:txBody>
            <a:bodyPr anchorCtr="0" anchor="ctr" bIns="125725" lIns="125725" spcFirstLastPara="1" rIns="125725" wrap="square" tIns="125725">
              <a:noAutofit/>
            </a:bodyPr>
            <a:lstStyle/>
            <a:p>
              <a:pPr indent="0" lvl="0" marL="0" marR="0" rtl="0" algn="ctr">
                <a:lnSpc>
                  <a:spcPct val="90000"/>
                </a:lnSpc>
                <a:spcBef>
                  <a:spcPts val="0"/>
                </a:spcBef>
                <a:spcAft>
                  <a:spcPts val="0"/>
                </a:spcAft>
                <a:buClr>
                  <a:srgbClr val="000000"/>
                </a:buClr>
                <a:buSzPts val="3300"/>
                <a:buFont typeface="Arial"/>
                <a:buNone/>
              </a:pPr>
              <a:r>
                <a:rPr b="0" i="0" lang="en-US" sz="3300" u="none" cap="none" strike="noStrike">
                  <a:solidFill>
                    <a:srgbClr val="000000"/>
                  </a:solidFill>
                  <a:latin typeface="Arial"/>
                  <a:ea typeface="Arial"/>
                  <a:cs typeface="Arial"/>
                  <a:sym typeface="Arial"/>
                </a:rPr>
                <a:t>Para llamar a un procedimiento publico (Sub o Function) de un formulario desde cualquier otro modulo, hay que utilizar la siguiente sintaxis:</a:t>
              </a:r>
              <a:endParaRPr/>
            </a:p>
            <a:p>
              <a:pPr indent="0" lvl="0" marL="0" marR="0" rtl="0" algn="ctr">
                <a:lnSpc>
                  <a:spcPct val="90000"/>
                </a:lnSpc>
                <a:spcBef>
                  <a:spcPts val="1155"/>
                </a:spcBef>
                <a:spcAft>
                  <a:spcPts val="0"/>
                </a:spcAft>
                <a:buClr>
                  <a:srgbClr val="000000"/>
                </a:buClr>
                <a:buSzPts val="3300"/>
                <a:buFont typeface="Arial"/>
                <a:buNone/>
              </a:pPr>
              <a:r>
                <a:t/>
              </a:r>
              <a:endParaRPr b="0" i="0" sz="3300" u="none" cap="none" strike="noStrike">
                <a:solidFill>
                  <a:srgbClr val="000000"/>
                </a:solidFill>
                <a:latin typeface="Arial"/>
                <a:ea typeface="Arial"/>
                <a:cs typeface="Arial"/>
                <a:sym typeface="Arial"/>
              </a:endParaRPr>
            </a:p>
            <a:p>
              <a:pPr indent="0" lvl="0" marL="0" marR="0" rtl="0" algn="ctr">
                <a:lnSpc>
                  <a:spcPct val="90000"/>
                </a:lnSpc>
                <a:spcBef>
                  <a:spcPts val="1155"/>
                </a:spcBef>
                <a:spcAft>
                  <a:spcPts val="0"/>
                </a:spcAft>
                <a:buClr>
                  <a:srgbClr val="000000"/>
                </a:buClr>
                <a:buSzPts val="3300"/>
                <a:buFont typeface="Arial"/>
                <a:buNone/>
              </a:pPr>
              <a:r>
                <a:rPr b="0" i="1" lang="en-US" sz="3300" u="none" cap="none" strike="noStrike">
                  <a:solidFill>
                    <a:srgbClr val="000000"/>
                  </a:solidFill>
                  <a:latin typeface="Arial"/>
                  <a:ea typeface="Arial"/>
                  <a:cs typeface="Arial"/>
                  <a:sym typeface="Arial"/>
                </a:rPr>
                <a:t>Form.procedimiento(argumentos)</a:t>
              </a:r>
              <a:endParaRPr b="0" i="1" sz="3300" u="none" cap="none" strike="noStrike">
                <a:solidFill>
                  <a:srgbClr val="000000"/>
                </a:solidFill>
                <a:latin typeface="Arial"/>
                <a:ea typeface="Arial"/>
                <a:cs typeface="Arial"/>
                <a:sym typeface="Arial"/>
              </a:endParaRPr>
            </a:p>
          </p:txBody>
        </p:sp>
        <p:sp>
          <p:nvSpPr>
            <p:cNvPr id="249" name="Google Shape;249;p26"/>
            <p:cNvSpPr/>
            <p:nvPr/>
          </p:nvSpPr>
          <p:spPr>
            <a:xfrm>
              <a:off x="8262165" y="761026"/>
              <a:ext cx="6758378" cy="4291570"/>
            </a:xfrm>
            <a:prstGeom prst="roundRect">
              <a:avLst>
                <a:gd fmla="val 10000" name="adj"/>
              </a:avLst>
            </a:prstGeom>
            <a:solidFill>
              <a:schemeClr val="accent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6"/>
            <p:cNvSpPr/>
            <p:nvPr/>
          </p:nvSpPr>
          <p:spPr>
            <a:xfrm>
              <a:off x="9013096" y="1474410"/>
              <a:ext cx="6758378" cy="4291570"/>
            </a:xfrm>
            <a:prstGeom prst="roundRect">
              <a:avLst>
                <a:gd fmla="val 10000" name="adj"/>
              </a:avLst>
            </a:prstGeom>
            <a:solidFill>
              <a:schemeClr val="lt1">
                <a:alpha val="89803"/>
              </a:schemeClr>
            </a:solidFill>
            <a:ln cap="flat" cmpd="sng" w="254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6"/>
            <p:cNvSpPr txBox="1"/>
            <p:nvPr/>
          </p:nvSpPr>
          <p:spPr>
            <a:xfrm>
              <a:off x="9138792" y="1600106"/>
              <a:ext cx="6506986" cy="4040178"/>
            </a:xfrm>
            <a:prstGeom prst="rect">
              <a:avLst/>
            </a:prstGeom>
            <a:noFill/>
            <a:ln>
              <a:noFill/>
            </a:ln>
          </p:spPr>
          <p:txBody>
            <a:bodyPr anchorCtr="0" anchor="ctr" bIns="125725" lIns="125725" spcFirstLastPara="1" rIns="125725" wrap="square" tIns="125725">
              <a:noAutofit/>
            </a:bodyPr>
            <a:lstStyle/>
            <a:p>
              <a:pPr indent="0" lvl="0" marL="0" marR="0" rtl="0" algn="ctr">
                <a:lnSpc>
                  <a:spcPct val="90000"/>
                </a:lnSpc>
                <a:spcBef>
                  <a:spcPts val="0"/>
                </a:spcBef>
                <a:spcAft>
                  <a:spcPts val="0"/>
                </a:spcAft>
                <a:buClr>
                  <a:srgbClr val="000000"/>
                </a:buClr>
                <a:buSzPts val="3300"/>
                <a:buFont typeface="Arial"/>
                <a:buNone/>
              </a:pPr>
              <a:r>
                <a:rPr b="0" i="0" lang="en-US" sz="3300" u="none" cap="none" strike="noStrike">
                  <a:solidFill>
                    <a:srgbClr val="000000"/>
                  </a:solidFill>
                  <a:latin typeface="Arial"/>
                  <a:ea typeface="Arial"/>
                  <a:cs typeface="Arial"/>
                  <a:sym typeface="Arial"/>
                </a:rPr>
                <a:t>Donde form representa el formulario al cual pertenece el procedimiento llamado.</a:t>
              </a:r>
              <a:endParaRPr b="0" i="0" sz="3300" u="none" cap="none" strike="noStrike">
                <a:solidFill>
                  <a:srgbClr val="000000"/>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7"/>
          <p:cNvSpPr txBox="1"/>
          <p:nvPr/>
        </p:nvSpPr>
        <p:spPr>
          <a:xfrm>
            <a:off x="1257300" y="835492"/>
            <a:ext cx="15773400" cy="1700540"/>
          </a:xfrm>
          <a:prstGeom prst="rect">
            <a:avLst/>
          </a:prstGeom>
          <a:noFill/>
          <a:ln>
            <a:noFill/>
          </a:ln>
        </p:spPr>
        <p:txBody>
          <a:bodyPr anchorCtr="0" anchor="ctr" bIns="45700" lIns="91425" spcFirstLastPara="1" rIns="91425" wrap="square" tIns="45700">
            <a:normAutofit fontScale="92500"/>
          </a:bodyPr>
          <a:lstStyle/>
          <a:p>
            <a:pPr indent="0" lvl="0" marL="0" marR="0" rtl="0" algn="l">
              <a:lnSpc>
                <a:spcPct val="90000"/>
              </a:lnSpc>
              <a:spcBef>
                <a:spcPts val="0"/>
              </a:spcBef>
              <a:spcAft>
                <a:spcPts val="600"/>
              </a:spcAft>
              <a:buNone/>
            </a:pPr>
            <a:r>
              <a:rPr b="0" i="0" lang="en-US" sz="6600" u="none" cap="none" strike="noStrike">
                <a:solidFill>
                  <a:schemeClr val="dk1"/>
                </a:solidFill>
                <a:latin typeface="Arial"/>
                <a:ea typeface="Arial"/>
                <a:cs typeface="Arial"/>
                <a:sym typeface="Arial"/>
              </a:rPr>
              <a:t>PROCEDIMIENTOS Y PROCEDIMIENTOS</a:t>
            </a:r>
            <a:endParaRPr b="0" i="0" sz="6600" u="none" cap="none" strike="noStrike">
              <a:solidFill>
                <a:schemeClr val="dk1"/>
              </a:solidFill>
              <a:latin typeface="Arial"/>
              <a:ea typeface="Arial"/>
              <a:cs typeface="Arial"/>
              <a:sym typeface="Arial"/>
            </a:endParaRPr>
          </a:p>
        </p:txBody>
      </p:sp>
      <p:grpSp>
        <p:nvGrpSpPr>
          <p:cNvPr id="257" name="Google Shape;257;p27"/>
          <p:cNvGrpSpPr/>
          <p:nvPr/>
        </p:nvGrpSpPr>
        <p:grpSpPr>
          <a:xfrm>
            <a:off x="1259225" y="3499463"/>
            <a:ext cx="15769549" cy="5004954"/>
            <a:chOff x="1925" y="761026"/>
            <a:chExt cx="15769549" cy="5004954"/>
          </a:xfrm>
        </p:grpSpPr>
        <p:sp>
          <p:nvSpPr>
            <p:cNvPr id="258" name="Google Shape;258;p27"/>
            <p:cNvSpPr/>
            <p:nvPr/>
          </p:nvSpPr>
          <p:spPr>
            <a:xfrm>
              <a:off x="1925" y="761026"/>
              <a:ext cx="6758378" cy="4291570"/>
            </a:xfrm>
            <a:prstGeom prst="roundRect">
              <a:avLst>
                <a:gd fmla="val 10000" name="adj"/>
              </a:avLst>
            </a:prstGeom>
            <a:solidFill>
              <a:srgbClr val="BF504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7"/>
            <p:cNvSpPr/>
            <p:nvPr/>
          </p:nvSpPr>
          <p:spPr>
            <a:xfrm>
              <a:off x="752856" y="1474410"/>
              <a:ext cx="6758378" cy="4291570"/>
            </a:xfrm>
            <a:prstGeom prst="roundRect">
              <a:avLst>
                <a:gd fmla="val 10000" name="adj"/>
              </a:avLst>
            </a:prstGeom>
            <a:solidFill>
              <a:schemeClr val="lt1">
                <a:alpha val="89803"/>
              </a:schemeClr>
            </a:solidFill>
            <a:ln cap="flat" cmpd="sng" w="25400">
              <a:solidFill>
                <a:srgbClr val="BF50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7"/>
            <p:cNvSpPr txBox="1"/>
            <p:nvPr/>
          </p:nvSpPr>
          <p:spPr>
            <a:xfrm>
              <a:off x="878552" y="1600106"/>
              <a:ext cx="6506986" cy="4040178"/>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rgbClr val="000000"/>
                </a:buClr>
                <a:buSzPts val="1800"/>
                <a:buFont typeface="Arial"/>
                <a:buNone/>
              </a:pPr>
              <a:r>
                <a:t/>
              </a:r>
              <a:endParaRPr b="0" i="1" sz="1800" u="none" cap="none" strike="noStrike">
                <a:solidFill>
                  <a:srgbClr val="000000"/>
                </a:solidFill>
                <a:latin typeface="Arial"/>
                <a:ea typeface="Arial"/>
                <a:cs typeface="Arial"/>
                <a:sym typeface="Arial"/>
              </a:endParaRPr>
            </a:p>
          </p:txBody>
        </p:sp>
        <p:sp>
          <p:nvSpPr>
            <p:cNvPr id="261" name="Google Shape;261;p27"/>
            <p:cNvSpPr/>
            <p:nvPr/>
          </p:nvSpPr>
          <p:spPr>
            <a:xfrm>
              <a:off x="8262165" y="761026"/>
              <a:ext cx="6758378" cy="4291570"/>
            </a:xfrm>
            <a:prstGeom prst="roundRect">
              <a:avLst>
                <a:gd fmla="val 10000" name="adj"/>
              </a:avLst>
            </a:prstGeom>
            <a:solidFill>
              <a:srgbClr val="BF504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7"/>
            <p:cNvSpPr/>
            <p:nvPr/>
          </p:nvSpPr>
          <p:spPr>
            <a:xfrm>
              <a:off x="9013096" y="1474410"/>
              <a:ext cx="6758378" cy="4291570"/>
            </a:xfrm>
            <a:prstGeom prst="roundRect">
              <a:avLst>
                <a:gd fmla="val 10000" name="adj"/>
              </a:avLst>
            </a:prstGeom>
            <a:solidFill>
              <a:schemeClr val="lt1">
                <a:alpha val="89803"/>
              </a:schemeClr>
            </a:solidFill>
            <a:ln cap="flat" cmpd="sng" w="25400">
              <a:solidFill>
                <a:srgbClr val="BF50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7"/>
            <p:cNvSpPr txBox="1"/>
            <p:nvPr/>
          </p:nvSpPr>
          <p:spPr>
            <a:xfrm>
              <a:off x="9138792" y="1600106"/>
              <a:ext cx="6506986" cy="4040178"/>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En este caso se trata de un proceso predefinido, pero la regla se aplica exactamente igual a los procedimientos definidos por el usuario.</a:t>
              </a:r>
              <a:endParaRPr/>
            </a:p>
            <a:p>
              <a:pPr indent="0" lvl="0" marL="0" marR="0" rtl="0" algn="ctr">
                <a:lnSpc>
                  <a:spcPct val="90000"/>
                </a:lnSpc>
                <a:spcBef>
                  <a:spcPts val="63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90000"/>
                </a:lnSpc>
                <a:spcBef>
                  <a:spcPts val="63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Para llamar a un procedimiento publico de un modulo estándar desde cualquier otro modulo, puede hacerlo de las dos formas:</a:t>
              </a:r>
              <a:endParaRPr/>
            </a:p>
            <a:p>
              <a:pPr indent="0" lvl="0" marL="0" marR="0" rtl="0" algn="ctr">
                <a:lnSpc>
                  <a:spcPct val="90000"/>
                </a:lnSpc>
                <a:spcBef>
                  <a:spcPts val="63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Modulo.procedimiento(argumentos)</a:t>
              </a:r>
              <a:endParaRPr/>
            </a:p>
            <a:p>
              <a:pPr indent="0" lvl="0" marL="0" marR="0" rtl="0" algn="ctr">
                <a:lnSpc>
                  <a:spcPct val="90000"/>
                </a:lnSpc>
                <a:spcBef>
                  <a:spcPts val="63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Procedimiento(argumentos)</a:t>
              </a:r>
              <a:endParaRPr/>
            </a:p>
            <a:p>
              <a:pPr indent="0" lvl="0" marL="0" marR="0" rtl="0" algn="ctr">
                <a:lnSpc>
                  <a:spcPct val="90000"/>
                </a:lnSpc>
                <a:spcBef>
                  <a:spcPts val="630"/>
                </a:spcBef>
                <a:spcAft>
                  <a:spcPts val="0"/>
                </a:spcAft>
                <a:buClr>
                  <a:srgbClr val="000000"/>
                </a:buClr>
                <a:buSzPts val="1800"/>
                <a:buFont typeface="Arial"/>
                <a:buNone/>
              </a:pPr>
              <a:r>
                <a:t/>
              </a:r>
              <a:endParaRPr b="0" i="1" sz="1800" u="none" cap="none" strike="noStrike">
                <a:solidFill>
                  <a:srgbClr val="000000"/>
                </a:solidFill>
                <a:latin typeface="Arial"/>
                <a:ea typeface="Arial"/>
                <a:cs typeface="Arial"/>
                <a:sym typeface="Arial"/>
              </a:endParaRPr>
            </a:p>
            <a:p>
              <a:pPr indent="0" lvl="0" marL="0" marR="0" rtl="0" algn="ctr">
                <a:lnSpc>
                  <a:spcPct val="90000"/>
                </a:lnSpc>
                <a:spcBef>
                  <a:spcPts val="63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Donde modulo se refiere al nombre del modulo al que pertenece el procedimiento. El nombre del modulo sera obligatorio especificarlo cuando existan dos o mas procedimientos con el mismo nombre de diferentes modulos.</a:t>
              </a:r>
              <a:endParaRPr/>
            </a:p>
          </p:txBody>
        </p:sp>
      </p:grpSp>
      <p:pic>
        <p:nvPicPr>
          <p:cNvPr id="264" name="Google Shape;264;p27"/>
          <p:cNvPicPr preferRelativeResize="0"/>
          <p:nvPr/>
        </p:nvPicPr>
        <p:blipFill rotWithShape="1">
          <a:blip r:embed="rId3">
            <a:alphaModFix/>
          </a:blip>
          <a:srcRect b="0" l="0" r="0" t="0"/>
          <a:stretch/>
        </p:blipFill>
        <p:spPr>
          <a:xfrm>
            <a:off x="2170580" y="4428565"/>
            <a:ext cx="6395196" cy="359933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6"/>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CONCEPTOS CLAVE APRENDIDOS </a:t>
            </a:r>
            <a:endParaRPr b="0" i="0" sz="1400" u="none" cap="none" strike="noStrike">
              <a:solidFill>
                <a:srgbClr val="000000"/>
              </a:solidFill>
              <a:latin typeface="Impact"/>
              <a:ea typeface="Impact"/>
              <a:cs typeface="Impact"/>
              <a:sym typeface="Impact"/>
            </a:endParaRPr>
          </a:p>
        </p:txBody>
      </p:sp>
      <p:sp>
        <p:nvSpPr>
          <p:cNvPr id="270" name="Google Shape;270;p6"/>
          <p:cNvSpPr txBox="1"/>
          <p:nvPr/>
        </p:nvSpPr>
        <p:spPr>
          <a:xfrm>
            <a:off x="6212437" y="3860833"/>
            <a:ext cx="6911332" cy="2757678"/>
          </a:xfrm>
          <a:prstGeom prst="rect">
            <a:avLst/>
          </a:prstGeom>
          <a:noFill/>
          <a:ln>
            <a:noFill/>
          </a:ln>
        </p:spPr>
        <p:txBody>
          <a:bodyPr anchorCtr="0" anchor="t" bIns="0" lIns="0" spcFirstLastPara="1" rIns="0" wrap="square" tIns="0">
            <a:spAutoFit/>
          </a:bodyPr>
          <a:lstStyle/>
          <a:p>
            <a:pPr indent="-457200" lvl="0" marL="457200" marR="0" rtl="0" algn="l">
              <a:lnSpc>
                <a:spcPct val="140019"/>
              </a:lnSpc>
              <a:spcBef>
                <a:spcPts val="0"/>
              </a:spcBef>
              <a:spcAft>
                <a:spcPts val="0"/>
              </a:spcAft>
              <a:buClr>
                <a:srgbClr val="000000"/>
              </a:buClr>
              <a:buSzPts val="3200"/>
              <a:buFont typeface="Arial"/>
              <a:buChar char="•"/>
            </a:pPr>
            <a:r>
              <a:rPr b="0" i="0" lang="en-US" sz="3200" u="none" cap="none" strike="noStrike">
                <a:solidFill>
                  <a:srgbClr val="131416"/>
                </a:solidFill>
                <a:latin typeface="Arial"/>
                <a:ea typeface="Arial"/>
                <a:cs typeface="Arial"/>
                <a:sym typeface="Arial"/>
              </a:rPr>
              <a:t>USO DE FUNCIONES</a:t>
            </a:r>
            <a:endParaRPr/>
          </a:p>
          <a:p>
            <a:pPr indent="-285750" lvl="0" marL="285750" marR="0" rtl="0" algn="l">
              <a:lnSpc>
                <a:spcPct val="140019"/>
              </a:lnSpc>
              <a:spcBef>
                <a:spcPts val="0"/>
              </a:spcBef>
              <a:spcAft>
                <a:spcPts val="0"/>
              </a:spcAft>
              <a:buClr>
                <a:srgbClr val="000000"/>
              </a:buClr>
              <a:buSzPts val="3200"/>
              <a:buFont typeface="Arial"/>
              <a:buChar char="•"/>
            </a:pPr>
            <a:r>
              <a:rPr b="0" i="0" lang="en-US" sz="3200" u="none" cap="none" strike="noStrike">
                <a:solidFill>
                  <a:srgbClr val="131416"/>
                </a:solidFill>
                <a:latin typeface="Arial"/>
                <a:ea typeface="Arial"/>
                <a:cs typeface="Arial"/>
                <a:sym typeface="Arial"/>
              </a:rPr>
              <a:t>LLAMAR UN PROCEDIMIENTO</a:t>
            </a:r>
            <a:endParaRPr/>
          </a:p>
          <a:p>
            <a:pPr indent="-285750" lvl="0" marL="285750" marR="0" rtl="0" algn="l">
              <a:lnSpc>
                <a:spcPct val="140019"/>
              </a:lnSpc>
              <a:spcBef>
                <a:spcPts val="0"/>
              </a:spcBef>
              <a:spcAft>
                <a:spcPts val="0"/>
              </a:spcAft>
              <a:buClr>
                <a:srgbClr val="000000"/>
              </a:buClr>
              <a:buSzPts val="3200"/>
              <a:buFont typeface="Arial"/>
              <a:buChar char="•"/>
            </a:pPr>
            <a:r>
              <a:rPr b="0" i="0" lang="en-US" sz="3200" u="none" cap="none" strike="noStrike">
                <a:solidFill>
                  <a:srgbClr val="131416"/>
                </a:solidFill>
                <a:latin typeface="Arial"/>
                <a:ea typeface="Arial"/>
                <a:cs typeface="Arial"/>
                <a:sym typeface="Arial"/>
              </a:rPr>
              <a:t>RETORNO DE FUNCIONES Y PARAMETROS.</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4" name="Shape 274"/>
        <p:cNvGrpSpPr/>
        <p:nvPr/>
      </p:nvGrpSpPr>
      <p:grpSpPr>
        <a:xfrm>
          <a:off x="0" y="0"/>
          <a:ext cx="0" cy="0"/>
          <a:chOff x="0" y="0"/>
          <a:chExt cx="0" cy="0"/>
        </a:xfrm>
      </p:grpSpPr>
      <p:sp>
        <p:nvSpPr>
          <p:cNvPr id="275" name="Google Shape;275;p7"/>
          <p:cNvSpPr/>
          <p:nvPr/>
        </p:nvSpPr>
        <p:spPr>
          <a:xfrm>
            <a:off x="0" y="0"/>
            <a:ext cx="18283428"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76" name="Google Shape;276;p7"/>
          <p:cNvSpPr txBox="1"/>
          <p:nvPr/>
        </p:nvSpPr>
        <p:spPr>
          <a:xfrm>
            <a:off x="3295651" y="1102924"/>
            <a:ext cx="8470525" cy="4747568"/>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600"/>
              </a:spcAft>
              <a:buNone/>
            </a:pPr>
            <a:r>
              <a:rPr b="0" i="0" lang="en-US" sz="7800" u="none" cap="none" strike="noStrike">
                <a:solidFill>
                  <a:schemeClr val="dk1"/>
                </a:solidFill>
                <a:latin typeface="Arial"/>
                <a:ea typeface="Arial"/>
                <a:cs typeface="Arial"/>
                <a:sym typeface="Arial"/>
              </a:rPr>
              <a:t>COLABORACION</a:t>
            </a:r>
            <a:endParaRPr/>
          </a:p>
        </p:txBody>
      </p:sp>
      <p:sp>
        <p:nvSpPr>
          <p:cNvPr id="277" name="Google Shape;277;p7"/>
          <p:cNvSpPr txBox="1"/>
          <p:nvPr/>
        </p:nvSpPr>
        <p:spPr>
          <a:xfrm>
            <a:off x="3295651" y="6117634"/>
            <a:ext cx="7467599" cy="3087986"/>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1000"/>
              </a:spcBef>
              <a:spcAft>
                <a:spcPts val="0"/>
              </a:spcAft>
              <a:buNone/>
            </a:pPr>
            <a:r>
              <a:t/>
            </a:r>
            <a:endParaRPr b="0" i="0" sz="2400" u="none" cap="none" strike="noStrike">
              <a:solidFill>
                <a:schemeClr val="dk1"/>
              </a:solidFill>
              <a:latin typeface="Arial"/>
              <a:ea typeface="Arial"/>
              <a:cs typeface="Arial"/>
              <a:sym typeface="Arial"/>
            </a:endParaRPr>
          </a:p>
        </p:txBody>
      </p:sp>
      <p:pic>
        <p:nvPicPr>
          <p:cNvPr descr="Wreath" id="278" name="Google Shape;278;p7"/>
          <p:cNvPicPr preferRelativeResize="0"/>
          <p:nvPr/>
        </p:nvPicPr>
        <p:blipFill rotWithShape="1">
          <a:blip r:embed="rId3">
            <a:alphaModFix/>
          </a:blip>
          <a:srcRect b="0" l="0" r="0" t="0"/>
          <a:stretch/>
        </p:blipFill>
        <p:spPr>
          <a:xfrm>
            <a:off x="1076323" y="4164928"/>
            <a:ext cx="1933577" cy="1933577"/>
          </a:xfrm>
          <a:prstGeom prst="rect">
            <a:avLst/>
          </a:prstGeom>
          <a:noFill/>
          <a:ln>
            <a:noFill/>
          </a:ln>
        </p:spPr>
      </p:pic>
      <p:pic>
        <p:nvPicPr>
          <p:cNvPr descr="Wreath" id="279" name="Google Shape;279;p7"/>
          <p:cNvPicPr preferRelativeResize="0"/>
          <p:nvPr/>
        </p:nvPicPr>
        <p:blipFill rotWithShape="1">
          <a:blip r:embed="rId3">
            <a:alphaModFix amt="15000"/>
          </a:blip>
          <a:srcRect b="0" l="0" r="0" t="0"/>
          <a:stretch/>
        </p:blipFill>
        <p:spPr>
          <a:xfrm>
            <a:off x="9911722" y="1074610"/>
            <a:ext cx="8117015" cy="8117015"/>
          </a:xfrm>
          <a:prstGeom prst="rect">
            <a:avLst/>
          </a:prstGeom>
          <a:noFill/>
          <a:ln>
            <a:noFill/>
          </a:ln>
        </p:spPr>
      </p:pic>
      <p:sp>
        <p:nvSpPr>
          <p:cNvPr id="280" name="Google Shape;280;p7"/>
          <p:cNvSpPr txBox="1"/>
          <p:nvPr/>
        </p:nvSpPr>
        <p:spPr>
          <a:xfrm>
            <a:off x="5056655" y="6413479"/>
            <a:ext cx="9856773" cy="1434624"/>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600"/>
              </a:spcAft>
              <a:buClr>
                <a:srgbClr val="000000"/>
              </a:buClr>
              <a:buSzPts val="3151"/>
              <a:buFont typeface="Arial"/>
              <a:buNone/>
            </a:pPr>
            <a:r>
              <a:rPr b="0" i="0" lang="en-US" sz="3151" u="none" cap="none" strike="noStrike">
                <a:solidFill>
                  <a:srgbClr val="131416"/>
                </a:solidFill>
                <a:latin typeface="Arial"/>
                <a:ea typeface="Arial"/>
                <a:cs typeface="Arial"/>
                <a:sym typeface="Arial"/>
              </a:rPr>
              <a:t>Frase: Una función no trabaja sola, necesita del equipo para dar resultados.</a:t>
            </a:r>
            <a:endParaRPr b="0" i="0" sz="32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278"/>
                                        </p:tgtEl>
                                        <p:attrNameLst>
                                          <p:attrName>style.visibility</p:attrName>
                                        </p:attrNameLst>
                                      </p:cBhvr>
                                      <p:to>
                                        <p:strVal val="visible"/>
                                      </p:to>
                                    </p:set>
                                    <p:animEffect filter="fade" transition="in">
                                      <p:cBhvr>
                                        <p:cTn dur="700"/>
                                        <p:tgtEl>
                                          <p:spTgt spid="278"/>
                                        </p:tgtEl>
                                      </p:cBhvr>
                                    </p:animEffect>
                                  </p:childTnLst>
                                </p:cTn>
                              </p:par>
                              <p:par>
                                <p:cTn fill="hold" nodeType="withEffect" presetClass="entr" presetID="10" presetSubtype="0">
                                  <p:stCondLst>
                                    <p:cond delay="500"/>
                                  </p:stCondLst>
                                  <p:childTnLst>
                                    <p:set>
                                      <p:cBhvr>
                                        <p:cTn dur="1" fill="hold">
                                          <p:stCondLst>
                                            <p:cond delay="0"/>
                                          </p:stCondLst>
                                        </p:cTn>
                                        <p:tgtEl>
                                          <p:spTgt spid="279"/>
                                        </p:tgtEl>
                                        <p:attrNameLst>
                                          <p:attrName>style.visibility</p:attrName>
                                        </p:attrNameLst>
                                      </p:cBhvr>
                                      <p:to>
                                        <p:strVal val="visible"/>
                                      </p:to>
                                    </p:set>
                                    <p:animEffect filter="fade" transition="in">
                                      <p:cBhvr>
                                        <p:cTn dur="700"/>
                                        <p:tgtEl>
                                          <p:spTgt spid="2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8"/>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REFERENCIAS </a:t>
            </a:r>
            <a:endParaRPr b="0" i="0" sz="1400" u="none" cap="none" strike="noStrike">
              <a:solidFill>
                <a:srgbClr val="000000"/>
              </a:solidFill>
              <a:latin typeface="Impact"/>
              <a:ea typeface="Impact"/>
              <a:cs typeface="Impact"/>
              <a:sym typeface="Impact"/>
            </a:endParaRPr>
          </a:p>
        </p:txBody>
      </p:sp>
      <p:sp>
        <p:nvSpPr>
          <p:cNvPr id="286" name="Google Shape;286;p8"/>
          <p:cNvSpPr txBox="1"/>
          <p:nvPr/>
        </p:nvSpPr>
        <p:spPr>
          <a:xfrm>
            <a:off x="5803381" y="4280604"/>
            <a:ext cx="6911332" cy="2216614"/>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Clr>
                <a:srgbClr val="000000"/>
              </a:buClr>
              <a:buSzPts val="3151"/>
              <a:buFont typeface="Arial"/>
              <a:buNone/>
            </a:pPr>
            <a:r>
              <a:rPr b="0" i="0" lang="en-US" sz="3151" u="none" cap="none" strike="noStrike">
                <a:solidFill>
                  <a:srgbClr val="131416"/>
                </a:solidFill>
                <a:latin typeface="Arial"/>
                <a:ea typeface="Arial"/>
                <a:cs typeface="Arial"/>
                <a:sym typeface="Arial"/>
              </a:rPr>
              <a:t>Recuerda que hay que dar crédito a las personas de las cuales te has basado para generar tu presentación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9"/>
          <p:cNvSpPr txBox="1"/>
          <p:nvPr/>
        </p:nvSpPr>
        <p:spPr>
          <a:xfrm>
            <a:off x="4437795" y="3389104"/>
            <a:ext cx="8658900" cy="19152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6099"/>
              <a:buFont typeface="Arial"/>
              <a:buNone/>
            </a:pPr>
            <a:r>
              <a:rPr b="0" i="0" lang="en-US" sz="6099" u="none" cap="none" strike="noStrike">
                <a:solidFill>
                  <a:srgbClr val="131416"/>
                </a:solidFill>
                <a:latin typeface="Impact"/>
                <a:ea typeface="Impact"/>
                <a:cs typeface="Impact"/>
                <a:sym typeface="Impact"/>
              </a:rPr>
              <a:t>¡GRACIAS POR SU  ATENCIÓN!</a:t>
            </a:r>
            <a:endParaRPr b="0" i="0" sz="1400" u="none" cap="none" strike="noStrike">
              <a:solidFill>
                <a:srgbClr val="000000"/>
              </a:solidFill>
              <a:latin typeface="Impact"/>
              <a:ea typeface="Impact"/>
              <a:cs typeface="Impact"/>
              <a:sym typeface="Impact"/>
            </a:endParaRPr>
          </a:p>
          <a:p>
            <a:pPr indent="0" lvl="0" marL="0" marR="0" rtl="0" algn="just">
              <a:lnSpc>
                <a:spcPct val="104000"/>
              </a:lnSpc>
              <a:spcBef>
                <a:spcPts val="0"/>
              </a:spcBef>
              <a:spcAft>
                <a:spcPts val="0"/>
              </a:spcAft>
              <a:buClr>
                <a:srgbClr val="000000"/>
              </a:buClr>
              <a:buSzPts val="6099"/>
              <a:buFont typeface="Arial"/>
              <a:buNone/>
            </a:pPr>
            <a:r>
              <a:t/>
            </a:r>
            <a:endParaRPr b="0" i="0" sz="6099" u="none" cap="none" strike="noStrike">
              <a:solidFill>
                <a:srgbClr val="131416"/>
              </a:solidFill>
              <a:latin typeface="Impact"/>
              <a:ea typeface="Impact"/>
              <a:cs typeface="Impact"/>
              <a:sym typeface="Impact"/>
            </a:endParaRPr>
          </a:p>
        </p:txBody>
      </p:sp>
      <p:sp>
        <p:nvSpPr>
          <p:cNvPr id="292" name="Google Shape;292;p9"/>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5000"/>
              <a:buFont typeface="Arial"/>
              <a:buNone/>
            </a:pPr>
            <a:r>
              <a:rPr b="0" i="0" lang="en-US" sz="5000" u="none" cap="none" strike="noStrike">
                <a:solidFill>
                  <a:srgbClr val="131416"/>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
        <p:nvSpPr>
          <p:cNvPr id="293" name="Google Shape;293;p9"/>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4" name="Google Shape;294;p9"/>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