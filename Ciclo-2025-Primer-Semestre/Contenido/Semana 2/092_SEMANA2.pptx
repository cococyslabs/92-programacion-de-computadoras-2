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9" r:id="rId6"/>
    <p:sldMasterId id="2147483661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</p:sldIdLst>
  <p:sldSz cy="10287000" cx="18288000"/>
  <p:notesSz cx="6858000" cy="9144000"/>
  <p:embeddedFontLst>
    <p:embeddedFont>
      <p:font typeface="Lobster"/>
      <p:regular r:id="rId26"/>
    </p:embeddedFont>
    <p:embeddedFont>
      <p:font typeface="Pacifico"/>
      <p:regular r:id="rId27"/>
    </p:embeddedFont>
    <p:embeddedFont>
      <p:font typeface="Open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glL2+CUMEQsEpU9UQy/lIQUXMD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084EB9-0E05-4461-9590-A64A02A51F2A}">
  <a:tblStyle styleId="{8D084EB9-0E05-4461-9590-A64A02A51F2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slide" Target="slides/slide14.xml"/><Relationship Id="rId21" Type="http://schemas.openxmlformats.org/officeDocument/2006/relationships/slide" Target="slides/slide13.xml"/><Relationship Id="rId24" Type="http://schemas.openxmlformats.org/officeDocument/2006/relationships/slide" Target="slides/slide16.xml"/><Relationship Id="rId23" Type="http://schemas.openxmlformats.org/officeDocument/2006/relationships/slide" Target="slides/slide1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Lobster-regular.fntdata"/><Relationship Id="rId25" Type="http://schemas.openxmlformats.org/officeDocument/2006/relationships/slide" Target="slides/slide17.xml"/><Relationship Id="rId28" Type="http://schemas.openxmlformats.org/officeDocument/2006/relationships/font" Target="fonts/OpenSans-regular.fntdata"/><Relationship Id="rId27" Type="http://schemas.openxmlformats.org/officeDocument/2006/relationships/font" Target="fonts/Pacific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OpenSans-bold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31" Type="http://schemas.openxmlformats.org/officeDocument/2006/relationships/font" Target="fonts/OpenSans-boldItalic.fntdata"/><Relationship Id="rId30" Type="http://schemas.openxmlformats.org/officeDocument/2006/relationships/font" Target="fonts/OpenSans-italic.fntdata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32" Type="http://customschemas.google.com/relationships/presentationmetadata" Target="metadata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4" name="Google Shape;27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0" name="Google Shape;31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arn.microsoft.com/es-es/office/vba/language/reference/user-interface-help/toolbox" TargetMode="External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s-es/office/vba/language/reference/user-interface-help/toolbox" TargetMode="External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1028700" y="5979021"/>
            <a:ext cx="6351814" cy="21544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092 Programacion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 Computadoras 2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2956500" y="2132508"/>
            <a:ext cx="12375000" cy="39641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0"/>
              <a:buFont typeface="Arial"/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Variables y Tipos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1028700" y="9210675"/>
            <a:ext cx="6667500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228600" y="9588254"/>
            <a:ext cx="81153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105;p2"/>
          <p:cNvGrpSpPr/>
          <p:nvPr/>
        </p:nvGrpSpPr>
        <p:grpSpPr>
          <a:xfrm>
            <a:off x="764447" y="4544825"/>
            <a:ext cx="5709916" cy="845385"/>
            <a:chOff x="0" y="-65837"/>
            <a:chExt cx="2430999" cy="359923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367885" y="-65837"/>
              <a:ext cx="2063114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 clase o generales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" name="Google Shape;108;p2"/>
          <p:cNvSpPr/>
          <p:nvPr/>
        </p:nvSpPr>
        <p:spPr>
          <a:xfrm>
            <a:off x="878654" y="4740441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2"/>
          <p:cNvGrpSpPr/>
          <p:nvPr/>
        </p:nvGrpSpPr>
        <p:grpSpPr>
          <a:xfrm>
            <a:off x="1866989" y="3013983"/>
            <a:ext cx="4115190" cy="1556484"/>
            <a:chOff x="0" y="-76200"/>
            <a:chExt cx="1083836" cy="409938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51749" y="490900"/>
            <a:ext cx="7710301" cy="2308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Pacifico"/>
                <a:ea typeface="Pacifico"/>
                <a:cs typeface="Pacifico"/>
                <a:sym typeface="Pacifico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Pacifico"/>
              <a:ea typeface="Pacifico"/>
              <a:cs typeface="Pacifico"/>
              <a:sym typeface="Pacifico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10105990" y="390767"/>
            <a:ext cx="84168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131416"/>
                </a:solidFill>
                <a:latin typeface="Lobster"/>
                <a:ea typeface="Lobster"/>
                <a:cs typeface="Lobster"/>
                <a:sym typeface="Lobster"/>
              </a:rPr>
              <a:t>Recursos</a:t>
            </a:r>
            <a:endParaRPr b="0" i="0" sz="1400" u="none" cap="none" strike="noStrike">
              <a:solidFill>
                <a:srgbClr val="000000"/>
              </a:solidFill>
              <a:latin typeface="Lobster"/>
              <a:ea typeface="Lobster"/>
              <a:cs typeface="Lobster"/>
              <a:sym typeface="Lobster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11739805" y="3232617"/>
            <a:ext cx="5353646" cy="1267162"/>
          </a:xfrm>
          <a:custGeom>
            <a:rect b="b" l="l" r="r" t="t"/>
            <a:pathLst>
              <a:path extrusionOk="0" h="333738" w="1410014">
                <a:moveTo>
                  <a:pt x="1206814" y="0"/>
                </a:moveTo>
                <a:lnTo>
                  <a:pt x="0" y="0"/>
                </a:lnTo>
                <a:lnTo>
                  <a:pt x="0" y="333738"/>
                </a:lnTo>
                <a:lnTo>
                  <a:pt x="1206814" y="333738"/>
                </a:lnTo>
                <a:lnTo>
                  <a:pt x="1410014" y="166869"/>
                </a:lnTo>
                <a:lnTo>
                  <a:pt x="120681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" name="Google Shape;116;p2"/>
          <p:cNvGrpSpPr/>
          <p:nvPr/>
        </p:nvGrpSpPr>
        <p:grpSpPr>
          <a:xfrm>
            <a:off x="11739805" y="4598683"/>
            <a:ext cx="5353646" cy="1701145"/>
            <a:chOff x="0" y="-114300"/>
            <a:chExt cx="1410014" cy="448038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410014" cy="333738"/>
            </a:xfrm>
            <a:custGeom>
              <a:rect b="b" l="l" r="r" t="t"/>
              <a:pathLst>
                <a:path extrusionOk="0" h="333738" w="1410014">
                  <a:moveTo>
                    <a:pt x="1206814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06814" y="333738"/>
                  </a:lnTo>
                  <a:lnTo>
                    <a:pt x="1410014" y="16686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"/>
            <p:cNvSpPr txBox="1"/>
            <p:nvPr/>
          </p:nvSpPr>
          <p:spPr>
            <a:xfrm>
              <a:off x="0" y="-114300"/>
              <a:ext cx="1295714" cy="4480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99"/>
                <a:buFont typeface="Arial"/>
                <a:buNone/>
              </a:pPr>
              <a:r>
                <a:rPr b="0" i="0" lang="en-US" sz="44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Ver en el apartado material de apoyo en Uedi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2"/>
          <p:cNvGrpSpPr/>
          <p:nvPr/>
        </p:nvGrpSpPr>
        <p:grpSpPr>
          <a:xfrm>
            <a:off x="176619" y="5444302"/>
            <a:ext cx="4613551" cy="845385"/>
            <a:chOff x="0" y="-76200"/>
            <a:chExt cx="1964221" cy="359923"/>
          </a:xfrm>
        </p:grpSpPr>
        <p:sp>
          <p:nvSpPr>
            <p:cNvPr id="120" name="Google Shape;120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 txBox="1"/>
            <p:nvPr/>
          </p:nvSpPr>
          <p:spPr>
            <a:xfrm>
              <a:off x="64883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Anuncios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" name="Google Shape;122;p2"/>
          <p:cNvGrpSpPr/>
          <p:nvPr/>
        </p:nvGrpSpPr>
        <p:grpSpPr>
          <a:xfrm>
            <a:off x="176619" y="6425875"/>
            <a:ext cx="5433658" cy="845385"/>
            <a:chOff x="0" y="-76200"/>
            <a:chExt cx="2313383" cy="359923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463462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Contenido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76619" y="7349457"/>
            <a:ext cx="5237713" cy="845385"/>
            <a:chOff x="0" y="-76200"/>
            <a:chExt cx="2229959" cy="359923"/>
          </a:xfrm>
        </p:grpSpPr>
        <p:sp>
          <p:nvSpPr>
            <p:cNvPr id="126" name="Google Shape;126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2"/>
            <p:cNvSpPr txBox="1"/>
            <p:nvPr/>
          </p:nvSpPr>
          <p:spPr>
            <a:xfrm>
              <a:off x="380038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Lectura Explicativa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" name="Google Shape;128;p2"/>
          <p:cNvGrpSpPr/>
          <p:nvPr/>
        </p:nvGrpSpPr>
        <p:grpSpPr>
          <a:xfrm>
            <a:off x="176619" y="8412915"/>
            <a:ext cx="4998222" cy="845385"/>
            <a:chOff x="0" y="-76200"/>
            <a:chExt cx="2127995" cy="359923"/>
          </a:xfrm>
        </p:grpSpPr>
        <p:sp>
          <p:nvSpPr>
            <p:cNvPr id="129" name="Google Shape;129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2"/>
            <p:cNvSpPr txBox="1"/>
            <p:nvPr/>
          </p:nvSpPr>
          <p:spPr>
            <a:xfrm>
              <a:off x="278074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Dudas del tema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2"/>
          <p:cNvSpPr/>
          <p:nvPr/>
        </p:nvSpPr>
        <p:spPr>
          <a:xfrm>
            <a:off x="878654" y="562328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878654" y="660485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878654" y="760463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878654" y="8605540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5"/>
                </a:lnTo>
                <a:lnTo>
                  <a:pt x="0" y="5500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/>
          <p:nvPr/>
        </p:nvSpPr>
        <p:spPr>
          <a:xfrm>
            <a:off x="4572" y="0"/>
            <a:ext cx="18283428" cy="10287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2286" y="0"/>
            <a:ext cx="18283428" cy="10287000"/>
          </a:xfrm>
          <a:prstGeom prst="rect">
            <a:avLst/>
          </a:prstGeom>
          <a:solidFill>
            <a:schemeClr val="dk1">
              <a:alpha val="5294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3"/>
          <p:cNvGrpSpPr/>
          <p:nvPr/>
        </p:nvGrpSpPr>
        <p:grpSpPr>
          <a:xfrm rot="-5400000">
            <a:off x="252222" y="1346236"/>
            <a:ext cx="304800" cy="644652"/>
            <a:chOff x="215328" y="-46937"/>
            <a:chExt cx="304800" cy="2773841"/>
          </a:xfrm>
        </p:grpSpPr>
        <p:cxnSp>
          <p:nvCxnSpPr>
            <p:cNvPr id="142" name="Google Shape;142;p3"/>
            <p:cNvCxnSpPr/>
            <p:nvPr/>
          </p:nvCxnSpPr>
          <p:spPr>
            <a:xfrm>
              <a:off x="2153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3"/>
            <p:cNvCxnSpPr/>
            <p:nvPr/>
          </p:nvCxnSpPr>
          <p:spPr>
            <a:xfrm>
              <a:off x="3169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3"/>
            <p:cNvCxnSpPr/>
            <p:nvPr/>
          </p:nvCxnSpPr>
          <p:spPr>
            <a:xfrm>
              <a:off x="4185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3"/>
            <p:cNvCxnSpPr/>
            <p:nvPr/>
          </p:nvCxnSpPr>
          <p:spPr>
            <a:xfrm>
              <a:off x="520128" y="-46937"/>
              <a:ext cx="0" cy="2773841"/>
            </a:xfrm>
            <a:prstGeom prst="straightConnector1">
              <a:avLst/>
            </a:prstGeom>
            <a:noFill/>
            <a:ln cap="flat" cmpd="sng" w="25400">
              <a:solidFill>
                <a:srgbClr val="538CD5">
                  <a:alpha val="4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grpSp>
        <p:nvGrpSpPr>
          <p:cNvPr id="146" name="Google Shape;146;p3"/>
          <p:cNvGrpSpPr/>
          <p:nvPr/>
        </p:nvGrpSpPr>
        <p:grpSpPr>
          <a:xfrm>
            <a:off x="1" y="3113131"/>
            <a:ext cx="18594101" cy="6660966"/>
            <a:chOff x="1" y="2075420"/>
            <a:chExt cx="12396066" cy="4440643"/>
          </a:xfrm>
        </p:grpSpPr>
        <p:sp>
          <p:nvSpPr>
            <p:cNvPr id="147" name="Google Shape;147;p3"/>
            <p:cNvSpPr/>
            <p:nvPr/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9803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3"/>
            <p:cNvSpPr/>
            <p:nvPr/>
          </p:nvSpPr>
          <p:spPr>
            <a:xfrm rot="-5400000">
              <a:off x="10435065" y="4048931"/>
              <a:ext cx="1381607" cy="1381607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"/>
            <p:cNvSpPr/>
            <p:nvPr/>
          </p:nvSpPr>
          <p:spPr>
            <a:xfrm rot="-54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rgbClr val="C4BD97">
                    <a:alpha val="20000"/>
                  </a:srgbClr>
                </a:gs>
                <a:gs pos="100000">
                  <a:srgbClr val="938953">
                    <a:alpha val="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 rot="-90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rgbClr val="C4BD97">
                    <a:alpha val="9803"/>
                  </a:srgbClr>
                </a:gs>
                <a:gs pos="100000">
                  <a:srgbClr val="C4BD97">
                    <a:alpha val="2000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"/>
            <p:cNvSpPr/>
            <p:nvPr/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2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"/>
            <p:cNvSpPr/>
            <p:nvPr/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cap="flat" cmpd="sng" w="31750">
              <a:solidFill>
                <a:srgbClr val="F4F3EC">
                  <a:alpha val="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3"/>
          <p:cNvSpPr/>
          <p:nvPr/>
        </p:nvSpPr>
        <p:spPr>
          <a:xfrm rot="-5400000">
            <a:off x="15657219" y="1563908"/>
            <a:ext cx="4194692" cy="1066878"/>
          </a:xfrm>
          <a:prstGeom prst="rect">
            <a:avLst/>
          </a:prstGeom>
          <a:gradFill>
            <a:gsLst>
              <a:gs pos="0">
                <a:srgbClr val="F7F6F2">
                  <a:alpha val="0"/>
                </a:srgbClr>
              </a:gs>
              <a:gs pos="100000">
                <a:srgbClr val="C4BD97">
                  <a:alpha val="9803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4" name="Google Shape;154;p3"/>
          <p:cNvGrpSpPr/>
          <p:nvPr/>
        </p:nvGrpSpPr>
        <p:grpSpPr>
          <a:xfrm>
            <a:off x="16889308" y="-1280992"/>
            <a:ext cx="822960" cy="549007"/>
            <a:chOff x="7029447" y="3514725"/>
            <a:chExt cx="1285875" cy="549007"/>
          </a:xfrm>
        </p:grpSpPr>
        <p:cxnSp>
          <p:nvCxnSpPr>
            <p:cNvPr id="155" name="Google Shape;155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59" name="Google Shape;159;p3"/>
          <p:cNvSpPr/>
          <p:nvPr/>
        </p:nvSpPr>
        <p:spPr>
          <a:xfrm rot="10800000">
            <a:off x="-1" y="9211177"/>
            <a:ext cx="9143995" cy="1066878"/>
          </a:xfrm>
          <a:prstGeom prst="rect">
            <a:avLst/>
          </a:prstGeom>
          <a:gradFill>
            <a:gsLst>
              <a:gs pos="0">
                <a:srgbClr val="938953">
                  <a:alpha val="9803"/>
                </a:srgbClr>
              </a:gs>
              <a:gs pos="10000">
                <a:srgbClr val="938953">
                  <a:alpha val="9803"/>
                </a:srgbClr>
              </a:gs>
              <a:gs pos="100000">
                <a:srgbClr val="F4F3EC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0" name="Google Shape;160;p3"/>
          <p:cNvGrpSpPr/>
          <p:nvPr/>
        </p:nvGrpSpPr>
        <p:grpSpPr>
          <a:xfrm rot="5400000">
            <a:off x="2819134" y="9048092"/>
            <a:ext cx="1928813" cy="549007"/>
            <a:chOff x="7029447" y="3514725"/>
            <a:chExt cx="1285875" cy="549007"/>
          </a:xfrm>
        </p:grpSpPr>
        <p:cxnSp>
          <p:nvCxnSpPr>
            <p:cNvPr id="161" name="Google Shape;161;p3"/>
            <p:cNvCxnSpPr/>
            <p:nvPr/>
          </p:nvCxnSpPr>
          <p:spPr>
            <a:xfrm>
              <a:off x="7029447" y="3514725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3"/>
            <p:cNvCxnSpPr/>
            <p:nvPr/>
          </p:nvCxnSpPr>
          <p:spPr>
            <a:xfrm>
              <a:off x="7029447" y="3697727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3"/>
            <p:cNvCxnSpPr/>
            <p:nvPr/>
          </p:nvCxnSpPr>
          <p:spPr>
            <a:xfrm>
              <a:off x="7029447" y="3880729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3"/>
            <p:cNvCxnSpPr/>
            <p:nvPr/>
          </p:nvCxnSpPr>
          <p:spPr>
            <a:xfrm>
              <a:off x="7029447" y="4063732"/>
              <a:ext cx="1285875" cy="0"/>
            </a:xfrm>
            <a:prstGeom prst="straightConnector1">
              <a:avLst/>
            </a:prstGeom>
            <a:noFill/>
            <a:ln cap="rnd" cmpd="sng" w="31750">
              <a:solidFill>
                <a:srgbClr val="F4F3EC">
                  <a:alpha val="40000"/>
                </a:srgbClr>
              </a:solidFill>
              <a:prstDash val="dot"/>
              <a:round/>
              <a:headEnd len="sm" w="sm" type="none"/>
              <a:tailEnd len="sm" w="sm" type="none"/>
            </a:ln>
          </p:spPr>
        </p:cxnSp>
      </p:grpSp>
      <p:sp>
        <p:nvSpPr>
          <p:cNvPr id="165" name="Google Shape;165;p3"/>
          <p:cNvSpPr txBox="1"/>
          <p:nvPr/>
        </p:nvSpPr>
        <p:spPr>
          <a:xfrm>
            <a:off x="946404" y="743988"/>
            <a:ext cx="6292710" cy="84582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 b="0" i="0" sz="7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" name="Google Shape;166;p3"/>
          <p:cNvGrpSpPr/>
          <p:nvPr/>
        </p:nvGrpSpPr>
        <p:grpSpPr>
          <a:xfrm>
            <a:off x="7373920" y="1951904"/>
            <a:ext cx="9380583" cy="6280200"/>
            <a:chOff x="0" y="652027"/>
            <a:chExt cx="9380583" cy="6280200"/>
          </a:xfrm>
        </p:grpSpPr>
        <p:sp>
          <p:nvSpPr>
            <p:cNvPr id="167" name="Google Shape;167;p3"/>
            <p:cNvSpPr/>
            <p:nvPr/>
          </p:nvSpPr>
          <p:spPr>
            <a:xfrm>
              <a:off x="0" y="6520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3"/>
            <p:cNvSpPr txBox="1"/>
            <p:nvPr/>
          </p:nvSpPr>
          <p:spPr>
            <a:xfrm>
              <a:off x="99380" y="7514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Introducir Temas fundamentales de programación mediante presentaciones y documentación para facilitar la comprensión inicial y contextualización del estudiante.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0" y="27742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BB995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99380" y="28736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Implementa Estructuras de Control  procedimientos en VB.NET mediante variables condicionales  ciclos para desarrollar soluciones informaticas que automaticen procesos de gestión de datos 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"/>
            <p:cNvSpPr/>
            <p:nvPr/>
          </p:nvSpPr>
          <p:spPr>
            <a:xfrm>
              <a:off x="0" y="4896427"/>
              <a:ext cx="9380583" cy="2035800"/>
            </a:xfrm>
            <a:prstGeom prst="roundRect">
              <a:avLst>
                <a:gd fmla="val 16667" name="adj"/>
              </a:avLst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3"/>
            <p:cNvSpPr txBox="1"/>
            <p:nvPr/>
          </p:nvSpPr>
          <p:spPr>
            <a:xfrm>
              <a:off x="99380" y="4995807"/>
              <a:ext cx="9181823" cy="1837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14300" lIns="114300" spcFirstLastPara="1" rIns="114300" wrap="square" tIns="1143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Desarrolla Interfaces gráficas funcionales haciendo uso de controles básicos, como textbox, label, combobox capturar  mostrar los datos de forma eficiente </a:t>
              </a:r>
              <a:endParaRPr b="0" i="0" sz="3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/>
          <p:nvPr/>
        </p:nvSpPr>
        <p:spPr>
          <a:xfrm>
            <a:off x="0" y="0"/>
            <a:ext cx="18287998" cy="1028604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8" name="Google Shape;178;p4"/>
          <p:cNvGrpSpPr/>
          <p:nvPr/>
        </p:nvGrpSpPr>
        <p:grpSpPr>
          <a:xfrm>
            <a:off x="1" y="1824895"/>
            <a:ext cx="1097278" cy="1010190"/>
            <a:chOff x="3940602" y="308034"/>
            <a:chExt cx="2116791" cy="3428999"/>
          </a:xfrm>
        </p:grpSpPr>
        <p:sp>
          <p:nvSpPr>
            <p:cNvPr id="179" name="Google Shape;179;p4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" name="Google Shape;182;p4"/>
          <p:cNvSpPr/>
          <p:nvPr/>
        </p:nvSpPr>
        <p:spPr>
          <a:xfrm>
            <a:off x="960118" y="920931"/>
            <a:ext cx="16361231" cy="2841174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565446" y="1214847"/>
            <a:ext cx="15259515" cy="2331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7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" name="Google Shape;184;p4"/>
          <p:cNvCxnSpPr/>
          <p:nvPr/>
        </p:nvCxnSpPr>
        <p:spPr>
          <a:xfrm rot="10800000">
            <a:off x="1257300" y="9727969"/>
            <a:ext cx="157734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" name="Google Shape;185;p4"/>
          <p:cNvGrpSpPr/>
          <p:nvPr/>
        </p:nvGrpSpPr>
        <p:grpSpPr>
          <a:xfrm>
            <a:off x="1558340" y="4527197"/>
            <a:ext cx="15164784" cy="4813014"/>
            <a:chOff x="201437" y="919"/>
            <a:chExt cx="15164784" cy="4813014"/>
          </a:xfrm>
        </p:grpSpPr>
        <p:sp>
          <p:nvSpPr>
            <p:cNvPr id="186" name="Google Shape;186;p4"/>
            <p:cNvSpPr/>
            <p:nvPr/>
          </p:nvSpPr>
          <p:spPr>
            <a:xfrm>
              <a:off x="201437" y="919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923569" y="686945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1044444" y="807820"/>
              <a:ext cx="6257443" cy="3885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variable representa un contenedor o un espacio en la memoria física o virtual de una computadora, donde se almacenan distintos tipos de datos </a:t>
              </a:r>
              <a:r>
                <a:rPr b="1" i="1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“VALORES”</a:t>
              </a: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durante la ejecución de un programa.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/>
            <p:nvPr/>
          </p:nvSpPr>
          <p:spPr>
            <a:xfrm>
              <a:off x="8144896" y="919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accent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4"/>
            <p:cNvSpPr/>
            <p:nvPr/>
          </p:nvSpPr>
          <p:spPr>
            <a:xfrm>
              <a:off x="8867028" y="686945"/>
              <a:ext cx="6499193" cy="4126988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8987903" y="807820"/>
              <a:ext cx="6257443" cy="38852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7150" lIns="137150" spcFirstLastPara="1" rIns="137150" wrap="square" tIns="1371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rPr b="0" i="0" lang="en-US" sz="3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Cada variable se le asigna un nombre descriptivo o un identificador que se refiere al valor guardado. Los datos almacenados pueden cambiar de valor o ser constantes.</a:t>
              </a:r>
              <a:endParaRPr b="0" i="0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2"/>
          <p:cNvSpPr/>
          <p:nvPr/>
        </p:nvSpPr>
        <p:spPr>
          <a:xfrm flipH="1" rot="10800000">
            <a:off x="0" y="0"/>
            <a:ext cx="18288000" cy="3556701"/>
          </a:xfrm>
          <a:custGeom>
            <a:rect b="b" l="l" r="r" t="t"/>
            <a:pathLst>
              <a:path extrusionOk="0" h="2515690" w="12192000">
                <a:moveTo>
                  <a:pt x="0" y="0"/>
                </a:moveTo>
                <a:lnTo>
                  <a:pt x="170442" y="96074"/>
                </a:lnTo>
                <a:cubicBezTo>
                  <a:pt x="323315" y="179510"/>
                  <a:pt x="418777" y="223899"/>
                  <a:pt x="424739" y="224865"/>
                </a:cubicBezTo>
                <a:cubicBezTo>
                  <a:pt x="573781" y="248496"/>
                  <a:pt x="654649" y="314572"/>
                  <a:pt x="748273" y="373939"/>
                </a:cubicBezTo>
                <a:cubicBezTo>
                  <a:pt x="830321" y="425631"/>
                  <a:pt x="917271" y="480784"/>
                  <a:pt x="1037058" y="499994"/>
                </a:cubicBezTo>
                <a:cubicBezTo>
                  <a:pt x="1195925" y="525362"/>
                  <a:pt x="1048105" y="445478"/>
                  <a:pt x="1101312" y="428540"/>
                </a:cubicBezTo>
                <a:cubicBezTo>
                  <a:pt x="1188473" y="458169"/>
                  <a:pt x="1274625" y="505369"/>
                  <a:pt x="1367071" y="516118"/>
                </a:cubicBezTo>
                <a:cubicBezTo>
                  <a:pt x="1701323" y="554463"/>
                  <a:pt x="1964451" y="648887"/>
                  <a:pt x="2189943" y="794533"/>
                </a:cubicBezTo>
                <a:cubicBezTo>
                  <a:pt x="2255082" y="836300"/>
                  <a:pt x="2357481" y="862342"/>
                  <a:pt x="2390329" y="920897"/>
                </a:cubicBezTo>
                <a:cubicBezTo>
                  <a:pt x="2406050" y="949359"/>
                  <a:pt x="2430126" y="969285"/>
                  <a:pt x="2459570" y="983740"/>
                </a:cubicBezTo>
                <a:lnTo>
                  <a:pt x="2503252" y="1000151"/>
                </a:lnTo>
                <a:lnTo>
                  <a:pt x="2503252" y="1008273"/>
                </a:lnTo>
                <a:lnTo>
                  <a:pt x="2511191" y="1009499"/>
                </a:lnTo>
                <a:cubicBezTo>
                  <a:pt x="2529847" y="1011974"/>
                  <a:pt x="2562849" y="1015701"/>
                  <a:pt x="2565029" y="1015977"/>
                </a:cubicBezTo>
                <a:cubicBezTo>
                  <a:pt x="2610845" y="1021778"/>
                  <a:pt x="2601577" y="1020837"/>
                  <a:pt x="2593745" y="1019963"/>
                </a:cubicBezTo>
                <a:lnTo>
                  <a:pt x="2591015" y="1019651"/>
                </a:lnTo>
                <a:lnTo>
                  <a:pt x="2590137" y="1019549"/>
                </a:lnTo>
                <a:cubicBezTo>
                  <a:pt x="2588203" y="1019326"/>
                  <a:pt x="2588125" y="1019321"/>
                  <a:pt x="2589021" y="1019424"/>
                </a:cubicBezTo>
                <a:lnTo>
                  <a:pt x="2591015" y="1019651"/>
                </a:lnTo>
                <a:lnTo>
                  <a:pt x="2602385" y="1020975"/>
                </a:lnTo>
                <a:lnTo>
                  <a:pt x="2614445" y="1022389"/>
                </a:lnTo>
                <a:lnTo>
                  <a:pt x="2614445" y="1020966"/>
                </a:lnTo>
                <a:lnTo>
                  <a:pt x="2676661" y="1029355"/>
                </a:lnTo>
                <a:cubicBezTo>
                  <a:pt x="2715592" y="1034194"/>
                  <a:pt x="2753901" y="1039695"/>
                  <a:pt x="2788597" y="1048926"/>
                </a:cubicBezTo>
                <a:lnTo>
                  <a:pt x="2812742" y="1057667"/>
                </a:lnTo>
                <a:lnTo>
                  <a:pt x="2970201" y="949091"/>
                </a:lnTo>
                <a:cubicBezTo>
                  <a:pt x="3052785" y="982961"/>
                  <a:pt x="2996105" y="1020057"/>
                  <a:pt x="3030610" y="1049340"/>
                </a:cubicBezTo>
                <a:cubicBezTo>
                  <a:pt x="3039005" y="1048442"/>
                  <a:pt x="3049621" y="1048500"/>
                  <a:pt x="3058913" y="1048085"/>
                </a:cubicBezTo>
                <a:lnTo>
                  <a:pt x="3072697" y="1045316"/>
                </a:lnTo>
                <a:lnTo>
                  <a:pt x="3083305" y="1040550"/>
                </a:lnTo>
                <a:lnTo>
                  <a:pt x="3125603" y="1004583"/>
                </a:lnTo>
                <a:cubicBezTo>
                  <a:pt x="3221669" y="925596"/>
                  <a:pt x="3242489" y="937564"/>
                  <a:pt x="3385106" y="1042233"/>
                </a:cubicBezTo>
                <a:cubicBezTo>
                  <a:pt x="3399403" y="1052670"/>
                  <a:pt x="3412529" y="1060209"/>
                  <a:pt x="3424945" y="1065268"/>
                </a:cubicBezTo>
                <a:lnTo>
                  <a:pt x="3436948" y="1068018"/>
                </a:lnTo>
                <a:lnTo>
                  <a:pt x="3466714" y="1063419"/>
                </a:lnTo>
                <a:lnTo>
                  <a:pt x="3550909" y="1044511"/>
                </a:lnTo>
                <a:lnTo>
                  <a:pt x="3555900" y="1041996"/>
                </a:lnTo>
                <a:cubicBezTo>
                  <a:pt x="3573827" y="1033454"/>
                  <a:pt x="3594382" y="1025941"/>
                  <a:pt x="3625978" y="1023459"/>
                </a:cubicBezTo>
                <a:lnTo>
                  <a:pt x="3632465" y="1023522"/>
                </a:lnTo>
                <a:lnTo>
                  <a:pt x="3649063" y="1018726"/>
                </a:lnTo>
                <a:cubicBezTo>
                  <a:pt x="3741849" y="989371"/>
                  <a:pt x="3810578" y="953657"/>
                  <a:pt x="3805954" y="917517"/>
                </a:cubicBezTo>
                <a:cubicBezTo>
                  <a:pt x="4031729" y="953901"/>
                  <a:pt x="4031729" y="953901"/>
                  <a:pt x="4020506" y="816231"/>
                </a:cubicBezTo>
                <a:cubicBezTo>
                  <a:pt x="4171643" y="865324"/>
                  <a:pt x="4206308" y="864422"/>
                  <a:pt x="4233682" y="799511"/>
                </a:cubicBezTo>
                <a:cubicBezTo>
                  <a:pt x="4260226" y="737017"/>
                  <a:pt x="4254728" y="668575"/>
                  <a:pt x="4306552" y="610207"/>
                </a:cubicBezTo>
                <a:cubicBezTo>
                  <a:pt x="4495313" y="657923"/>
                  <a:pt x="4699922" y="667347"/>
                  <a:pt x="4816604" y="773163"/>
                </a:cubicBezTo>
                <a:cubicBezTo>
                  <a:pt x="4834734" y="789836"/>
                  <a:pt x="4890507" y="799946"/>
                  <a:pt x="4916502" y="788104"/>
                </a:cubicBezTo>
                <a:cubicBezTo>
                  <a:pt x="5013526" y="746101"/>
                  <a:pt x="5238129" y="796871"/>
                  <a:pt x="5224415" y="674418"/>
                </a:cubicBezTo>
                <a:cubicBezTo>
                  <a:pt x="5223051" y="659300"/>
                  <a:pt x="5240524" y="644890"/>
                  <a:pt x="5274077" y="655978"/>
                </a:cubicBezTo>
                <a:cubicBezTo>
                  <a:pt x="5388582" y="694066"/>
                  <a:pt x="5367022" y="644784"/>
                  <a:pt x="5371217" y="614372"/>
                </a:cubicBezTo>
                <a:cubicBezTo>
                  <a:pt x="5375856" y="577567"/>
                  <a:pt x="5319010" y="537578"/>
                  <a:pt x="5364523" y="502501"/>
                </a:cubicBezTo>
                <a:cubicBezTo>
                  <a:pt x="5425408" y="508891"/>
                  <a:pt x="5433299" y="538191"/>
                  <a:pt x="5457871" y="558285"/>
                </a:cubicBezTo>
                <a:cubicBezTo>
                  <a:pt x="5530352" y="617005"/>
                  <a:pt x="5609566" y="664386"/>
                  <a:pt x="5750580" y="663503"/>
                </a:cubicBezTo>
                <a:cubicBezTo>
                  <a:pt x="5864519" y="662926"/>
                  <a:pt x="5966527" y="666650"/>
                  <a:pt x="5976618" y="582652"/>
                </a:cubicBezTo>
                <a:cubicBezTo>
                  <a:pt x="5978145" y="569455"/>
                  <a:pt x="5990792" y="562346"/>
                  <a:pt x="6009346" y="559470"/>
                </a:cubicBezTo>
                <a:cubicBezTo>
                  <a:pt x="6030639" y="568485"/>
                  <a:pt x="6052592" y="577083"/>
                  <a:pt x="6069735" y="587803"/>
                </a:cubicBezTo>
                <a:cubicBezTo>
                  <a:pt x="6126182" y="623812"/>
                  <a:pt x="6196945" y="634730"/>
                  <a:pt x="6270319" y="643982"/>
                </a:cubicBezTo>
                <a:cubicBezTo>
                  <a:pt x="6317101" y="649940"/>
                  <a:pt x="6363466" y="657107"/>
                  <a:pt x="6406781" y="672327"/>
                </a:cubicBezTo>
                <a:cubicBezTo>
                  <a:pt x="6433586" y="681598"/>
                  <a:pt x="6454928" y="693402"/>
                  <a:pt x="6469508" y="708574"/>
                </a:cubicBezTo>
                <a:cubicBezTo>
                  <a:pt x="6482729" y="721786"/>
                  <a:pt x="6496225" y="725422"/>
                  <a:pt x="6515869" y="715738"/>
                </a:cubicBezTo>
                <a:cubicBezTo>
                  <a:pt x="6572200" y="688353"/>
                  <a:pt x="6639257" y="676241"/>
                  <a:pt x="6725938" y="691128"/>
                </a:cubicBezTo>
                <a:cubicBezTo>
                  <a:pt x="6752109" y="695629"/>
                  <a:pt x="6772625" y="691505"/>
                  <a:pt x="6778240" y="678998"/>
                </a:cubicBezTo>
                <a:cubicBezTo>
                  <a:pt x="6784286" y="665981"/>
                  <a:pt x="6794269" y="655280"/>
                  <a:pt x="6806944" y="646178"/>
                </a:cubicBezTo>
                <a:lnTo>
                  <a:pt x="6830632" y="633915"/>
                </a:lnTo>
                <a:lnTo>
                  <a:pt x="6858072" y="646178"/>
                </a:lnTo>
                <a:cubicBezTo>
                  <a:pt x="6872754" y="655280"/>
                  <a:pt x="6884317" y="665981"/>
                  <a:pt x="6891322" y="678998"/>
                </a:cubicBezTo>
                <a:cubicBezTo>
                  <a:pt x="6897826" y="691505"/>
                  <a:pt x="6921592" y="695629"/>
                  <a:pt x="6951905" y="691128"/>
                </a:cubicBezTo>
                <a:cubicBezTo>
                  <a:pt x="7052317" y="676241"/>
                  <a:pt x="7129994" y="688353"/>
                  <a:pt x="7195246" y="715738"/>
                </a:cubicBezTo>
                <a:cubicBezTo>
                  <a:pt x="7217999" y="725422"/>
                  <a:pt x="7233634" y="721786"/>
                  <a:pt x="7248949" y="708574"/>
                </a:cubicBezTo>
                <a:cubicBezTo>
                  <a:pt x="7265838" y="693402"/>
                  <a:pt x="7290560" y="681598"/>
                  <a:pt x="7321609" y="672327"/>
                </a:cubicBezTo>
                <a:cubicBezTo>
                  <a:pt x="7371785" y="657107"/>
                  <a:pt x="7425493" y="649940"/>
                  <a:pt x="7479684" y="643982"/>
                </a:cubicBezTo>
                <a:cubicBezTo>
                  <a:pt x="7564679" y="634730"/>
                  <a:pt x="7646649" y="623812"/>
                  <a:pt x="7712035" y="587803"/>
                </a:cubicBezTo>
                <a:cubicBezTo>
                  <a:pt x="7731892" y="577083"/>
                  <a:pt x="7757322" y="568485"/>
                  <a:pt x="7781987" y="559470"/>
                </a:cubicBezTo>
                <a:cubicBezTo>
                  <a:pt x="7803481" y="562346"/>
                  <a:pt x="7818130" y="569455"/>
                  <a:pt x="7819900" y="582652"/>
                </a:cubicBezTo>
                <a:cubicBezTo>
                  <a:pt x="7831588" y="666650"/>
                  <a:pt x="7949751" y="662926"/>
                  <a:pt x="8081736" y="663503"/>
                </a:cubicBezTo>
                <a:cubicBezTo>
                  <a:pt x="8245081" y="664386"/>
                  <a:pt x="8336842" y="617005"/>
                  <a:pt x="8420801" y="558285"/>
                </a:cubicBezTo>
                <a:cubicBezTo>
                  <a:pt x="8449265" y="538191"/>
                  <a:pt x="8458404" y="508890"/>
                  <a:pt x="8528933" y="502501"/>
                </a:cubicBezTo>
                <a:cubicBezTo>
                  <a:pt x="8581654" y="537578"/>
                  <a:pt x="8515805" y="577567"/>
                  <a:pt x="8521178" y="614372"/>
                </a:cubicBezTo>
                <a:cubicBezTo>
                  <a:pt x="8526038" y="644784"/>
                  <a:pt x="8501063" y="694066"/>
                  <a:pt x="8633702" y="655978"/>
                </a:cubicBezTo>
                <a:cubicBezTo>
                  <a:pt x="8672570" y="644890"/>
                  <a:pt x="8692811" y="659300"/>
                  <a:pt x="8691231" y="674418"/>
                </a:cubicBezTo>
                <a:cubicBezTo>
                  <a:pt x="8675345" y="796871"/>
                  <a:pt x="8935518" y="746101"/>
                  <a:pt x="9047908" y="788104"/>
                </a:cubicBezTo>
                <a:cubicBezTo>
                  <a:pt x="9078021" y="799946"/>
                  <a:pt x="9142627" y="789836"/>
                  <a:pt x="9163628" y="773163"/>
                </a:cubicBezTo>
                <a:cubicBezTo>
                  <a:pt x="9298789" y="667347"/>
                  <a:pt x="9535801" y="657923"/>
                  <a:pt x="9754459" y="610207"/>
                </a:cubicBezTo>
                <a:cubicBezTo>
                  <a:pt x="9814490" y="668575"/>
                  <a:pt x="9808123" y="737017"/>
                  <a:pt x="9838868" y="799511"/>
                </a:cubicBezTo>
                <a:cubicBezTo>
                  <a:pt x="9870579" y="864422"/>
                  <a:pt x="9910733" y="865324"/>
                  <a:pt x="10085808" y="816231"/>
                </a:cubicBezTo>
                <a:cubicBezTo>
                  <a:pt x="10072804" y="953901"/>
                  <a:pt x="10072804" y="953901"/>
                  <a:pt x="10334338" y="917517"/>
                </a:cubicBezTo>
                <a:cubicBezTo>
                  <a:pt x="10328982" y="953657"/>
                  <a:pt x="10408594" y="989371"/>
                  <a:pt x="10516076" y="1018726"/>
                </a:cubicBezTo>
                <a:lnTo>
                  <a:pt x="10535302" y="1023522"/>
                </a:lnTo>
                <a:lnTo>
                  <a:pt x="10542819" y="1023458"/>
                </a:lnTo>
                <a:cubicBezTo>
                  <a:pt x="10579419" y="1025941"/>
                  <a:pt x="10603227" y="1033454"/>
                  <a:pt x="10623994" y="1041996"/>
                </a:cubicBezTo>
                <a:lnTo>
                  <a:pt x="10629774" y="1044511"/>
                </a:lnTo>
                <a:lnTo>
                  <a:pt x="10727305" y="1063419"/>
                </a:lnTo>
                <a:lnTo>
                  <a:pt x="10761785" y="1068017"/>
                </a:lnTo>
                <a:lnTo>
                  <a:pt x="10775688" y="1065268"/>
                </a:lnTo>
                <a:cubicBezTo>
                  <a:pt x="10790070" y="1060209"/>
                  <a:pt x="10805275" y="1052670"/>
                  <a:pt x="10821837" y="1042232"/>
                </a:cubicBezTo>
                <a:cubicBezTo>
                  <a:pt x="10987041" y="937564"/>
                  <a:pt x="11011156" y="925596"/>
                  <a:pt x="11122438" y="1004583"/>
                </a:cubicBezTo>
                <a:lnTo>
                  <a:pt x="11171433" y="1040550"/>
                </a:lnTo>
                <a:lnTo>
                  <a:pt x="11183724" y="1045316"/>
                </a:lnTo>
                <a:lnTo>
                  <a:pt x="11199690" y="1048085"/>
                </a:lnTo>
                <a:cubicBezTo>
                  <a:pt x="11210452" y="1048499"/>
                  <a:pt x="11222752" y="1048442"/>
                  <a:pt x="11232475" y="1049340"/>
                </a:cubicBezTo>
                <a:cubicBezTo>
                  <a:pt x="11272445" y="1020057"/>
                  <a:pt x="11206789" y="982961"/>
                  <a:pt x="11302451" y="949091"/>
                </a:cubicBezTo>
                <a:lnTo>
                  <a:pt x="11484849" y="1057667"/>
                </a:lnTo>
                <a:lnTo>
                  <a:pt x="11512818" y="1048926"/>
                </a:lnTo>
                <a:cubicBezTo>
                  <a:pt x="11553007" y="1039695"/>
                  <a:pt x="11597385" y="1034194"/>
                  <a:pt x="11642481" y="1029355"/>
                </a:cubicBezTo>
                <a:lnTo>
                  <a:pt x="11714551" y="1020966"/>
                </a:lnTo>
                <a:lnTo>
                  <a:pt x="11714551" y="1022389"/>
                </a:lnTo>
                <a:lnTo>
                  <a:pt x="11728519" y="1020975"/>
                </a:lnTo>
                <a:lnTo>
                  <a:pt x="11741691" y="1019651"/>
                </a:lnTo>
                <a:lnTo>
                  <a:pt x="11743999" y="1019424"/>
                </a:lnTo>
                <a:cubicBezTo>
                  <a:pt x="11745037" y="1019320"/>
                  <a:pt x="11744948" y="1019326"/>
                  <a:pt x="11742709" y="1019549"/>
                </a:cubicBezTo>
                <a:lnTo>
                  <a:pt x="11741691" y="1019651"/>
                </a:lnTo>
                <a:lnTo>
                  <a:pt x="11738529" y="1019963"/>
                </a:lnTo>
                <a:cubicBezTo>
                  <a:pt x="11729455" y="1020837"/>
                  <a:pt x="11718720" y="1021778"/>
                  <a:pt x="11771791" y="1015977"/>
                </a:cubicBezTo>
                <a:cubicBezTo>
                  <a:pt x="11774317" y="1015701"/>
                  <a:pt x="11812546" y="1011974"/>
                  <a:pt x="11834157" y="1009499"/>
                </a:cubicBezTo>
                <a:lnTo>
                  <a:pt x="11843354" y="1008273"/>
                </a:lnTo>
                <a:lnTo>
                  <a:pt x="11843354" y="1000151"/>
                </a:lnTo>
                <a:lnTo>
                  <a:pt x="11893955" y="983740"/>
                </a:lnTo>
                <a:cubicBezTo>
                  <a:pt x="11928061" y="969285"/>
                  <a:pt x="11955951" y="949359"/>
                  <a:pt x="11974160" y="920897"/>
                </a:cubicBezTo>
                <a:cubicBezTo>
                  <a:pt x="12002698" y="876981"/>
                  <a:pt x="12076554" y="851353"/>
                  <a:pt x="12143531" y="823664"/>
                </a:cubicBezTo>
                <a:lnTo>
                  <a:pt x="12192000" y="801163"/>
                </a:lnTo>
                <a:lnTo>
                  <a:pt x="12192000" y="2515690"/>
                </a:lnTo>
                <a:lnTo>
                  <a:pt x="0" y="2515690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1257300" y="547687"/>
            <a:ext cx="15773400" cy="1395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9" name="Google Shape;199;p22"/>
          <p:cNvGrpSpPr/>
          <p:nvPr/>
        </p:nvGrpSpPr>
        <p:grpSpPr>
          <a:xfrm>
            <a:off x="1345871" y="3018420"/>
            <a:ext cx="15596256" cy="6238502"/>
            <a:chOff x="88571" y="1376"/>
            <a:chExt cx="15596256" cy="6238502"/>
          </a:xfrm>
        </p:grpSpPr>
        <p:sp>
          <p:nvSpPr>
            <p:cNvPr id="200" name="Google Shape;200;p22"/>
            <p:cNvSpPr/>
            <p:nvPr/>
          </p:nvSpPr>
          <p:spPr>
            <a:xfrm>
              <a:off x="88571" y="1376"/>
              <a:ext cx="6238502" cy="6238502"/>
            </a:xfrm>
            <a:prstGeom prst="ellipse">
              <a:avLst/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22"/>
            <p:cNvSpPr txBox="1"/>
            <p:nvPr/>
          </p:nvSpPr>
          <p:spPr>
            <a:xfrm>
              <a:off x="1002178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Las variables se utilizan para guardar y recuperar datos, representar valores existentes y asignar unos nuevos.</a:t>
              </a:r>
              <a:endPara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 rot="5400000">
              <a:off x="6841750" y="2294026"/>
              <a:ext cx="2183476" cy="1653203"/>
            </a:xfrm>
            <a:prstGeom prst="triangle">
              <a:avLst>
                <a:gd fmla="val 50000" name="adj"/>
              </a:avLst>
            </a:prstGeom>
            <a:solidFill>
              <a:srgbClr val="BF50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9446325" y="1376"/>
              <a:ext cx="6238502" cy="6238502"/>
            </a:xfrm>
            <a:prstGeom prst="ellipse">
              <a:avLst/>
            </a:prstGeom>
            <a:solidFill>
              <a:srgbClr val="99B958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2"/>
            <p:cNvSpPr txBox="1"/>
            <p:nvPr/>
          </p:nvSpPr>
          <p:spPr>
            <a:xfrm>
              <a:off x="10359932" y="914983"/>
              <a:ext cx="4411288" cy="4411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500"/>
                <a:buFont typeface="Arial"/>
                <a:buNone/>
              </a:pPr>
              <a:r>
                <a:rPr b="0" i="0" lang="en-US" sz="35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Esto permite usar valores almacenados en calculos, operaciones de entrada/salida, comparaciones y otros tipos de procesamiento de datos.</a:t>
              </a:r>
              <a:endParaRPr b="0" i="0" sz="3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1257300" y="547687"/>
            <a:ext cx="8090041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15297985" y="1"/>
            <a:ext cx="1732713" cy="937541"/>
          </a:xfrm>
          <a:custGeom>
            <a:rect b="b" l="l" r="r" t="t"/>
            <a:pathLst>
              <a:path extrusionOk="0" h="625027" w="1155142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10212277" y="5135938"/>
            <a:ext cx="811233" cy="811233"/>
          </a:xfrm>
          <a:prstGeom prst="ellipse">
            <a:avLst/>
          </a:prstGeom>
          <a:noFill/>
          <a:ln cap="flat" cmpd="sng" w="1270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white rectangular object with black text&#10;&#10;AI-generated content may be incorrect.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645" y="6844367"/>
            <a:ext cx="9858821" cy="2610916"/>
          </a:xfrm>
          <a:custGeom>
            <a:rect b="b" l="l" r="r" t="t"/>
            <a:pathLst>
              <a:path extrusionOk="0" h="5712488" w="4114800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214" name="Google Shape;214;p23"/>
          <p:cNvSpPr/>
          <p:nvPr/>
        </p:nvSpPr>
        <p:spPr>
          <a:xfrm>
            <a:off x="10124403" y="1"/>
            <a:ext cx="3100422" cy="2432819"/>
          </a:xfrm>
          <a:custGeom>
            <a:rect b="b" l="l" r="r" t="t"/>
            <a:pathLst>
              <a:path extrusionOk="0" h="1621879" w="2066948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5" name="Google Shape;215;p23"/>
          <p:cNvCxnSpPr/>
          <p:nvPr/>
        </p:nvCxnSpPr>
        <p:spPr>
          <a:xfrm>
            <a:off x="18208117" y="1541859"/>
            <a:ext cx="0" cy="2396562"/>
          </a:xfrm>
          <a:prstGeom prst="straightConnector1">
            <a:avLst/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6" name="Google Shape;216;p23"/>
          <p:cNvSpPr/>
          <p:nvPr/>
        </p:nvSpPr>
        <p:spPr>
          <a:xfrm rot="-1136562">
            <a:off x="11184870" y="7750023"/>
            <a:ext cx="2753587" cy="3037177"/>
          </a:xfrm>
          <a:custGeom>
            <a:rect b="b" l="l" r="r" t="t"/>
            <a:pathLst>
              <a:path extrusionOk="0" h="2024785" w="183572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0214290" y="9050692"/>
            <a:ext cx="2986596" cy="1236308"/>
          </a:xfrm>
          <a:custGeom>
            <a:rect b="b" l="l" r="r" t="t"/>
            <a:pathLst>
              <a:path extrusionOk="0" h="824205" w="1991064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16277544" y="8278794"/>
            <a:ext cx="2010457" cy="2008207"/>
          </a:xfrm>
          <a:custGeom>
            <a:rect b="b" l="l" r="r" t="t"/>
            <a:pathLst>
              <a:path extrusionOk="0" h="1338805" w="13403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9" name="Google Shape;219;p23"/>
          <p:cNvGrpSpPr/>
          <p:nvPr/>
        </p:nvGrpSpPr>
        <p:grpSpPr>
          <a:xfrm>
            <a:off x="1257300" y="2738437"/>
            <a:ext cx="8090041" cy="6527006"/>
            <a:chOff x="0" y="0"/>
            <a:chExt cx="8090041" cy="6527006"/>
          </a:xfrm>
        </p:grpSpPr>
        <p:cxnSp>
          <p:nvCxnSpPr>
            <p:cNvPr id="220" name="Google Shape;220;p23"/>
            <p:cNvCxnSpPr/>
            <p:nvPr/>
          </p:nvCxnSpPr>
          <p:spPr>
            <a:xfrm>
              <a:off x="0" y="0"/>
              <a:ext cx="8090041" cy="0"/>
            </a:xfrm>
            <a:prstGeom prst="straightConnector1">
              <a:avLst/>
            </a:prstGeom>
            <a:solidFill>
              <a:srgbClr val="1D497D"/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21" name="Google Shape;221;p23"/>
            <p:cNvSpPr/>
            <p:nvPr/>
          </p:nvSpPr>
          <p:spPr>
            <a:xfrm>
              <a:off x="0" y="0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" name="Google Shape;222;p23"/>
            <p:cNvSpPr txBox="1"/>
            <p:nvPr/>
          </p:nvSpPr>
          <p:spPr>
            <a:xfrm>
              <a:off x="0" y="0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Una variable en programación se caracteriza por: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Nombre único que la identifica dentro del programa.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Valor guardado que puede cambiar durante la ejecución del programa.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Tipo de datos que se almacena.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Alcance, que puede ser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global,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 se puede acceder desde cualquier parte del programa o </a:t>
              </a:r>
              <a:r>
                <a:rPr b="0" i="1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local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si solo se puede acceder dentro de un bloque de código.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3" name="Google Shape;223;p23"/>
            <p:cNvCxnSpPr/>
            <p:nvPr/>
          </p:nvCxnSpPr>
          <p:spPr>
            <a:xfrm>
              <a:off x="0" y="3263503"/>
              <a:ext cx="8090041" cy="0"/>
            </a:xfrm>
            <a:prstGeom prst="straightConnector1">
              <a:avLst/>
            </a:prstGeom>
            <a:solidFill>
              <a:srgbClr val="1D497D"/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</p:cxnSp>
        <p:sp>
          <p:nvSpPr>
            <p:cNvPr id="224" name="Google Shape;224;p23"/>
            <p:cNvSpPr/>
            <p:nvPr/>
          </p:nvSpPr>
          <p:spPr>
            <a:xfrm>
              <a:off x="0" y="3263503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23"/>
            <p:cNvSpPr txBox="1"/>
            <p:nvPr/>
          </p:nvSpPr>
          <p:spPr>
            <a:xfrm>
              <a:off x="0" y="3263503"/>
              <a:ext cx="8090041" cy="32635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Sintaxis de una declaración de variables: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/>
        </p:nvSpPr>
        <p:spPr>
          <a:xfrm>
            <a:off x="1257300" y="547687"/>
            <a:ext cx="15773400" cy="19883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1" name="Google Shape;231;p24"/>
          <p:cNvGrpSpPr/>
          <p:nvPr/>
        </p:nvGrpSpPr>
        <p:grpSpPr>
          <a:xfrm>
            <a:off x="1259225" y="3499463"/>
            <a:ext cx="15769549" cy="5004954"/>
            <a:chOff x="1925" y="761026"/>
            <a:chExt cx="15769549" cy="5004954"/>
          </a:xfrm>
        </p:grpSpPr>
        <p:sp>
          <p:nvSpPr>
            <p:cNvPr id="232" name="Google Shape;232;p24"/>
            <p:cNvSpPr/>
            <p:nvPr/>
          </p:nvSpPr>
          <p:spPr>
            <a:xfrm>
              <a:off x="192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4"/>
            <p:cNvSpPr/>
            <p:nvPr/>
          </p:nvSpPr>
          <p:spPr>
            <a:xfrm>
              <a:off x="75285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24"/>
            <p:cNvSpPr txBox="1"/>
            <p:nvPr/>
          </p:nvSpPr>
          <p:spPr>
            <a:xfrm>
              <a:off x="87855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Los tipos de variables dependen del lenguaje de programación cada lenguaje tiene sus propios tipos de datos y forma de definir variables.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El tipado puede ser estático, cuando los tipos de variables se establecen al momento que se declaren o dinámico cuando el tipo se determina y se asigna durante la ejecución del programa.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24"/>
            <p:cNvSpPr/>
            <p:nvPr/>
          </p:nvSpPr>
          <p:spPr>
            <a:xfrm>
              <a:off x="826216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1D497D"/>
            </a:solidFill>
            <a:ln cap="flat" cmpd="sng" w="25400">
              <a:solidFill>
                <a:srgbClr val="EEEC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24"/>
            <p:cNvSpPr/>
            <p:nvPr/>
          </p:nvSpPr>
          <p:spPr>
            <a:xfrm>
              <a:off x="901309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EEECE0">
                <a:alpha val="89803"/>
              </a:srgbClr>
            </a:solidFill>
            <a:ln cap="flat" cmpd="sng" w="25400">
              <a:solidFill>
                <a:srgbClr val="1D49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24"/>
            <p:cNvSpPr txBox="1"/>
            <p:nvPr/>
          </p:nvSpPr>
          <p:spPr>
            <a:xfrm>
              <a:off x="913879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Algunos tipos de variables más comunes son: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numéricas (Números Enteros)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punto flotante (Números Decimales)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caracteres (Símbolos o Caracteres)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de cadena de caracteres (Palabras y Textos)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Variables lógicas o booleanas (Verdadero o Falso)</a:t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/>
          <p:nvPr/>
        </p:nvSpPr>
        <p:spPr>
          <a:xfrm>
            <a:off x="-1" y="0"/>
            <a:ext cx="18283427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1257300" y="835492"/>
            <a:ext cx="15773400" cy="1700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VARIABLES, DEFINICION Y ENTORNO</a:t>
            </a:r>
            <a:endParaRPr b="0" i="0" sz="6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4" name="Google Shape;244;p25"/>
          <p:cNvGrpSpPr/>
          <p:nvPr/>
        </p:nvGrpSpPr>
        <p:grpSpPr>
          <a:xfrm>
            <a:off x="1259225" y="3499463"/>
            <a:ext cx="15769549" cy="5004954"/>
            <a:chOff x="1925" y="761026"/>
            <a:chExt cx="15769549" cy="5004954"/>
          </a:xfrm>
        </p:grpSpPr>
        <p:sp>
          <p:nvSpPr>
            <p:cNvPr id="245" name="Google Shape;245;p25"/>
            <p:cNvSpPr/>
            <p:nvPr/>
          </p:nvSpPr>
          <p:spPr>
            <a:xfrm>
              <a:off x="192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5"/>
            <p:cNvSpPr/>
            <p:nvPr/>
          </p:nvSpPr>
          <p:spPr>
            <a:xfrm>
              <a:off x="75285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5"/>
            <p:cNvSpPr txBox="1"/>
            <p:nvPr/>
          </p:nvSpPr>
          <p:spPr>
            <a:xfrm>
              <a:off x="87855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Para declarar una variable usando la sintaxis básica, seguir estos pasos: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Elegir un nombre que sea descriptivo y fácil de entender.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Cada identificador de la variable debe ser único dentro de un programa.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Evitar usar palabras claves o reservadas por el lenguaje de programación (Ejemplo: For, If, While, Dim, Console, etc).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5"/>
            <p:cNvSpPr/>
            <p:nvPr/>
          </p:nvSpPr>
          <p:spPr>
            <a:xfrm>
              <a:off x="8262165" y="761026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rgbClr val="BF504D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5"/>
            <p:cNvSpPr/>
            <p:nvPr/>
          </p:nvSpPr>
          <p:spPr>
            <a:xfrm>
              <a:off x="9013096" y="1474410"/>
              <a:ext cx="6758378" cy="4291570"/>
            </a:xfrm>
            <a:prstGeom prst="roundRect">
              <a:avLst>
                <a:gd fmla="val 10000" name="adj"/>
              </a:avLst>
            </a:prstGeom>
            <a:solidFill>
              <a:schemeClr val="lt1">
                <a:alpha val="89803"/>
              </a:schemeClr>
            </a:solidFill>
            <a:ln cap="flat" cmpd="sng" w="25400">
              <a:solidFill>
                <a:srgbClr val="BF504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25"/>
            <p:cNvSpPr txBox="1"/>
            <p:nvPr/>
          </p:nvSpPr>
          <p:spPr>
            <a:xfrm>
              <a:off x="9138792" y="1600106"/>
              <a:ext cx="6506986" cy="40401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0000" lIns="80000" spcFirstLastPara="1" rIns="80000" wrap="square" tIns="80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El nombre de la variable puede incluir letras, caracteres y números, pero no puede empezar con un número.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Las variables no permiten espacios entre palabras para separar las palabras en el nombre, usar el guion bajo (_) o cambiar de letra minúscula o mayúscula.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Especificar el tipo de dato que la variable va a almacenar.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35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-US" sz="2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 Para asignarle un valor a tu variable, aplica el operador de asignación “=“, que establece la relación entre el identificador de la variable y el valor que tiene almacenado.</a:t>
              </a:r>
              <a:endPara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6"/>
          <p:cNvSpPr/>
          <p:nvPr/>
        </p:nvSpPr>
        <p:spPr>
          <a:xfrm rot="-5400000">
            <a:off x="1200150" y="2237015"/>
            <a:ext cx="5000624" cy="5248655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6"/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BASICOS DE VISUAL BASIC .NET</a:t>
            </a:r>
            <a:endParaRPr b="0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Description automatically generated" id="257" name="Google Shape;257;p2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47985" l="0" r="0" t="0"/>
          <a:stretch/>
        </p:blipFill>
        <p:spPr>
          <a:xfrm>
            <a:off x="6390103" y="1479830"/>
            <a:ext cx="11680261" cy="644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/>
          <p:nvPr/>
        </p:nvSpPr>
        <p:spPr>
          <a:xfrm rot="-5400000">
            <a:off x="1200150" y="2237015"/>
            <a:ext cx="5000624" cy="5248655"/>
          </a:xfrm>
          <a:prstGeom prst="downArrow">
            <a:avLst>
              <a:gd fmla="val 100000" name="adj1"/>
              <a:gd fmla="val 15788" name="adj2"/>
            </a:avLst>
          </a:prstGeom>
          <a:solidFill>
            <a:srgbClr val="4040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1543050" y="2950899"/>
            <a:ext cx="3943350" cy="38208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BASICOS DE VISUAL BASIC .NET</a:t>
            </a:r>
            <a:endParaRPr b="0" i="0" sz="5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creenshot of a computer&#10;&#10;AI-generated content may be incorrect." id="264" name="Google Shape;264;p2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51749"/>
          <a:stretch/>
        </p:blipFill>
        <p:spPr>
          <a:xfrm>
            <a:off x="6220875" y="1567543"/>
            <a:ext cx="12067125" cy="6177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 txBox="1"/>
          <p:nvPr>
            <p:ph type="ctrTitle"/>
          </p:nvPr>
        </p:nvSpPr>
        <p:spPr>
          <a:xfrm>
            <a:off x="12444413" y="2128839"/>
            <a:ext cx="4622364" cy="262014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FFFFFF"/>
                </a:solidFill>
              </a:rPr>
              <a:t>Dudas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descr="Cartoon person with orange hair and red jacket&#10;&#10;Description automatically generated" id="271" name="Google Shape;27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23671" y="560370"/>
            <a:ext cx="12240657" cy="9166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APLICACIONES POR MEDIO DE EJEMPLOS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1374889" y="2201805"/>
            <a:ext cx="13233740" cy="18158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48603" lvl="0" marL="24860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Diseñar y programar una aplicación en Visual Basic .NET que permita gestionar las reservas en el restaurante “Delicias Gourmet”. La aplicación debe permitir la selección del tipo de mesa y los servicios adicionales, calcular el costo total, aplicar descuentos y mostrar el total a pagar.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p5"/>
          <p:cNvGraphicFramePr/>
          <p:nvPr/>
        </p:nvGraphicFramePr>
        <p:xfrm>
          <a:off x="1786633" y="46264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{8D084EB9-0E05-4461-9590-A64A02A51F2A}</a:tableStyleId>
              </a:tblPr>
              <a:tblGrid>
                <a:gridCol w="3205500"/>
                <a:gridCol w="3205500"/>
                <a:gridCol w="3205500"/>
                <a:gridCol w="3205500"/>
              </a:tblGrid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Tipo mesa/Servicio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Para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Para 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Para 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Botella de vino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20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1</a:t>
                      </a:r>
                      <a:r>
                        <a:rPr lang="en-US" sz="2800" u="none" cap="none" strike="noStrike"/>
                        <a:t>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2</a:t>
                      </a: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Entrada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10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1</a:t>
                      </a: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1</a:t>
                      </a:r>
                      <a:r>
                        <a:rPr lang="en-US" sz="2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Postre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Bebida Adicional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7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63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Decoración Especial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/>
                        <a:t>5</a:t>
                      </a:r>
                      <a:r>
                        <a:rPr lang="en-US" sz="2800"/>
                        <a:t>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60</a:t>
                      </a:r>
                      <a:endParaRPr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9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1003554" y="2516059"/>
            <a:ext cx="16280892" cy="27432"/>
          </a:xfrm>
          <a:custGeom>
            <a:rect b="b" l="l" r="r" t="t"/>
            <a:pathLst>
              <a:path extrusionOk="0" fill="none" h="27432" w="16280892">
                <a:moveTo>
                  <a:pt x="0" y="0"/>
                </a:moveTo>
                <a:cubicBezTo>
                  <a:pt x="409643" y="37718"/>
                  <a:pt x="500439" y="-36667"/>
                  <a:pt x="841179" y="0"/>
                </a:cubicBezTo>
                <a:cubicBezTo>
                  <a:pt x="1181919" y="36667"/>
                  <a:pt x="1512729" y="-20894"/>
                  <a:pt x="1682359" y="0"/>
                </a:cubicBezTo>
                <a:cubicBezTo>
                  <a:pt x="1851989" y="20894"/>
                  <a:pt x="2107821" y="19681"/>
                  <a:pt x="2360729" y="0"/>
                </a:cubicBezTo>
                <a:cubicBezTo>
                  <a:pt x="2613637" y="-19681"/>
                  <a:pt x="2722918" y="17895"/>
                  <a:pt x="3039100" y="0"/>
                </a:cubicBezTo>
                <a:cubicBezTo>
                  <a:pt x="3355282" y="-17895"/>
                  <a:pt x="3419387" y="13801"/>
                  <a:pt x="3717470" y="0"/>
                </a:cubicBezTo>
                <a:cubicBezTo>
                  <a:pt x="4015553" y="-13801"/>
                  <a:pt x="3814431" y="7113"/>
                  <a:pt x="3907414" y="0"/>
                </a:cubicBezTo>
                <a:cubicBezTo>
                  <a:pt x="4000397" y="-7113"/>
                  <a:pt x="4537852" y="2053"/>
                  <a:pt x="4748593" y="0"/>
                </a:cubicBezTo>
                <a:cubicBezTo>
                  <a:pt x="4959334" y="-2053"/>
                  <a:pt x="4885146" y="651"/>
                  <a:pt x="4938537" y="0"/>
                </a:cubicBezTo>
                <a:cubicBezTo>
                  <a:pt x="4991928" y="-651"/>
                  <a:pt x="5331447" y="5729"/>
                  <a:pt x="5616908" y="0"/>
                </a:cubicBezTo>
                <a:cubicBezTo>
                  <a:pt x="5902369" y="-5729"/>
                  <a:pt x="6419677" y="15155"/>
                  <a:pt x="6620896" y="0"/>
                </a:cubicBezTo>
                <a:cubicBezTo>
                  <a:pt x="6822115" y="-15155"/>
                  <a:pt x="7129106" y="23573"/>
                  <a:pt x="7624884" y="0"/>
                </a:cubicBezTo>
                <a:cubicBezTo>
                  <a:pt x="8120662" y="-23573"/>
                  <a:pt x="8109589" y="-23431"/>
                  <a:pt x="8466064" y="0"/>
                </a:cubicBezTo>
                <a:cubicBezTo>
                  <a:pt x="8822539" y="23431"/>
                  <a:pt x="8773707" y="-19971"/>
                  <a:pt x="8981625" y="0"/>
                </a:cubicBezTo>
                <a:cubicBezTo>
                  <a:pt x="9189543" y="19971"/>
                  <a:pt x="9076883" y="-1357"/>
                  <a:pt x="9171569" y="0"/>
                </a:cubicBezTo>
                <a:cubicBezTo>
                  <a:pt x="9266255" y="1357"/>
                  <a:pt x="9482888" y="-9366"/>
                  <a:pt x="9687131" y="0"/>
                </a:cubicBezTo>
                <a:cubicBezTo>
                  <a:pt x="9891374" y="9366"/>
                  <a:pt x="10216856" y="36591"/>
                  <a:pt x="10528310" y="0"/>
                </a:cubicBezTo>
                <a:cubicBezTo>
                  <a:pt x="10839764" y="-36591"/>
                  <a:pt x="11327559" y="47801"/>
                  <a:pt x="11532298" y="0"/>
                </a:cubicBezTo>
                <a:cubicBezTo>
                  <a:pt x="11737037" y="-47801"/>
                  <a:pt x="11671078" y="-6214"/>
                  <a:pt x="11722242" y="0"/>
                </a:cubicBezTo>
                <a:cubicBezTo>
                  <a:pt x="11773406" y="6214"/>
                  <a:pt x="11836794" y="-8789"/>
                  <a:pt x="11912186" y="0"/>
                </a:cubicBezTo>
                <a:cubicBezTo>
                  <a:pt x="11987578" y="8789"/>
                  <a:pt x="12560026" y="-17178"/>
                  <a:pt x="12916174" y="0"/>
                </a:cubicBezTo>
                <a:cubicBezTo>
                  <a:pt x="13272322" y="17178"/>
                  <a:pt x="13066214" y="-8116"/>
                  <a:pt x="13106118" y="0"/>
                </a:cubicBezTo>
                <a:cubicBezTo>
                  <a:pt x="13146022" y="8116"/>
                  <a:pt x="13560520" y="-19828"/>
                  <a:pt x="13784489" y="0"/>
                </a:cubicBezTo>
                <a:cubicBezTo>
                  <a:pt x="14008458" y="19828"/>
                  <a:pt x="14029208" y="-693"/>
                  <a:pt x="14137241" y="0"/>
                </a:cubicBezTo>
                <a:cubicBezTo>
                  <a:pt x="14245274" y="693"/>
                  <a:pt x="14377822" y="7164"/>
                  <a:pt x="14489994" y="0"/>
                </a:cubicBezTo>
                <a:cubicBezTo>
                  <a:pt x="14602166" y="-7164"/>
                  <a:pt x="14759000" y="9517"/>
                  <a:pt x="14842747" y="0"/>
                </a:cubicBezTo>
                <a:cubicBezTo>
                  <a:pt x="14926494" y="-9517"/>
                  <a:pt x="15109709" y="2919"/>
                  <a:pt x="15195499" y="0"/>
                </a:cubicBezTo>
                <a:cubicBezTo>
                  <a:pt x="15281289" y="-2919"/>
                  <a:pt x="15925238" y="-21748"/>
                  <a:pt x="16280892" y="0"/>
                </a:cubicBezTo>
                <a:cubicBezTo>
                  <a:pt x="16281619" y="6650"/>
                  <a:pt x="16279930" y="15178"/>
                  <a:pt x="16280892" y="27432"/>
                </a:cubicBezTo>
                <a:cubicBezTo>
                  <a:pt x="16098512" y="48472"/>
                  <a:pt x="15881289" y="22250"/>
                  <a:pt x="15765330" y="27432"/>
                </a:cubicBezTo>
                <a:cubicBezTo>
                  <a:pt x="15649371" y="32614"/>
                  <a:pt x="15567326" y="15228"/>
                  <a:pt x="15412578" y="27432"/>
                </a:cubicBezTo>
                <a:cubicBezTo>
                  <a:pt x="15257830" y="39636"/>
                  <a:pt x="14785880" y="29504"/>
                  <a:pt x="14571398" y="27432"/>
                </a:cubicBezTo>
                <a:cubicBezTo>
                  <a:pt x="14356916" y="25360"/>
                  <a:pt x="13827427" y="61696"/>
                  <a:pt x="13567410" y="27432"/>
                </a:cubicBezTo>
                <a:cubicBezTo>
                  <a:pt x="13307393" y="-6832"/>
                  <a:pt x="13200066" y="1718"/>
                  <a:pt x="13051848" y="27432"/>
                </a:cubicBezTo>
                <a:cubicBezTo>
                  <a:pt x="12903630" y="53146"/>
                  <a:pt x="12400701" y="6921"/>
                  <a:pt x="12047860" y="27432"/>
                </a:cubicBezTo>
                <a:cubicBezTo>
                  <a:pt x="11695019" y="47943"/>
                  <a:pt x="11598024" y="51997"/>
                  <a:pt x="11369490" y="27432"/>
                </a:cubicBezTo>
                <a:cubicBezTo>
                  <a:pt x="11140956" y="2868"/>
                  <a:pt x="10761954" y="12862"/>
                  <a:pt x="10365501" y="27432"/>
                </a:cubicBezTo>
                <a:cubicBezTo>
                  <a:pt x="9969048" y="42002"/>
                  <a:pt x="9790411" y="328"/>
                  <a:pt x="9361513" y="27432"/>
                </a:cubicBezTo>
                <a:cubicBezTo>
                  <a:pt x="8932615" y="54536"/>
                  <a:pt x="9113926" y="34318"/>
                  <a:pt x="9008760" y="27432"/>
                </a:cubicBezTo>
                <a:cubicBezTo>
                  <a:pt x="8903594" y="20546"/>
                  <a:pt x="8614812" y="23184"/>
                  <a:pt x="8493199" y="27432"/>
                </a:cubicBezTo>
                <a:cubicBezTo>
                  <a:pt x="8371586" y="31680"/>
                  <a:pt x="8091918" y="43164"/>
                  <a:pt x="7814828" y="27432"/>
                </a:cubicBezTo>
                <a:cubicBezTo>
                  <a:pt x="7537738" y="11700"/>
                  <a:pt x="7462803" y="16870"/>
                  <a:pt x="7136458" y="27432"/>
                </a:cubicBezTo>
                <a:cubicBezTo>
                  <a:pt x="6810113" y="37995"/>
                  <a:pt x="6525162" y="52361"/>
                  <a:pt x="6295278" y="27432"/>
                </a:cubicBezTo>
                <a:cubicBezTo>
                  <a:pt x="6065394" y="2503"/>
                  <a:pt x="6069908" y="30755"/>
                  <a:pt x="5942526" y="27432"/>
                </a:cubicBezTo>
                <a:cubicBezTo>
                  <a:pt x="5815144" y="24109"/>
                  <a:pt x="5717369" y="11415"/>
                  <a:pt x="5589773" y="27432"/>
                </a:cubicBezTo>
                <a:cubicBezTo>
                  <a:pt x="5462177" y="43449"/>
                  <a:pt x="5013558" y="23556"/>
                  <a:pt x="4585785" y="27432"/>
                </a:cubicBezTo>
                <a:cubicBezTo>
                  <a:pt x="4158012" y="31308"/>
                  <a:pt x="3847085" y="18090"/>
                  <a:pt x="3581796" y="27432"/>
                </a:cubicBezTo>
                <a:cubicBezTo>
                  <a:pt x="3316507" y="36774"/>
                  <a:pt x="3154713" y="31771"/>
                  <a:pt x="2903426" y="27432"/>
                </a:cubicBezTo>
                <a:cubicBezTo>
                  <a:pt x="2652139" y="23094"/>
                  <a:pt x="2773806" y="35830"/>
                  <a:pt x="2713482" y="27432"/>
                </a:cubicBezTo>
                <a:cubicBezTo>
                  <a:pt x="2653158" y="19034"/>
                  <a:pt x="2600711" y="22540"/>
                  <a:pt x="2523538" y="27432"/>
                </a:cubicBezTo>
                <a:cubicBezTo>
                  <a:pt x="2446365" y="32324"/>
                  <a:pt x="1741229" y="20965"/>
                  <a:pt x="1519550" y="27432"/>
                </a:cubicBezTo>
                <a:cubicBezTo>
                  <a:pt x="1297871" y="33899"/>
                  <a:pt x="1125646" y="48277"/>
                  <a:pt x="1003988" y="27432"/>
                </a:cubicBezTo>
                <a:cubicBezTo>
                  <a:pt x="882330" y="6587"/>
                  <a:pt x="341133" y="60519"/>
                  <a:pt x="0" y="27432"/>
                </a:cubicBezTo>
                <a:cubicBezTo>
                  <a:pt x="-1251" y="16359"/>
                  <a:pt x="1039" y="7572"/>
                  <a:pt x="0" y="0"/>
                </a:cubicBezTo>
                <a:close/>
              </a:path>
              <a:path extrusionOk="0" h="27432" w="16280892">
                <a:moveTo>
                  <a:pt x="0" y="0"/>
                </a:moveTo>
                <a:cubicBezTo>
                  <a:pt x="132094" y="5368"/>
                  <a:pt x="295768" y="171"/>
                  <a:pt x="515562" y="0"/>
                </a:cubicBezTo>
                <a:cubicBezTo>
                  <a:pt x="735356" y="-171"/>
                  <a:pt x="631430" y="3629"/>
                  <a:pt x="705505" y="0"/>
                </a:cubicBezTo>
                <a:cubicBezTo>
                  <a:pt x="779580" y="-3629"/>
                  <a:pt x="1236188" y="21817"/>
                  <a:pt x="1709494" y="0"/>
                </a:cubicBezTo>
                <a:cubicBezTo>
                  <a:pt x="2182800" y="-21817"/>
                  <a:pt x="2009833" y="-8078"/>
                  <a:pt x="2225055" y="0"/>
                </a:cubicBezTo>
                <a:cubicBezTo>
                  <a:pt x="2440277" y="8078"/>
                  <a:pt x="2576987" y="-3690"/>
                  <a:pt x="2740617" y="0"/>
                </a:cubicBezTo>
                <a:cubicBezTo>
                  <a:pt x="2904247" y="3690"/>
                  <a:pt x="3320878" y="-23618"/>
                  <a:pt x="3744605" y="0"/>
                </a:cubicBezTo>
                <a:cubicBezTo>
                  <a:pt x="4168332" y="23618"/>
                  <a:pt x="3960785" y="-13202"/>
                  <a:pt x="4097358" y="0"/>
                </a:cubicBezTo>
                <a:cubicBezTo>
                  <a:pt x="4233931" y="13202"/>
                  <a:pt x="4707387" y="-19923"/>
                  <a:pt x="5101346" y="0"/>
                </a:cubicBezTo>
                <a:cubicBezTo>
                  <a:pt x="5495305" y="19923"/>
                  <a:pt x="5819839" y="-2146"/>
                  <a:pt x="6105334" y="0"/>
                </a:cubicBezTo>
                <a:cubicBezTo>
                  <a:pt x="6390829" y="2146"/>
                  <a:pt x="6451820" y="-10129"/>
                  <a:pt x="6783705" y="0"/>
                </a:cubicBezTo>
                <a:cubicBezTo>
                  <a:pt x="7115590" y="10129"/>
                  <a:pt x="7343272" y="6830"/>
                  <a:pt x="7787693" y="0"/>
                </a:cubicBezTo>
                <a:cubicBezTo>
                  <a:pt x="8232114" y="-6830"/>
                  <a:pt x="8084321" y="-8759"/>
                  <a:pt x="8303255" y="0"/>
                </a:cubicBezTo>
                <a:cubicBezTo>
                  <a:pt x="8522189" y="8759"/>
                  <a:pt x="8642548" y="10676"/>
                  <a:pt x="8818816" y="0"/>
                </a:cubicBezTo>
                <a:cubicBezTo>
                  <a:pt x="8995084" y="-10676"/>
                  <a:pt x="9419823" y="19068"/>
                  <a:pt x="9659996" y="0"/>
                </a:cubicBezTo>
                <a:cubicBezTo>
                  <a:pt x="9900169" y="-19068"/>
                  <a:pt x="9981281" y="-18291"/>
                  <a:pt x="10175557" y="0"/>
                </a:cubicBezTo>
                <a:cubicBezTo>
                  <a:pt x="10369833" y="18291"/>
                  <a:pt x="10761846" y="3543"/>
                  <a:pt x="11179546" y="0"/>
                </a:cubicBezTo>
                <a:cubicBezTo>
                  <a:pt x="11597246" y="-3543"/>
                  <a:pt x="11926388" y="33443"/>
                  <a:pt x="12183534" y="0"/>
                </a:cubicBezTo>
                <a:cubicBezTo>
                  <a:pt x="12440680" y="-33443"/>
                  <a:pt x="12684884" y="13168"/>
                  <a:pt x="12861905" y="0"/>
                </a:cubicBezTo>
                <a:cubicBezTo>
                  <a:pt x="13038926" y="-13168"/>
                  <a:pt x="13216637" y="-5124"/>
                  <a:pt x="13377466" y="0"/>
                </a:cubicBezTo>
                <a:cubicBezTo>
                  <a:pt x="13538295" y="5124"/>
                  <a:pt x="13493173" y="-3867"/>
                  <a:pt x="13567410" y="0"/>
                </a:cubicBezTo>
                <a:cubicBezTo>
                  <a:pt x="13641647" y="3867"/>
                  <a:pt x="13758514" y="-13877"/>
                  <a:pt x="13920163" y="0"/>
                </a:cubicBezTo>
                <a:cubicBezTo>
                  <a:pt x="14081812" y="13877"/>
                  <a:pt x="14124450" y="8909"/>
                  <a:pt x="14272915" y="0"/>
                </a:cubicBezTo>
                <a:cubicBezTo>
                  <a:pt x="14421380" y="-8909"/>
                  <a:pt x="14593413" y="-7184"/>
                  <a:pt x="14788477" y="0"/>
                </a:cubicBezTo>
                <a:cubicBezTo>
                  <a:pt x="14983541" y="7184"/>
                  <a:pt x="15709700" y="-55721"/>
                  <a:pt x="16280892" y="0"/>
                </a:cubicBezTo>
                <a:cubicBezTo>
                  <a:pt x="16282183" y="11478"/>
                  <a:pt x="16282086" y="14228"/>
                  <a:pt x="16280892" y="27432"/>
                </a:cubicBezTo>
                <a:cubicBezTo>
                  <a:pt x="16123730" y="31268"/>
                  <a:pt x="15899890" y="26679"/>
                  <a:pt x="15602522" y="27432"/>
                </a:cubicBezTo>
                <a:cubicBezTo>
                  <a:pt x="15305154" y="28186"/>
                  <a:pt x="15252307" y="20177"/>
                  <a:pt x="14924151" y="27432"/>
                </a:cubicBezTo>
                <a:cubicBezTo>
                  <a:pt x="14595995" y="34687"/>
                  <a:pt x="14662608" y="41537"/>
                  <a:pt x="14571398" y="27432"/>
                </a:cubicBezTo>
                <a:cubicBezTo>
                  <a:pt x="14480188" y="13327"/>
                  <a:pt x="14057344" y="27311"/>
                  <a:pt x="13730219" y="27432"/>
                </a:cubicBezTo>
                <a:cubicBezTo>
                  <a:pt x="13403094" y="27553"/>
                  <a:pt x="13479093" y="22044"/>
                  <a:pt x="13377466" y="27432"/>
                </a:cubicBezTo>
                <a:cubicBezTo>
                  <a:pt x="13275839" y="32820"/>
                  <a:pt x="12951162" y="1863"/>
                  <a:pt x="12536287" y="27432"/>
                </a:cubicBezTo>
                <a:cubicBezTo>
                  <a:pt x="12121412" y="53001"/>
                  <a:pt x="12410210" y="21673"/>
                  <a:pt x="12346343" y="27432"/>
                </a:cubicBezTo>
                <a:cubicBezTo>
                  <a:pt x="12282476" y="33191"/>
                  <a:pt x="11837570" y="67787"/>
                  <a:pt x="11505164" y="27432"/>
                </a:cubicBezTo>
                <a:cubicBezTo>
                  <a:pt x="11172758" y="-12923"/>
                  <a:pt x="11307286" y="21302"/>
                  <a:pt x="11152411" y="27432"/>
                </a:cubicBezTo>
                <a:cubicBezTo>
                  <a:pt x="10997536" y="33562"/>
                  <a:pt x="11042121" y="20479"/>
                  <a:pt x="10962467" y="27432"/>
                </a:cubicBezTo>
                <a:cubicBezTo>
                  <a:pt x="10882813" y="34385"/>
                  <a:pt x="10768155" y="17793"/>
                  <a:pt x="10609715" y="27432"/>
                </a:cubicBezTo>
                <a:cubicBezTo>
                  <a:pt x="10451275" y="37071"/>
                  <a:pt x="9983734" y="10056"/>
                  <a:pt x="9768535" y="27432"/>
                </a:cubicBezTo>
                <a:cubicBezTo>
                  <a:pt x="9553336" y="44808"/>
                  <a:pt x="9512715" y="24391"/>
                  <a:pt x="9415783" y="27432"/>
                </a:cubicBezTo>
                <a:cubicBezTo>
                  <a:pt x="9318851" y="30473"/>
                  <a:pt x="9302863" y="32409"/>
                  <a:pt x="9225839" y="27432"/>
                </a:cubicBezTo>
                <a:cubicBezTo>
                  <a:pt x="9148815" y="22455"/>
                  <a:pt x="9005247" y="27775"/>
                  <a:pt x="8873086" y="27432"/>
                </a:cubicBezTo>
                <a:cubicBezTo>
                  <a:pt x="8740925" y="27089"/>
                  <a:pt x="8597862" y="44957"/>
                  <a:pt x="8357525" y="27432"/>
                </a:cubicBezTo>
                <a:cubicBezTo>
                  <a:pt x="8117188" y="9907"/>
                  <a:pt x="7830326" y="336"/>
                  <a:pt x="7679154" y="27432"/>
                </a:cubicBezTo>
                <a:cubicBezTo>
                  <a:pt x="7527982" y="54528"/>
                  <a:pt x="7487877" y="41910"/>
                  <a:pt x="7326401" y="27432"/>
                </a:cubicBezTo>
                <a:cubicBezTo>
                  <a:pt x="7164925" y="12954"/>
                  <a:pt x="6715807" y="57076"/>
                  <a:pt x="6322413" y="27432"/>
                </a:cubicBezTo>
                <a:cubicBezTo>
                  <a:pt x="5929019" y="-2212"/>
                  <a:pt x="5917783" y="-2491"/>
                  <a:pt x="5644043" y="27432"/>
                </a:cubicBezTo>
                <a:cubicBezTo>
                  <a:pt x="5370303" y="57355"/>
                  <a:pt x="5045383" y="23003"/>
                  <a:pt x="4640054" y="27432"/>
                </a:cubicBezTo>
                <a:cubicBezTo>
                  <a:pt x="4234725" y="31861"/>
                  <a:pt x="4205736" y="15581"/>
                  <a:pt x="3798875" y="27432"/>
                </a:cubicBezTo>
                <a:cubicBezTo>
                  <a:pt x="3392014" y="39283"/>
                  <a:pt x="3451278" y="26782"/>
                  <a:pt x="3283313" y="27432"/>
                </a:cubicBezTo>
                <a:cubicBezTo>
                  <a:pt x="3115348" y="28082"/>
                  <a:pt x="2773067" y="64616"/>
                  <a:pt x="2442134" y="27432"/>
                </a:cubicBezTo>
                <a:cubicBezTo>
                  <a:pt x="2111201" y="-9752"/>
                  <a:pt x="2244120" y="15839"/>
                  <a:pt x="2089381" y="27432"/>
                </a:cubicBezTo>
                <a:cubicBezTo>
                  <a:pt x="1934642" y="39025"/>
                  <a:pt x="1619221" y="41603"/>
                  <a:pt x="1411011" y="27432"/>
                </a:cubicBezTo>
                <a:cubicBezTo>
                  <a:pt x="1202801" y="13262"/>
                  <a:pt x="1262505" y="27975"/>
                  <a:pt x="1221067" y="27432"/>
                </a:cubicBezTo>
                <a:cubicBezTo>
                  <a:pt x="1179629" y="26889"/>
                  <a:pt x="395550" y="-2351"/>
                  <a:pt x="0" y="27432"/>
                </a:cubicBezTo>
                <a:cubicBezTo>
                  <a:pt x="-1057" y="18241"/>
                  <a:pt x="670" y="12133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1257300" y="2894076"/>
            <a:ext cx="15773400" cy="6377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060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programa deberá realizar:</a:t>
            </a:r>
            <a:endParaRPr/>
          </a:p>
          <a:p>
            <a:pPr indent="-35813" lvl="0" marL="3060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7632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Verificar que se haya seleccionado un tipo de mesa y al menos un servicio adicional.</a:t>
            </a:r>
            <a:endParaRPr/>
          </a:p>
          <a:p>
            <a:pPr indent="-228600" lvl="2" marL="7632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Calcular el subtotal basado en los precios definidos para cada tipo de mesa y servicio adicional.</a:t>
            </a:r>
            <a:endParaRPr/>
          </a:p>
          <a:p>
            <a:pPr indent="-228600" lvl="2" marL="7632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 los descuentos:</a:t>
            </a:r>
            <a:endParaRPr/>
          </a:p>
          <a:p>
            <a:pPr indent="-228600" lvl="4" marL="12204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Descuento 1: 10% si se seleccionan tres o más servicios adicionales.</a:t>
            </a:r>
            <a:endParaRPr/>
          </a:p>
          <a:p>
            <a:pPr indent="-228600" lvl="4" marL="12204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Descuento 2: 5% adicional si el subtotal es mayor a Q 150.00</a:t>
            </a:r>
            <a:endParaRPr/>
          </a:p>
          <a:p>
            <a:pPr indent="-228600" lvl="1" marL="306000" marR="0" rtl="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Clr>
                <a:schemeClr val="accent2"/>
              </a:buClr>
              <a:buSzPts val="3036"/>
              <a:buFont typeface="Arial"/>
              <a:buChar char="•"/>
            </a:pPr>
            <a:r>
              <a:rPr b="0" i="0" lang="en-US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Mostrar el subtotal, los descuentos aplicados y el total a pagar.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6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CONCEPTOS CLAVE APRENDIDOS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6212437" y="3860833"/>
            <a:ext cx="6911332" cy="1378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USO DE VARIABLES</a:t>
            </a:r>
            <a:endParaRPr/>
          </a:p>
          <a:p>
            <a:pPr indent="-285750" lvl="0" marL="28575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CREACION DE VARIABLES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7"/>
          <p:cNvSpPr/>
          <p:nvPr/>
        </p:nvSpPr>
        <p:spPr>
          <a:xfrm>
            <a:off x="0" y="0"/>
            <a:ext cx="18283428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3295651" y="1102924"/>
            <a:ext cx="7467599" cy="47475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b="0" i="0" lang="en-US" sz="7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NOMBRE DEL VALOR Y/O ACTITUD</a:t>
            </a:r>
            <a:endParaRPr b="0" i="0" sz="7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3295651" y="6117634"/>
            <a:ext cx="7467599" cy="3087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Curiosidad: se presentará en una diapositiva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Wreath" id="299" name="Google Shape;29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6323" y="4164928"/>
            <a:ext cx="1933577" cy="19335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reath" id="300" name="Google Shape;300;p7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9911722" y="1074610"/>
            <a:ext cx="8117015" cy="8117015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7"/>
          <p:cNvSpPr txBox="1"/>
          <p:nvPr/>
        </p:nvSpPr>
        <p:spPr>
          <a:xfrm>
            <a:off x="5056655" y="6413479"/>
            <a:ext cx="9856773" cy="14346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Frase: Explorar lo nuevo con ganas de entender cómo y por qué funciona.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7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8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07" name="Google Shape;307;p8"/>
          <p:cNvSpPr txBox="1"/>
          <p:nvPr/>
        </p:nvSpPr>
        <p:spPr>
          <a:xfrm>
            <a:off x="5803381" y="4280604"/>
            <a:ext cx="6911332" cy="22166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1"/>
              <a:buFont typeface="Arial"/>
              <a:buNone/>
            </a:pPr>
            <a:r>
              <a:rPr b="0" i="0" lang="en-US" sz="3151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hay que dar crédito a las personas de las cuales te has basado para generar tu presentación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"/>
          <p:cNvSpPr txBox="1"/>
          <p:nvPr/>
        </p:nvSpPr>
        <p:spPr>
          <a:xfrm>
            <a:off x="4437795" y="3389104"/>
            <a:ext cx="8658900" cy="1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¡GRACIAS POR SU  ATENCIÓN!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9"/>
              <a:buFont typeface="Arial"/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